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5" r:id="rId1"/>
  </p:sldMasterIdLst>
  <p:sldIdLst>
    <p:sldId id="260" r:id="rId2"/>
    <p:sldId id="346" r:id="rId3"/>
    <p:sldId id="405" r:id="rId4"/>
    <p:sldId id="406" r:id="rId5"/>
    <p:sldId id="407" r:id="rId6"/>
    <p:sldId id="408" r:id="rId7"/>
    <p:sldId id="409" r:id="rId8"/>
    <p:sldId id="410" r:id="rId9"/>
    <p:sldId id="411" r:id="rId10"/>
    <p:sldId id="412" r:id="rId11"/>
    <p:sldId id="414" r:id="rId12"/>
    <p:sldId id="413" r:id="rId13"/>
    <p:sldId id="415" r:id="rId14"/>
    <p:sldId id="416" r:id="rId15"/>
    <p:sldId id="417" r:id="rId16"/>
    <p:sldId id="418" r:id="rId17"/>
    <p:sldId id="369" r:id="rId18"/>
    <p:sldId id="403" r:id="rId19"/>
    <p:sldId id="419" r:id="rId20"/>
    <p:sldId id="420" r:id="rId21"/>
    <p:sldId id="421" r:id="rId22"/>
    <p:sldId id="292" r:id="rId23"/>
    <p:sldId id="293" r:id="rId2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898" autoAdjust="0"/>
    <p:restoredTop sz="94660"/>
  </p:normalViewPr>
  <p:slideViewPr>
    <p:cSldViewPr snapToGrid="0">
      <p:cViewPr varScale="1">
        <p:scale>
          <a:sx n="87" d="100"/>
          <a:sy n="87" d="100"/>
        </p:scale>
        <p:origin x="576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FD9F2-3F14-4585-A92A-001A16360462}" type="datetimeFigureOut">
              <a:rPr lang="ko-KR" altLang="en-US" smtClean="0"/>
              <a:t>2019-07-28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2F639-A394-47EE-A8B9-2AD7C9275A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63404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FD9F2-3F14-4585-A92A-001A16360462}" type="datetimeFigureOut">
              <a:rPr lang="ko-KR" altLang="en-US" smtClean="0"/>
              <a:t>2019-07-28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2F639-A394-47EE-A8B9-2AD7C9275A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74250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FD9F2-3F14-4585-A92A-001A16360462}" type="datetimeFigureOut">
              <a:rPr lang="ko-KR" altLang="en-US" smtClean="0"/>
              <a:t>2019-07-28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2F639-A394-47EE-A8B9-2AD7C9275A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15290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FD9F2-3F14-4585-A92A-001A16360462}" type="datetimeFigureOut">
              <a:rPr lang="ko-KR" altLang="en-US" smtClean="0"/>
              <a:t>2019-07-28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2F639-A394-47EE-A8B9-2AD7C9275A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20602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FD9F2-3F14-4585-A92A-001A16360462}" type="datetimeFigureOut">
              <a:rPr lang="ko-KR" altLang="en-US" smtClean="0"/>
              <a:t>2019-07-28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2F639-A394-47EE-A8B9-2AD7C9275A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64178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FD9F2-3F14-4585-A92A-001A16360462}" type="datetimeFigureOut">
              <a:rPr lang="ko-KR" altLang="en-US" smtClean="0"/>
              <a:t>2019-07-28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2F639-A394-47EE-A8B9-2AD7C9275A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5156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FD9F2-3F14-4585-A92A-001A16360462}" type="datetimeFigureOut">
              <a:rPr lang="ko-KR" altLang="en-US" smtClean="0"/>
              <a:t>2019-07-28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2F639-A394-47EE-A8B9-2AD7C9275A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73857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FD9F2-3F14-4585-A92A-001A16360462}" type="datetimeFigureOut">
              <a:rPr lang="ko-KR" altLang="en-US" smtClean="0"/>
              <a:t>2019-07-28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2F639-A394-47EE-A8B9-2AD7C9275A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54976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FD9F2-3F14-4585-A92A-001A16360462}" type="datetimeFigureOut">
              <a:rPr lang="ko-KR" altLang="en-US" smtClean="0"/>
              <a:t>2019-07-28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2F639-A394-47EE-A8B9-2AD7C9275A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89613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FD9F2-3F14-4585-A92A-001A16360462}" type="datetimeFigureOut">
              <a:rPr lang="ko-KR" altLang="en-US" smtClean="0"/>
              <a:t>2019-07-28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2F639-A394-47EE-A8B9-2AD7C9275A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99709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FD9F2-3F14-4585-A92A-001A16360462}" type="datetimeFigureOut">
              <a:rPr lang="ko-KR" altLang="en-US" smtClean="0"/>
              <a:t>2019-07-28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2F639-A394-47EE-A8B9-2AD7C9275A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1148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3FD9F2-3F14-4585-A92A-001A16360462}" type="datetimeFigureOut">
              <a:rPr lang="ko-KR" altLang="en-US" smtClean="0"/>
              <a:t>2019-07-28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32F639-A394-47EE-A8B9-2AD7C9275A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0502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748" r:id="rId3"/>
    <p:sldLayoutId id="2147483749" r:id="rId4"/>
    <p:sldLayoutId id="2147483750" r:id="rId5"/>
    <p:sldLayoutId id="2147483751" r:id="rId6"/>
    <p:sldLayoutId id="2147483752" r:id="rId7"/>
    <p:sldLayoutId id="2147483753" r:id="rId8"/>
    <p:sldLayoutId id="2147483754" r:id="rId9"/>
    <p:sldLayoutId id="2147483755" r:id="rId10"/>
    <p:sldLayoutId id="2147483756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/>
          <p:cNvGrpSpPr/>
          <p:nvPr/>
        </p:nvGrpSpPr>
        <p:grpSpPr>
          <a:xfrm>
            <a:off x="0" y="-95250"/>
            <a:ext cx="12268200" cy="2411413"/>
            <a:chOff x="0" y="-95250"/>
            <a:chExt cx="12268200" cy="2411413"/>
          </a:xfrm>
        </p:grpSpPr>
        <p:sp>
          <p:nvSpPr>
            <p:cNvPr id="4" name="직사각형 3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이등변 삼각형 5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타원 10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타원 11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타원 12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838200" y="1407049"/>
            <a:ext cx="10515600" cy="5026025"/>
          </a:xfrm>
        </p:spPr>
        <p:txBody>
          <a:bodyPr>
            <a:normAutofit/>
          </a:bodyPr>
          <a:lstStyle/>
          <a:p>
            <a:pPr algn="ctr"/>
            <a:r>
              <a:rPr lang="en-US" altLang="ko-KR" sz="6600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C </a:t>
            </a:r>
            <a:r>
              <a:rPr lang="ko-KR" altLang="en-US" sz="6600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언어 스터디 </a:t>
            </a:r>
            <a:r>
              <a:rPr lang="en-US" altLang="ko-KR" sz="6600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6</a:t>
            </a:r>
            <a:r>
              <a:rPr lang="ko-KR" altLang="en-US" sz="6600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주차 </a:t>
            </a:r>
          </a:p>
        </p:txBody>
      </p:sp>
    </p:spTree>
    <p:extLst>
      <p:ext uri="{BB962C8B-B14F-4D97-AF65-F5344CB8AC3E}">
        <p14:creationId xmlns:p14="http://schemas.microsoft.com/office/powerpoint/2010/main" val="2906675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22004" y="-155968"/>
            <a:ext cx="10515600" cy="1325563"/>
          </a:xfrm>
        </p:spPr>
        <p:txBody>
          <a:bodyPr/>
          <a:lstStyle/>
          <a:p>
            <a:r>
              <a:rPr lang="ko-KR" altLang="en-US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포인터</a:t>
            </a:r>
          </a:p>
        </p:txBody>
      </p:sp>
      <p:grpSp>
        <p:nvGrpSpPr>
          <p:cNvPr id="14" name="그룹 13"/>
          <p:cNvGrpSpPr/>
          <p:nvPr/>
        </p:nvGrpSpPr>
        <p:grpSpPr>
          <a:xfrm>
            <a:off x="0" y="0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17" name="직사각형 1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이등변 삼각형 1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타원 2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타원 2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6" name="내용 개체 틀 15">
            <a:extLst>
              <a:ext uri="{FF2B5EF4-FFF2-40B4-BE49-F238E27FC236}">
                <a16:creationId xmlns:a16="http://schemas.microsoft.com/office/drawing/2014/main" id="{0E2CF507-ED0B-4D43-A90C-762FD993E897}"/>
              </a:ext>
            </a:extLst>
          </p:cNvPr>
          <p:cNvSpPr txBox="1">
            <a:spLocks/>
          </p:cNvSpPr>
          <p:nvPr/>
        </p:nvSpPr>
        <p:spPr>
          <a:xfrm>
            <a:off x="1454614" y="1495081"/>
            <a:ext cx="10417346" cy="47380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b="1" dirty="0">
                <a:highlight>
                  <a:srgbClr val="FFFF00"/>
                </a:highlight>
              </a:rPr>
              <a:t>포인터</a:t>
            </a:r>
            <a:r>
              <a:rPr lang="ko-KR" altLang="en-US" sz="2400" b="1" dirty="0"/>
              <a:t>란 메모리에 있는 </a:t>
            </a:r>
            <a:r>
              <a:rPr lang="ko-KR" altLang="en-US" sz="2400" b="1" dirty="0">
                <a:solidFill>
                  <a:srgbClr val="FF0000"/>
                </a:solidFill>
              </a:rPr>
              <a:t>변수의 주소</a:t>
            </a:r>
            <a:r>
              <a:rPr lang="ko-KR" altLang="en-US" sz="2400" b="1" dirty="0"/>
              <a:t>를 가지고 있는 </a:t>
            </a:r>
            <a:r>
              <a:rPr lang="ko-KR" altLang="en-US" b="1" dirty="0">
                <a:highlight>
                  <a:srgbClr val="FFFF00"/>
                </a:highlight>
              </a:rPr>
              <a:t>변수</a:t>
            </a:r>
            <a:r>
              <a:rPr lang="ko-KR" altLang="en-US" b="1" dirty="0"/>
              <a:t>이다</a:t>
            </a:r>
            <a:r>
              <a:rPr lang="en-US" altLang="ko-KR" sz="2400" b="1" dirty="0"/>
              <a:t>.</a:t>
            </a:r>
          </a:p>
          <a:p>
            <a:pPr marL="0" indent="0">
              <a:buNone/>
            </a:pPr>
            <a:endParaRPr lang="en-US" altLang="ko-KR" sz="2400" b="1" dirty="0"/>
          </a:p>
          <a:p>
            <a:pPr marL="0" indent="0">
              <a:buNone/>
            </a:pPr>
            <a:r>
              <a:rPr lang="ko-KR" altLang="en-US" sz="2400" b="1" dirty="0"/>
              <a:t>현실에서 모든 가정집이 주소를 갖고 있듯이 변수들 또한 주소를 갖는다</a:t>
            </a:r>
            <a:r>
              <a:rPr lang="en-US" altLang="ko-KR" sz="2400" b="1" dirty="0"/>
              <a:t>.</a:t>
            </a:r>
          </a:p>
          <a:p>
            <a:pPr marL="0" indent="0">
              <a:buNone/>
            </a:pPr>
            <a:r>
              <a:rPr lang="ko-KR" altLang="en-US" sz="2400" b="1" dirty="0"/>
              <a:t>이를 저장하는 변수가 바로 포인터이다</a:t>
            </a:r>
            <a:r>
              <a:rPr lang="en-US" altLang="ko-KR" sz="2400" b="1" dirty="0"/>
              <a:t>.</a:t>
            </a:r>
          </a:p>
          <a:p>
            <a:pPr marL="0" indent="0">
              <a:buNone/>
            </a:pPr>
            <a:endParaRPr lang="en-US" altLang="ko-KR" sz="2400" b="1" dirty="0"/>
          </a:p>
          <a:p>
            <a:pPr marL="0" indent="0">
              <a:buNone/>
            </a:pPr>
            <a:r>
              <a:rPr lang="ko-KR" altLang="en-US" sz="2400" b="1" dirty="0"/>
              <a:t>변수는 메모리에 저장되고 바이트 단위로 액세스된다</a:t>
            </a:r>
            <a:r>
              <a:rPr lang="en-US" altLang="ko-KR" sz="2400" b="1" dirty="0"/>
              <a:t>.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F61FB0AC-ADFE-482C-91A1-4347A673ED12}"/>
              </a:ext>
            </a:extLst>
          </p:cNvPr>
          <p:cNvGrpSpPr/>
          <p:nvPr/>
        </p:nvGrpSpPr>
        <p:grpSpPr>
          <a:xfrm>
            <a:off x="2341145" y="3082828"/>
            <a:ext cx="8644284" cy="3150332"/>
            <a:chOff x="2491824" y="3408314"/>
            <a:chExt cx="8644284" cy="3150332"/>
          </a:xfrm>
        </p:grpSpPr>
        <p:pic>
          <p:nvPicPr>
            <p:cNvPr id="2" name="그림 1">
              <a:extLst>
                <a:ext uri="{FF2B5EF4-FFF2-40B4-BE49-F238E27FC236}">
                  <a16:creationId xmlns:a16="http://schemas.microsoft.com/office/drawing/2014/main" id="{86521A4E-2A9E-4EE7-985E-AD7B281A04A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16710" t="54928" r="18478" b="25667"/>
            <a:stretch/>
          </p:blipFill>
          <p:spPr>
            <a:xfrm>
              <a:off x="2491824" y="4780770"/>
              <a:ext cx="7650396" cy="1777876"/>
            </a:xfrm>
            <a:prstGeom prst="rect">
              <a:avLst/>
            </a:prstGeom>
          </p:spPr>
        </p:pic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E9474F98-D959-4572-8F31-9825089ACAB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45307" t="40444" r="39522" b="40151"/>
            <a:stretch/>
          </p:blipFill>
          <p:spPr>
            <a:xfrm>
              <a:off x="9345408" y="3408314"/>
              <a:ext cx="1790700" cy="1777876"/>
            </a:xfrm>
            <a:prstGeom prst="rect">
              <a:avLst/>
            </a:prstGeom>
          </p:spPr>
        </p:pic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EB41DFBA-82E9-4437-B3FE-9BF28FC55CBF}"/>
                </a:ext>
              </a:extLst>
            </p:cNvPr>
            <p:cNvSpPr/>
            <p:nvPr/>
          </p:nvSpPr>
          <p:spPr>
            <a:xfrm>
              <a:off x="5647739" y="4579620"/>
              <a:ext cx="1324561" cy="6781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6194195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F08B3520-A480-45D2-8118-32E8FBDC39E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448" t="60111" r="11276" b="18556"/>
          <a:stretch/>
        </p:blipFill>
        <p:spPr>
          <a:xfrm>
            <a:off x="1518898" y="4609562"/>
            <a:ext cx="8412480" cy="1802656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DF97AFA7-E0BB-4B25-BCAE-139F06C92A9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87" t="70555" r="17917" b="16111"/>
          <a:stretch/>
        </p:blipFill>
        <p:spPr>
          <a:xfrm>
            <a:off x="1391347" y="2150731"/>
            <a:ext cx="8540031" cy="1281005"/>
          </a:xfrm>
          <a:prstGeom prst="rect">
            <a:avLst/>
          </a:prstGeom>
        </p:spPr>
      </p:pic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22004" y="-155968"/>
            <a:ext cx="10515600" cy="1325563"/>
          </a:xfrm>
        </p:spPr>
        <p:txBody>
          <a:bodyPr/>
          <a:lstStyle/>
          <a:p>
            <a:r>
              <a:rPr lang="ko-KR" altLang="en-US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포인터</a:t>
            </a:r>
          </a:p>
        </p:txBody>
      </p:sp>
      <p:grpSp>
        <p:nvGrpSpPr>
          <p:cNvPr id="14" name="그룹 13"/>
          <p:cNvGrpSpPr/>
          <p:nvPr/>
        </p:nvGrpSpPr>
        <p:grpSpPr>
          <a:xfrm>
            <a:off x="0" y="0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17" name="직사각형 1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이등변 삼각형 1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타원 2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타원 2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6" name="내용 개체 틀 15">
            <a:extLst>
              <a:ext uri="{FF2B5EF4-FFF2-40B4-BE49-F238E27FC236}">
                <a16:creationId xmlns:a16="http://schemas.microsoft.com/office/drawing/2014/main" id="{0E2CF507-ED0B-4D43-A90C-762FD993E897}"/>
              </a:ext>
            </a:extLst>
          </p:cNvPr>
          <p:cNvSpPr txBox="1">
            <a:spLocks/>
          </p:cNvSpPr>
          <p:nvPr/>
        </p:nvSpPr>
        <p:spPr>
          <a:xfrm>
            <a:off x="1391347" y="1272555"/>
            <a:ext cx="10417346" cy="10253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400" b="1" dirty="0"/>
              <a:t>변수의 크기에 따라서 차지하는 메모리 공간이 달라진다</a:t>
            </a:r>
            <a:r>
              <a:rPr lang="en-US" altLang="ko-KR" sz="2400" b="1" dirty="0"/>
              <a:t>.</a:t>
            </a:r>
          </a:p>
          <a:p>
            <a:r>
              <a:rPr lang="en-US" altLang="ko-KR" sz="2400" b="1" dirty="0"/>
              <a:t>char</a:t>
            </a:r>
            <a:r>
              <a:rPr lang="ko-KR" altLang="en-US" sz="2400" b="1" dirty="0"/>
              <a:t>형 </a:t>
            </a:r>
            <a:r>
              <a:rPr lang="en-US" altLang="ko-KR" sz="2400" b="1" dirty="0"/>
              <a:t>1</a:t>
            </a:r>
            <a:r>
              <a:rPr lang="ko-KR" altLang="en-US" sz="2400" b="1" dirty="0"/>
              <a:t>바이트</a:t>
            </a:r>
            <a:r>
              <a:rPr lang="en-US" altLang="ko-KR" sz="2400" b="1" dirty="0"/>
              <a:t>, </a:t>
            </a:r>
            <a:r>
              <a:rPr lang="en-US" altLang="ko-KR" sz="2400" b="1" dirty="0" err="1"/>
              <a:t>int</a:t>
            </a:r>
            <a:r>
              <a:rPr lang="ko-KR" altLang="en-US" sz="2400" b="1" dirty="0"/>
              <a:t>형 </a:t>
            </a:r>
            <a:r>
              <a:rPr lang="en-US" altLang="ko-KR" sz="2400" b="1" dirty="0"/>
              <a:t>4</a:t>
            </a:r>
            <a:r>
              <a:rPr lang="ko-KR" altLang="en-US" sz="2400" b="1" dirty="0"/>
              <a:t>바이트</a:t>
            </a:r>
            <a:r>
              <a:rPr lang="en-US" altLang="ko-KR" sz="2400" b="1" dirty="0"/>
              <a:t>, …</a:t>
            </a:r>
          </a:p>
        </p:txBody>
      </p:sp>
      <p:sp>
        <p:nvSpPr>
          <p:cNvPr id="28" name="내용 개체 틀 15">
            <a:extLst>
              <a:ext uri="{FF2B5EF4-FFF2-40B4-BE49-F238E27FC236}">
                <a16:creationId xmlns:a16="http://schemas.microsoft.com/office/drawing/2014/main" id="{6678CA94-9F06-49C1-BD43-15CA47BEDFFA}"/>
              </a:ext>
            </a:extLst>
          </p:cNvPr>
          <p:cNvSpPr txBox="1">
            <a:spLocks/>
          </p:cNvSpPr>
          <p:nvPr/>
        </p:nvSpPr>
        <p:spPr>
          <a:xfrm>
            <a:off x="1515574" y="3584204"/>
            <a:ext cx="10417346" cy="10253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400" b="1" dirty="0"/>
              <a:t>변수의 주소를 계산하는 연산자 </a:t>
            </a:r>
            <a:r>
              <a:rPr lang="en-US" altLang="ko-KR" sz="2400" b="1" dirty="0"/>
              <a:t>: &amp;</a:t>
            </a:r>
          </a:p>
          <a:p>
            <a:r>
              <a:rPr lang="ko-KR" altLang="en-US" sz="2400" b="1" dirty="0"/>
              <a:t>변수 </a:t>
            </a:r>
            <a:r>
              <a:rPr lang="en-US" altLang="ko-KR" sz="2400" b="1" dirty="0" err="1"/>
              <a:t>i</a:t>
            </a:r>
            <a:r>
              <a:rPr lang="ko-KR" altLang="en-US" sz="2400" b="1" dirty="0"/>
              <a:t>의 주소 </a:t>
            </a:r>
            <a:r>
              <a:rPr lang="en-US" altLang="ko-KR" sz="2400" b="1" dirty="0"/>
              <a:t>: &amp;</a:t>
            </a:r>
            <a:r>
              <a:rPr lang="en-US" altLang="ko-KR" sz="2400" b="1" dirty="0" err="1"/>
              <a:t>i</a:t>
            </a:r>
            <a:endParaRPr lang="en-US" altLang="ko-KR" sz="2400" b="1" dirty="0"/>
          </a:p>
        </p:txBody>
      </p:sp>
    </p:spTree>
    <p:extLst>
      <p:ext uri="{BB962C8B-B14F-4D97-AF65-F5344CB8AC3E}">
        <p14:creationId xmlns:p14="http://schemas.microsoft.com/office/powerpoint/2010/main" val="57902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22004" y="-155968"/>
            <a:ext cx="10515600" cy="1325563"/>
          </a:xfrm>
        </p:spPr>
        <p:txBody>
          <a:bodyPr/>
          <a:lstStyle/>
          <a:p>
            <a:r>
              <a:rPr lang="ko-KR" altLang="en-US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포인터</a:t>
            </a:r>
          </a:p>
        </p:txBody>
      </p:sp>
      <p:grpSp>
        <p:nvGrpSpPr>
          <p:cNvPr id="14" name="그룹 13"/>
          <p:cNvGrpSpPr/>
          <p:nvPr/>
        </p:nvGrpSpPr>
        <p:grpSpPr>
          <a:xfrm>
            <a:off x="0" y="0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17" name="직사각형 1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이등변 삼각형 1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타원 2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타원 2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003DB38E-5782-4941-AD0C-241B8FE709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583" t="10111" r="70833" b="62000"/>
          <a:stretch/>
        </p:blipFill>
        <p:spPr>
          <a:xfrm>
            <a:off x="1230408" y="1773479"/>
            <a:ext cx="5932344" cy="420624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E22E6726-FAF1-4083-A665-98A798CE2F7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67242" b="78594"/>
          <a:stretch/>
        </p:blipFill>
        <p:spPr>
          <a:xfrm>
            <a:off x="5564455" y="1642109"/>
            <a:ext cx="6154857" cy="2103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46846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22004" y="-155968"/>
            <a:ext cx="10515600" cy="1325563"/>
          </a:xfrm>
        </p:spPr>
        <p:txBody>
          <a:bodyPr/>
          <a:lstStyle/>
          <a:p>
            <a:r>
              <a:rPr lang="ko-KR" altLang="en-US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포인터 선언</a:t>
            </a:r>
          </a:p>
        </p:txBody>
      </p:sp>
      <p:grpSp>
        <p:nvGrpSpPr>
          <p:cNvPr id="14" name="그룹 13"/>
          <p:cNvGrpSpPr/>
          <p:nvPr/>
        </p:nvGrpSpPr>
        <p:grpSpPr>
          <a:xfrm>
            <a:off x="0" y="0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17" name="직사각형 1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이등변 삼각형 1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타원 2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타원 2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5" name="내용 개체 틀 15">
            <a:extLst>
              <a:ext uri="{FF2B5EF4-FFF2-40B4-BE49-F238E27FC236}">
                <a16:creationId xmlns:a16="http://schemas.microsoft.com/office/drawing/2014/main" id="{F45796E7-004E-4F62-A7B1-646CF190B26B}"/>
              </a:ext>
            </a:extLst>
          </p:cNvPr>
          <p:cNvSpPr txBox="1">
            <a:spLocks/>
          </p:cNvSpPr>
          <p:nvPr/>
        </p:nvSpPr>
        <p:spPr>
          <a:xfrm>
            <a:off x="1391347" y="1272554"/>
            <a:ext cx="10417346" cy="45643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400" b="1" dirty="0"/>
              <a:t>포인터도 변수의 일종이다</a:t>
            </a:r>
            <a:r>
              <a:rPr lang="en-US" altLang="ko-KR" sz="2400" b="1" dirty="0"/>
              <a:t>. </a:t>
            </a:r>
            <a:r>
              <a:rPr lang="ko-KR" altLang="en-US" sz="2400" b="1" dirty="0"/>
              <a:t>따라서 사용하기 전에 선언해야 한다</a:t>
            </a:r>
            <a:r>
              <a:rPr lang="en-US" altLang="ko-KR" sz="2400" b="1" dirty="0"/>
              <a:t>.</a:t>
            </a:r>
          </a:p>
          <a:p>
            <a:r>
              <a:rPr lang="ko-KR" altLang="en-US" sz="2400" b="1" dirty="0"/>
              <a:t>일반적인 변수 선언처럼 선언하되</a:t>
            </a:r>
            <a:r>
              <a:rPr lang="en-US" altLang="ko-KR" sz="2400" b="1" dirty="0"/>
              <a:t>, </a:t>
            </a:r>
            <a:r>
              <a:rPr lang="ko-KR" altLang="en-US" sz="2400" b="1" dirty="0"/>
              <a:t>변수이름 앞에 *를 붙인다</a:t>
            </a:r>
            <a:r>
              <a:rPr lang="en-US" altLang="ko-KR" sz="2400" b="1" dirty="0"/>
              <a:t>.</a:t>
            </a:r>
          </a:p>
          <a:p>
            <a:r>
              <a:rPr lang="en-US" altLang="ko-KR" sz="2400" b="1" dirty="0"/>
              <a:t>Ex)</a:t>
            </a:r>
            <a:r>
              <a:rPr lang="ko-KR" altLang="en-US" sz="2400" b="1" dirty="0"/>
              <a:t> </a:t>
            </a:r>
            <a:r>
              <a:rPr lang="en-US" altLang="ko-KR" sz="2400" b="1" dirty="0" err="1"/>
              <a:t>int</a:t>
            </a:r>
            <a:r>
              <a:rPr lang="ko-KR" altLang="en-US" sz="2400" b="1" dirty="0"/>
              <a:t> </a:t>
            </a:r>
            <a:r>
              <a:rPr lang="en-US" altLang="ko-KR" sz="2400" b="1" dirty="0"/>
              <a:t>*p;</a:t>
            </a:r>
            <a:r>
              <a:rPr lang="ko-KR" altLang="en-US" sz="2400" b="1" dirty="0"/>
              <a:t> </a:t>
            </a:r>
            <a:r>
              <a:rPr lang="en-US" altLang="ko-KR" sz="2400" b="1" dirty="0">
                <a:solidFill>
                  <a:schemeClr val="accent6"/>
                </a:solidFill>
              </a:rPr>
              <a:t>//</a:t>
            </a:r>
            <a:r>
              <a:rPr lang="en-US" altLang="ko-KR" sz="2400" b="1" dirty="0" err="1">
                <a:solidFill>
                  <a:schemeClr val="accent6"/>
                </a:solidFill>
              </a:rPr>
              <a:t>int</a:t>
            </a:r>
            <a:r>
              <a:rPr lang="ko-KR" altLang="en-US" sz="2400" b="1" dirty="0">
                <a:solidFill>
                  <a:schemeClr val="accent6"/>
                </a:solidFill>
              </a:rPr>
              <a:t>형 변수를 가리키는 포인터변수 </a:t>
            </a:r>
            <a:r>
              <a:rPr lang="en-US" altLang="ko-KR" sz="2400" b="1" dirty="0">
                <a:solidFill>
                  <a:schemeClr val="accent6"/>
                </a:solidFill>
              </a:rPr>
              <a:t>p</a:t>
            </a:r>
          </a:p>
          <a:p>
            <a:r>
              <a:rPr lang="ko-KR" altLang="en-US" sz="2400" b="1" dirty="0"/>
              <a:t>여기서 *는 곱셈과 전혀 관련이 없다</a:t>
            </a:r>
            <a:r>
              <a:rPr lang="en-US" altLang="ko-KR" sz="2400" b="1" dirty="0"/>
              <a:t>.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12515E6-A356-4CF4-AF5D-C8EF414E0B5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163" t="29888" r="40487" b="36667"/>
          <a:stretch/>
        </p:blipFill>
        <p:spPr>
          <a:xfrm>
            <a:off x="2025138" y="3253740"/>
            <a:ext cx="7850382" cy="3393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1118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22004" y="-155968"/>
            <a:ext cx="10515600" cy="1325563"/>
          </a:xfrm>
        </p:spPr>
        <p:txBody>
          <a:bodyPr/>
          <a:lstStyle/>
          <a:p>
            <a:r>
              <a:rPr lang="ko-KR" altLang="en-US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포인터와 변수 연결</a:t>
            </a:r>
          </a:p>
        </p:txBody>
      </p:sp>
      <p:grpSp>
        <p:nvGrpSpPr>
          <p:cNvPr id="14" name="그룹 13"/>
          <p:cNvGrpSpPr/>
          <p:nvPr/>
        </p:nvGrpSpPr>
        <p:grpSpPr>
          <a:xfrm>
            <a:off x="0" y="12166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17" name="직사각형 1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이등변 삼각형 1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타원 2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타원 2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5" name="내용 개체 틀 15">
            <a:extLst>
              <a:ext uri="{FF2B5EF4-FFF2-40B4-BE49-F238E27FC236}">
                <a16:creationId xmlns:a16="http://schemas.microsoft.com/office/drawing/2014/main" id="{F45796E7-004E-4F62-A7B1-646CF190B26B}"/>
              </a:ext>
            </a:extLst>
          </p:cNvPr>
          <p:cNvSpPr txBox="1">
            <a:spLocks/>
          </p:cNvSpPr>
          <p:nvPr/>
        </p:nvSpPr>
        <p:spPr>
          <a:xfrm>
            <a:off x="1391347" y="1272554"/>
            <a:ext cx="10417346" cy="45643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400" b="1" dirty="0"/>
              <a:t>포인터를 사용하기 전에는 </a:t>
            </a:r>
            <a:r>
              <a:rPr lang="ko-KR" altLang="en-US" sz="2400" b="1" dirty="0">
                <a:highlight>
                  <a:srgbClr val="FFFF00"/>
                </a:highlight>
              </a:rPr>
              <a:t>초기화</a:t>
            </a:r>
            <a:r>
              <a:rPr lang="ko-KR" altLang="en-US" sz="2400" b="1" dirty="0"/>
              <a:t>를 해주어야 한다</a:t>
            </a:r>
            <a:r>
              <a:rPr lang="en-US" altLang="ko-KR" sz="2400" b="1" dirty="0"/>
              <a:t>.</a:t>
            </a:r>
          </a:p>
          <a:p>
            <a:r>
              <a:rPr lang="ko-KR" altLang="en-US" sz="2400" b="1" dirty="0"/>
              <a:t>포인터에는 변수의 주소가 저장되야 하므로 </a:t>
            </a:r>
            <a:r>
              <a:rPr lang="en-US" altLang="ko-KR" sz="2400" b="1" dirty="0"/>
              <a:t>&amp;</a:t>
            </a:r>
            <a:r>
              <a:rPr lang="ko-KR" altLang="en-US" sz="2400" b="1" dirty="0"/>
              <a:t>를 이용한다</a:t>
            </a:r>
            <a:r>
              <a:rPr lang="en-US" altLang="ko-KR" sz="2400" b="1" dirty="0"/>
              <a:t>.</a:t>
            </a:r>
          </a:p>
          <a:p>
            <a:endParaRPr lang="en-US" altLang="ko-KR" sz="2400" b="1" dirty="0"/>
          </a:p>
          <a:p>
            <a:pPr marL="0" indent="0">
              <a:buNone/>
            </a:pPr>
            <a:r>
              <a:rPr lang="en-US" altLang="ko-KR" sz="2400" b="1" dirty="0"/>
              <a:t>Ex)</a:t>
            </a:r>
            <a:r>
              <a:rPr lang="ko-KR" altLang="en-US" sz="2400" b="1" dirty="0"/>
              <a:t> </a:t>
            </a:r>
            <a:r>
              <a:rPr lang="en-US" altLang="ko-KR" sz="2400" b="1" dirty="0" err="1"/>
              <a:t>int</a:t>
            </a:r>
            <a:r>
              <a:rPr lang="en-US" altLang="ko-KR" sz="2400" b="1" dirty="0"/>
              <a:t> </a:t>
            </a:r>
            <a:r>
              <a:rPr lang="en-US" altLang="ko-KR" sz="2400" b="1" dirty="0" err="1"/>
              <a:t>i</a:t>
            </a:r>
            <a:r>
              <a:rPr lang="en-US" altLang="ko-KR" sz="2400" b="1" dirty="0"/>
              <a:t> = 10;</a:t>
            </a:r>
          </a:p>
          <a:p>
            <a:pPr marL="0" indent="0">
              <a:buNone/>
            </a:pPr>
            <a:r>
              <a:rPr lang="en-US" altLang="ko-KR" sz="2400" b="1" dirty="0"/>
              <a:t>     </a:t>
            </a:r>
            <a:r>
              <a:rPr lang="en-US" altLang="ko-KR" sz="2400" b="1" dirty="0" err="1"/>
              <a:t>int</a:t>
            </a:r>
            <a:r>
              <a:rPr lang="en-US" altLang="ko-KR" sz="2400" b="1" dirty="0"/>
              <a:t> *p = &amp;</a:t>
            </a:r>
            <a:r>
              <a:rPr lang="en-US" altLang="ko-KR" sz="2400" b="1" dirty="0" err="1"/>
              <a:t>i</a:t>
            </a:r>
            <a:r>
              <a:rPr lang="en-US" altLang="ko-KR" sz="2400" b="1" dirty="0"/>
              <a:t>;</a:t>
            </a:r>
          </a:p>
          <a:p>
            <a:pPr marL="0" indent="0">
              <a:buNone/>
            </a:pPr>
            <a:r>
              <a:rPr lang="en-US" altLang="ko-KR" sz="2400" b="1" dirty="0"/>
              <a:t>(</a:t>
            </a:r>
            <a:r>
              <a:rPr lang="ko-KR" altLang="en-US" sz="2400" b="1" dirty="0"/>
              <a:t>아래에선 변수 </a:t>
            </a:r>
            <a:r>
              <a:rPr lang="en-US" altLang="ko-KR" sz="2400" b="1" dirty="0" err="1"/>
              <a:t>i</a:t>
            </a:r>
            <a:r>
              <a:rPr lang="ko-KR" altLang="en-US" sz="2400" b="1" dirty="0"/>
              <a:t>의 주소를 </a:t>
            </a:r>
            <a:r>
              <a:rPr lang="en-US" altLang="ko-KR" sz="2400" b="1" dirty="0"/>
              <a:t>4</a:t>
            </a:r>
            <a:r>
              <a:rPr lang="ko-KR" altLang="en-US" sz="2400" b="1" dirty="0"/>
              <a:t>라고 가정하였다</a:t>
            </a:r>
            <a:r>
              <a:rPr lang="en-US" altLang="ko-KR" sz="2400" b="1" dirty="0"/>
              <a:t>.)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BA2FDA04-2BC7-44C5-A2C3-D9FA28AAB1E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347" t="46222" r="40208" b="38889"/>
          <a:stretch/>
        </p:blipFill>
        <p:spPr>
          <a:xfrm>
            <a:off x="1192629" y="4271098"/>
            <a:ext cx="9608024" cy="2011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54498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22004" y="-155968"/>
            <a:ext cx="10515600" cy="1325563"/>
          </a:xfrm>
        </p:spPr>
        <p:txBody>
          <a:bodyPr/>
          <a:lstStyle/>
          <a:p>
            <a:r>
              <a:rPr lang="ko-KR" altLang="en-US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포인터와 변수 연결</a:t>
            </a:r>
          </a:p>
        </p:txBody>
      </p:sp>
      <p:grpSp>
        <p:nvGrpSpPr>
          <p:cNvPr id="14" name="그룹 13"/>
          <p:cNvGrpSpPr/>
          <p:nvPr/>
        </p:nvGrpSpPr>
        <p:grpSpPr>
          <a:xfrm>
            <a:off x="0" y="12166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17" name="직사각형 1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이등변 삼각형 1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타원 2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타원 2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3" name="그림 2">
            <a:extLst>
              <a:ext uri="{FF2B5EF4-FFF2-40B4-BE49-F238E27FC236}">
                <a16:creationId xmlns:a16="http://schemas.microsoft.com/office/drawing/2014/main" id="{E07288B4-3C04-4A17-8DDF-EA9E408B9A2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583" t="10000" r="68403" b="55556"/>
          <a:stretch/>
        </p:blipFill>
        <p:spPr>
          <a:xfrm>
            <a:off x="1181082" y="1439072"/>
            <a:ext cx="6167442" cy="491490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262499D0-3BC9-4C89-8EFB-7AC1259FF80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66752" b="81562"/>
          <a:stretch/>
        </p:blipFill>
        <p:spPr>
          <a:xfrm>
            <a:off x="5379804" y="1279934"/>
            <a:ext cx="6267224" cy="1817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50985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22004" y="-155968"/>
            <a:ext cx="10515600" cy="1325563"/>
          </a:xfrm>
        </p:spPr>
        <p:txBody>
          <a:bodyPr/>
          <a:lstStyle/>
          <a:p>
            <a:r>
              <a:rPr lang="ko-KR" altLang="en-US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간접 참조 연산자 *</a:t>
            </a:r>
          </a:p>
        </p:txBody>
      </p:sp>
      <p:grpSp>
        <p:nvGrpSpPr>
          <p:cNvPr id="14" name="그룹 13"/>
          <p:cNvGrpSpPr/>
          <p:nvPr/>
        </p:nvGrpSpPr>
        <p:grpSpPr>
          <a:xfrm>
            <a:off x="0" y="15368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17" name="직사각형 1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이등변 삼각형 1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타원 2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타원 2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5" name="내용 개체 틀 15">
            <a:extLst>
              <a:ext uri="{FF2B5EF4-FFF2-40B4-BE49-F238E27FC236}">
                <a16:creationId xmlns:a16="http://schemas.microsoft.com/office/drawing/2014/main" id="{F45796E7-004E-4F62-A7B1-646CF190B26B}"/>
              </a:ext>
            </a:extLst>
          </p:cNvPr>
          <p:cNvSpPr txBox="1">
            <a:spLocks/>
          </p:cNvSpPr>
          <p:nvPr/>
        </p:nvSpPr>
        <p:spPr>
          <a:xfrm>
            <a:off x="1391347" y="1272554"/>
            <a:ext cx="10417346" cy="45643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400" b="1" dirty="0"/>
              <a:t>포인터 </a:t>
            </a:r>
            <a:r>
              <a:rPr lang="en-US" altLang="ko-KR" sz="2400" b="1" dirty="0"/>
              <a:t>p</a:t>
            </a:r>
            <a:r>
              <a:rPr lang="ko-KR" altLang="en-US" sz="2400" b="1" dirty="0"/>
              <a:t>가 가리키는 주소에 저장된 내용을 가져오려면 *</a:t>
            </a:r>
            <a:r>
              <a:rPr lang="en-US" altLang="ko-KR" sz="2400" b="1" dirty="0"/>
              <a:t>p</a:t>
            </a:r>
            <a:r>
              <a:rPr lang="ko-KR" altLang="en-US" sz="2400" b="1" dirty="0"/>
              <a:t>처럼 사용한다</a:t>
            </a:r>
            <a:r>
              <a:rPr lang="en-US" altLang="ko-KR" sz="2400" b="1" dirty="0"/>
              <a:t>.</a:t>
            </a:r>
          </a:p>
          <a:p>
            <a:r>
              <a:rPr lang="ko-KR" altLang="en-US" sz="2400" b="1" dirty="0"/>
              <a:t>이를 포인터를 통하여 </a:t>
            </a:r>
            <a:r>
              <a:rPr lang="ko-KR" altLang="en-US" sz="2400" b="1" dirty="0">
                <a:highlight>
                  <a:srgbClr val="FFFF00"/>
                </a:highlight>
              </a:rPr>
              <a:t>간접 참조</a:t>
            </a:r>
            <a:r>
              <a:rPr lang="ko-KR" altLang="en-US" sz="2400" b="1" dirty="0"/>
              <a:t> 한다고 한다</a:t>
            </a:r>
            <a:r>
              <a:rPr lang="en-US" altLang="ko-KR" sz="2400" b="1" dirty="0"/>
              <a:t>.</a:t>
            </a:r>
          </a:p>
          <a:p>
            <a:r>
              <a:rPr lang="en-US" altLang="ko-KR" sz="2400" b="1" dirty="0"/>
              <a:t>p</a:t>
            </a:r>
            <a:r>
              <a:rPr lang="ko-KR" altLang="en-US" sz="2400" b="1" dirty="0"/>
              <a:t>가 </a:t>
            </a:r>
            <a:r>
              <a:rPr lang="en-US" altLang="ko-KR" sz="2400" b="1" dirty="0" err="1"/>
              <a:t>i</a:t>
            </a:r>
            <a:r>
              <a:rPr lang="ko-KR" altLang="en-US" sz="2400" b="1" dirty="0" err="1"/>
              <a:t>를</a:t>
            </a:r>
            <a:r>
              <a:rPr lang="ko-KR" altLang="en-US" sz="2400" b="1" dirty="0"/>
              <a:t> 가리킨다면 </a:t>
            </a:r>
            <a:r>
              <a:rPr lang="en-US" altLang="ko-KR" sz="2400" b="1" dirty="0"/>
              <a:t>*p == </a:t>
            </a:r>
            <a:r>
              <a:rPr lang="en-US" altLang="ko-KR" sz="2400" b="1" dirty="0" err="1"/>
              <a:t>i</a:t>
            </a:r>
            <a:endParaRPr lang="en-US" altLang="ko-KR" sz="2400" b="1" dirty="0"/>
          </a:p>
          <a:p>
            <a:r>
              <a:rPr lang="ko-KR" altLang="en-US" sz="2400" b="1" dirty="0"/>
              <a:t>간접 참조 연산자를 사용하면 포인터가 가리키는 곳에 가서 자료형의   </a:t>
            </a:r>
            <a:r>
              <a:rPr lang="ko-KR" altLang="en-US" sz="2400" b="1" dirty="0">
                <a:solidFill>
                  <a:srgbClr val="FF0000"/>
                </a:solidFill>
              </a:rPr>
              <a:t>크기만큼</a:t>
            </a:r>
            <a:r>
              <a:rPr lang="ko-KR" altLang="en-US" sz="2400" b="1" dirty="0"/>
              <a:t> 값을 읽어온다</a:t>
            </a:r>
            <a:r>
              <a:rPr lang="en-US" altLang="ko-KR" sz="2400" b="1" dirty="0"/>
              <a:t>.  </a:t>
            </a:r>
            <a:r>
              <a:rPr lang="en-US" altLang="ko-KR" sz="2400" b="1" dirty="0">
                <a:solidFill>
                  <a:schemeClr val="accent6"/>
                </a:solidFill>
              </a:rPr>
              <a:t>//</a:t>
            </a:r>
            <a:r>
              <a:rPr lang="ko-KR" altLang="en-US" sz="2400" b="1" dirty="0">
                <a:solidFill>
                  <a:schemeClr val="accent6"/>
                </a:solidFill>
              </a:rPr>
              <a:t>포인터에 자료형이 필요한 이유 </a:t>
            </a:r>
            <a:endParaRPr lang="en-US" altLang="ko-KR" sz="2400" b="1" dirty="0">
              <a:solidFill>
                <a:schemeClr val="accent6"/>
              </a:solidFill>
            </a:endParaRPr>
          </a:p>
          <a:p>
            <a:endParaRPr lang="en-US" altLang="ko-KR" sz="2400" b="1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0550B2B-21EA-404A-8F1E-90578F021FC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375" t="39334" r="21180" b="31555"/>
          <a:stretch/>
        </p:blipFill>
        <p:spPr>
          <a:xfrm>
            <a:off x="2253675" y="3909060"/>
            <a:ext cx="7964745" cy="2661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038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22004" y="-155968"/>
            <a:ext cx="10515600" cy="1325563"/>
          </a:xfrm>
        </p:spPr>
        <p:txBody>
          <a:bodyPr/>
          <a:lstStyle/>
          <a:p>
            <a:r>
              <a:rPr lang="ko-KR" altLang="en-US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간접 참조 연산자 *</a:t>
            </a:r>
          </a:p>
        </p:txBody>
      </p:sp>
      <p:grpSp>
        <p:nvGrpSpPr>
          <p:cNvPr id="14" name="그룹 13"/>
          <p:cNvGrpSpPr/>
          <p:nvPr/>
        </p:nvGrpSpPr>
        <p:grpSpPr>
          <a:xfrm>
            <a:off x="0" y="15368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17" name="직사각형 1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이등변 삼각형 1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타원 2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타원 2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96E5C52B-DE5C-4351-96ED-8B0D6A478E3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315" t="9889" r="67292" b="59667"/>
          <a:stretch/>
        </p:blipFill>
        <p:spPr>
          <a:xfrm>
            <a:off x="712414" y="1442274"/>
            <a:ext cx="6870732" cy="4604461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3124F300-4786-428A-8837-67C7C1D9517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66915" b="82031"/>
          <a:stretch/>
        </p:blipFill>
        <p:spPr>
          <a:xfrm>
            <a:off x="5246256" y="1507835"/>
            <a:ext cx="6064803" cy="1722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91569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22004" y="-155968"/>
            <a:ext cx="10515600" cy="1325563"/>
          </a:xfrm>
        </p:spPr>
        <p:txBody>
          <a:bodyPr/>
          <a:lstStyle/>
          <a:p>
            <a:r>
              <a:rPr lang="ko-KR" altLang="en-US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간접 참조 연산자 *</a:t>
            </a:r>
          </a:p>
        </p:txBody>
      </p:sp>
      <p:grpSp>
        <p:nvGrpSpPr>
          <p:cNvPr id="14" name="그룹 13"/>
          <p:cNvGrpSpPr/>
          <p:nvPr/>
        </p:nvGrpSpPr>
        <p:grpSpPr>
          <a:xfrm>
            <a:off x="0" y="15368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17" name="직사각형 1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이등변 삼각형 1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타원 2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타원 2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4" name="그림 3">
            <a:extLst>
              <a:ext uri="{FF2B5EF4-FFF2-40B4-BE49-F238E27FC236}">
                <a16:creationId xmlns:a16="http://schemas.microsoft.com/office/drawing/2014/main" id="{36FBF855-6AE9-4BEA-9062-6287FB96997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583" t="9445" r="75208" b="57444"/>
          <a:stretch/>
        </p:blipFill>
        <p:spPr>
          <a:xfrm>
            <a:off x="893119" y="1043954"/>
            <a:ext cx="5411265" cy="554139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15861961-6EBA-4447-A75A-53C458625CA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67079" b="81875"/>
          <a:stretch/>
        </p:blipFill>
        <p:spPr>
          <a:xfrm>
            <a:off x="5379804" y="1550419"/>
            <a:ext cx="6524426" cy="1878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4841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22004" y="-155968"/>
            <a:ext cx="10515600" cy="1325563"/>
          </a:xfrm>
        </p:spPr>
        <p:txBody>
          <a:bodyPr/>
          <a:lstStyle/>
          <a:p>
            <a:r>
              <a:rPr lang="ko-KR" altLang="en-US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포인터 사용시 주의점</a:t>
            </a:r>
          </a:p>
        </p:txBody>
      </p:sp>
      <p:grpSp>
        <p:nvGrpSpPr>
          <p:cNvPr id="14" name="그룹 13"/>
          <p:cNvGrpSpPr/>
          <p:nvPr/>
        </p:nvGrpSpPr>
        <p:grpSpPr>
          <a:xfrm>
            <a:off x="0" y="7748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17" name="직사각형 1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이등변 삼각형 1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타원 2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타원 2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5" name="내용 개체 틀 15">
            <a:extLst>
              <a:ext uri="{FF2B5EF4-FFF2-40B4-BE49-F238E27FC236}">
                <a16:creationId xmlns:a16="http://schemas.microsoft.com/office/drawing/2014/main" id="{F45796E7-004E-4F62-A7B1-646CF190B26B}"/>
              </a:ext>
            </a:extLst>
          </p:cNvPr>
          <p:cNvSpPr txBox="1">
            <a:spLocks/>
          </p:cNvSpPr>
          <p:nvPr/>
        </p:nvSpPr>
        <p:spPr>
          <a:xfrm>
            <a:off x="1360033" y="1434654"/>
            <a:ext cx="10417346" cy="52730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/>
            </a:pPr>
            <a:r>
              <a:rPr lang="ko-KR" altLang="en-US" sz="2400" b="1" dirty="0"/>
              <a:t>포인터를 </a:t>
            </a:r>
            <a:r>
              <a:rPr lang="ko-KR" altLang="en-US" sz="2400" b="1" dirty="0">
                <a:solidFill>
                  <a:srgbClr val="FF0000"/>
                </a:solidFill>
              </a:rPr>
              <a:t>초기화 하지 않고</a:t>
            </a:r>
            <a:r>
              <a:rPr lang="ko-KR" altLang="en-US" sz="2400" b="1" dirty="0"/>
              <a:t> 사용하는 것</a:t>
            </a:r>
            <a:r>
              <a:rPr lang="en-US" altLang="ko-KR" sz="2400" b="1" dirty="0"/>
              <a:t>. </a:t>
            </a:r>
          </a:p>
          <a:p>
            <a:pPr marL="0" indent="0">
              <a:buNone/>
            </a:pPr>
            <a:r>
              <a:rPr lang="en-US" altLang="ko-KR" sz="2000" b="1" dirty="0" err="1"/>
              <a:t>int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*p;</a:t>
            </a:r>
            <a:r>
              <a:rPr lang="ko-KR" altLang="en-US" sz="2000" b="1" dirty="0"/>
              <a:t>  </a:t>
            </a:r>
            <a:r>
              <a:rPr lang="en-US" altLang="ko-KR" sz="2000" b="1" dirty="0"/>
              <a:t>*p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=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100; </a:t>
            </a:r>
            <a:r>
              <a:rPr lang="ko-KR" altLang="en-US" sz="2000" b="1" dirty="0"/>
              <a:t>와 같이 사용하면 </a:t>
            </a:r>
            <a:r>
              <a:rPr lang="en-US" altLang="ko-KR" sz="2000" b="1" dirty="0"/>
              <a:t>X. </a:t>
            </a:r>
            <a:r>
              <a:rPr lang="ko-KR" altLang="en-US" sz="2000" b="1" dirty="0"/>
              <a:t>메모리 관리 권한은 운영체제가 가지고 있으므로 사용자는 </a:t>
            </a:r>
            <a:r>
              <a:rPr lang="en-US" altLang="ko-KR" sz="2000" b="1" dirty="0"/>
              <a:t>p</a:t>
            </a:r>
            <a:r>
              <a:rPr lang="ko-KR" altLang="en-US" sz="2000" b="1" dirty="0"/>
              <a:t>가 어디를 가리키는지 모름</a:t>
            </a:r>
            <a:r>
              <a:rPr lang="en-US" altLang="ko-KR" sz="2000" b="1" dirty="0"/>
              <a:t>. </a:t>
            </a:r>
            <a:r>
              <a:rPr lang="ko-KR" altLang="en-US" sz="2000" b="1" dirty="0"/>
              <a:t>우연히 </a:t>
            </a:r>
            <a:r>
              <a:rPr lang="en-US" altLang="ko-KR" sz="2000" b="1" dirty="0"/>
              <a:t>p</a:t>
            </a:r>
            <a:r>
              <a:rPr lang="ko-KR" altLang="en-US" sz="2000" b="1" dirty="0"/>
              <a:t>가 중요한 부분을 가리키고 있었다면 시스템 다운까지도 유발 가능</a:t>
            </a:r>
            <a:r>
              <a:rPr lang="en-US" altLang="ko-KR" sz="2000" b="1" dirty="0"/>
              <a:t>.</a:t>
            </a:r>
          </a:p>
          <a:p>
            <a:pPr marL="0" indent="0">
              <a:buNone/>
            </a:pPr>
            <a:r>
              <a:rPr lang="ko-KR" altLang="en-US" sz="2000" b="1" dirty="0"/>
              <a:t>아무것도 가리키지 않을 때는 </a:t>
            </a:r>
            <a:r>
              <a:rPr lang="en-US" altLang="ko-KR" sz="2000" b="1" dirty="0" err="1"/>
              <a:t>int</a:t>
            </a:r>
            <a:r>
              <a:rPr lang="en-US" altLang="ko-KR" sz="2000" b="1" dirty="0"/>
              <a:t> *p = NULL; </a:t>
            </a:r>
            <a:r>
              <a:rPr lang="ko-KR" altLang="en-US" sz="2000" b="1" dirty="0"/>
              <a:t>처럼 초기화 해주자</a:t>
            </a:r>
            <a:r>
              <a:rPr lang="en-US" altLang="ko-KR" sz="2000" b="1" dirty="0"/>
              <a:t>.</a:t>
            </a:r>
          </a:p>
          <a:p>
            <a:pPr marL="0" indent="0">
              <a:buNone/>
            </a:pPr>
            <a:endParaRPr lang="en-US" altLang="ko-KR" sz="900" b="1" dirty="0"/>
          </a:p>
          <a:p>
            <a:pPr marL="0" indent="0">
              <a:buNone/>
            </a:pPr>
            <a:r>
              <a:rPr lang="en-US" altLang="ko-KR" sz="2400" b="1" dirty="0"/>
              <a:t>2. </a:t>
            </a:r>
            <a:r>
              <a:rPr lang="ko-KR" altLang="en-US" sz="2400" b="1" dirty="0"/>
              <a:t>포인터 타입과 변수의 타입은 </a:t>
            </a:r>
            <a:r>
              <a:rPr lang="ko-KR" altLang="en-US" sz="2400" b="1" dirty="0">
                <a:solidFill>
                  <a:srgbClr val="FF0000"/>
                </a:solidFill>
              </a:rPr>
              <a:t>일치시켜야</a:t>
            </a:r>
            <a:r>
              <a:rPr lang="ko-KR" altLang="en-US" sz="2400" b="1" dirty="0"/>
              <a:t> 한다</a:t>
            </a:r>
            <a:r>
              <a:rPr lang="en-US" altLang="ko-KR" sz="2400" b="1" dirty="0"/>
              <a:t>.</a:t>
            </a:r>
            <a:endParaRPr lang="en-US" altLang="ko-KR" sz="1800" b="1" dirty="0"/>
          </a:p>
          <a:p>
            <a:pPr marL="0" indent="0">
              <a:buNone/>
            </a:pPr>
            <a:r>
              <a:rPr lang="ko-KR" altLang="en-US" sz="2000" b="1" dirty="0"/>
              <a:t>서로 다른 크기의 포인터와 변수를 사용한다면 간접 참조 시에 옆 메모리를 침범할 수 있다</a:t>
            </a:r>
            <a:r>
              <a:rPr lang="en-US" altLang="ko-KR" sz="2000" b="1" dirty="0"/>
              <a:t>. </a:t>
            </a:r>
            <a:r>
              <a:rPr lang="ko-KR" altLang="en-US" sz="2000" b="1" dirty="0"/>
              <a:t>따라서 특별한 경우가 아니면 포인터로 다른 타입의 데이터를 가리키게 하면 안된다</a:t>
            </a:r>
            <a:r>
              <a:rPr lang="en-US" altLang="ko-KR" sz="2000" b="1" dirty="0"/>
              <a:t>.</a:t>
            </a:r>
          </a:p>
          <a:p>
            <a:pPr marL="0" indent="0">
              <a:buNone/>
            </a:pPr>
            <a:endParaRPr lang="en-US" altLang="ko-KR" sz="2000" b="1" dirty="0"/>
          </a:p>
          <a:p>
            <a:pPr marL="0" indent="0">
              <a:buNone/>
            </a:pPr>
            <a:r>
              <a:rPr lang="en-US" altLang="ko-KR" sz="2400" b="1" dirty="0"/>
              <a:t>3. </a:t>
            </a:r>
            <a:r>
              <a:rPr lang="ko-KR" altLang="en-US" sz="2400" b="1" dirty="0"/>
              <a:t>절대 주소 </a:t>
            </a:r>
            <a:r>
              <a:rPr lang="ko-KR" altLang="en-US" sz="2400" b="1" dirty="0">
                <a:solidFill>
                  <a:srgbClr val="FF0000"/>
                </a:solidFill>
              </a:rPr>
              <a:t>사용 금지</a:t>
            </a:r>
            <a:endParaRPr lang="en-US" altLang="ko-KR" sz="24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ko-KR" altLang="en-US" sz="2000" b="1" dirty="0"/>
              <a:t>포인터를 초기화 한다고 </a:t>
            </a:r>
            <a:r>
              <a:rPr lang="en-US" altLang="ko-KR" sz="2000" b="1" dirty="0" err="1"/>
              <a:t>int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*p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=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10000;</a:t>
            </a:r>
            <a:r>
              <a:rPr lang="ko-KR" altLang="en-US" sz="2000" b="1" dirty="0"/>
              <a:t>과 같이 값을 지정해주는 것은 바람직하지 않다</a:t>
            </a:r>
            <a:r>
              <a:rPr lang="en-US" altLang="ko-KR" sz="2000" b="1" dirty="0"/>
              <a:t>.</a:t>
            </a:r>
          </a:p>
          <a:p>
            <a:pPr marL="0" indent="0">
              <a:buNone/>
            </a:pPr>
            <a:r>
              <a:rPr lang="ko-KR" altLang="en-US" sz="2000" b="1" dirty="0"/>
              <a:t>값을 직접 대입하는 것은 특별한 경우에만 사용하자</a:t>
            </a:r>
            <a:r>
              <a:rPr lang="en-US" altLang="ko-KR" sz="2000" b="1" dirty="0"/>
              <a:t>. </a:t>
            </a:r>
            <a:r>
              <a:rPr lang="ko-KR" altLang="en-US" sz="2000" b="1" dirty="0"/>
              <a:t>왜 안되는지는 </a:t>
            </a:r>
            <a:r>
              <a:rPr lang="en-US" altLang="ko-KR" sz="2000" b="1" dirty="0"/>
              <a:t>1</a:t>
            </a:r>
            <a:r>
              <a:rPr lang="ko-KR" altLang="en-US" sz="2000" b="1" dirty="0"/>
              <a:t>번과 같다</a:t>
            </a:r>
            <a:r>
              <a:rPr lang="en-US" altLang="ko-KR" sz="2000" b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414736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22004" y="-155968"/>
            <a:ext cx="10515600" cy="1325563"/>
          </a:xfrm>
        </p:spPr>
        <p:txBody>
          <a:bodyPr/>
          <a:lstStyle/>
          <a:p>
            <a:r>
              <a:rPr lang="ko-KR" altLang="en-US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포인터 연산</a:t>
            </a:r>
          </a:p>
        </p:txBody>
      </p:sp>
      <p:grpSp>
        <p:nvGrpSpPr>
          <p:cNvPr id="14" name="그룹 13"/>
          <p:cNvGrpSpPr/>
          <p:nvPr/>
        </p:nvGrpSpPr>
        <p:grpSpPr>
          <a:xfrm>
            <a:off x="0" y="1530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17" name="직사각형 1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이등변 삼각형 1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타원 2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타원 2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5" name="내용 개체 틀 15">
            <a:extLst>
              <a:ext uri="{FF2B5EF4-FFF2-40B4-BE49-F238E27FC236}">
                <a16:creationId xmlns:a16="http://schemas.microsoft.com/office/drawing/2014/main" id="{F45796E7-004E-4F62-A7B1-646CF190B26B}"/>
              </a:ext>
            </a:extLst>
          </p:cNvPr>
          <p:cNvSpPr txBox="1">
            <a:spLocks/>
          </p:cNvSpPr>
          <p:nvPr/>
        </p:nvSpPr>
        <p:spPr>
          <a:xfrm>
            <a:off x="1360033" y="1434654"/>
            <a:ext cx="10417346" cy="52730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2400" b="1" dirty="0"/>
              <a:t>포인터 연산은 일반적인 변수의 연산과는 조금 다르다</a:t>
            </a:r>
            <a:r>
              <a:rPr lang="en-US" altLang="ko-KR" sz="2400" b="1" dirty="0"/>
              <a:t>.</a:t>
            </a:r>
          </a:p>
          <a:p>
            <a:pPr marL="0" indent="0">
              <a:buNone/>
            </a:pPr>
            <a:r>
              <a:rPr lang="ko-KR" altLang="en-US" sz="2400" b="1" dirty="0"/>
              <a:t>포인터에 증감연산자를 쓰거나 덧셈 뺄셈 연산을 한다면 증가되는 값은 포인터가 가리키는 </a:t>
            </a:r>
            <a:r>
              <a:rPr lang="ko-KR" altLang="en-US" sz="2400" b="1" dirty="0">
                <a:solidFill>
                  <a:srgbClr val="FF0000"/>
                </a:solidFill>
              </a:rPr>
              <a:t>객체의 크기</a:t>
            </a:r>
            <a:r>
              <a:rPr lang="ko-KR" altLang="en-US" sz="2400" b="1" dirty="0"/>
              <a:t>이다</a:t>
            </a:r>
            <a:r>
              <a:rPr lang="en-US" altLang="ko-KR" sz="2400" b="1" dirty="0"/>
              <a:t>. </a:t>
            </a:r>
          </a:p>
          <a:p>
            <a:pPr marL="0" indent="0">
              <a:buNone/>
            </a:pPr>
            <a:r>
              <a:rPr lang="ko-KR" altLang="en-US" sz="2400" b="1" dirty="0"/>
              <a:t>즉 포인터가 가리키는 자료형의 </a:t>
            </a:r>
            <a:r>
              <a:rPr lang="ko-KR" altLang="en-US" sz="2400" b="1" dirty="0">
                <a:highlight>
                  <a:srgbClr val="FFFF00"/>
                </a:highlight>
              </a:rPr>
              <a:t>크기가 </a:t>
            </a:r>
            <a:r>
              <a:rPr lang="en-US" altLang="ko-KR" sz="2400" b="1" dirty="0">
                <a:highlight>
                  <a:srgbClr val="FFFF00"/>
                </a:highlight>
              </a:rPr>
              <a:t>s</a:t>
            </a:r>
            <a:r>
              <a:rPr lang="ko-KR" altLang="en-US" sz="2400" b="1" dirty="0">
                <a:highlight>
                  <a:srgbClr val="FFFF00"/>
                </a:highlight>
              </a:rPr>
              <a:t>라면 </a:t>
            </a:r>
            <a:r>
              <a:rPr lang="en-US" altLang="ko-KR" sz="2400" b="1" dirty="0">
                <a:highlight>
                  <a:srgbClr val="FFFF00"/>
                </a:highlight>
              </a:rPr>
              <a:t>s*n</a:t>
            </a:r>
            <a:r>
              <a:rPr lang="ko-KR" altLang="en-US" sz="2400" b="1" dirty="0">
                <a:highlight>
                  <a:srgbClr val="FFFF00"/>
                </a:highlight>
              </a:rPr>
              <a:t>만큼</a:t>
            </a:r>
            <a:r>
              <a:rPr lang="ko-KR" altLang="en-US" sz="2400" b="1" dirty="0"/>
              <a:t> 크기가 증가한다</a:t>
            </a:r>
            <a:r>
              <a:rPr lang="en-US" altLang="ko-KR" sz="2400" b="1" dirty="0"/>
              <a:t>.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07736AAB-C53A-4018-9005-EB62185E91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9726473"/>
              </p:ext>
            </p:extLst>
          </p:nvPr>
        </p:nvGraphicFramePr>
        <p:xfrm>
          <a:off x="1360032" y="3318762"/>
          <a:ext cx="9932808" cy="29829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66404">
                  <a:extLst>
                    <a:ext uri="{9D8B030D-6E8A-4147-A177-3AD203B41FA5}">
                      <a16:colId xmlns:a16="http://schemas.microsoft.com/office/drawing/2014/main" val="3727722321"/>
                    </a:ext>
                  </a:extLst>
                </a:gridCol>
                <a:gridCol w="4966404">
                  <a:extLst>
                    <a:ext uri="{9D8B030D-6E8A-4147-A177-3AD203B41FA5}">
                      <a16:colId xmlns:a16="http://schemas.microsoft.com/office/drawing/2014/main" val="4123759000"/>
                    </a:ext>
                  </a:extLst>
                </a:gridCol>
              </a:tblGrid>
              <a:tr h="49716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포인터 타입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++</a:t>
                      </a:r>
                      <a:r>
                        <a:rPr lang="ko-KR" altLang="en-US" b="1" dirty="0"/>
                        <a:t>연산 후 증가되는 값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0706038"/>
                  </a:ext>
                </a:extLst>
              </a:tr>
              <a:tr h="49716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char </a:t>
                      </a:r>
                      <a:endParaRPr lang="ko-KR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1</a:t>
                      </a:r>
                      <a:endParaRPr lang="ko-KR" alt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9730838"/>
                  </a:ext>
                </a:extLst>
              </a:tr>
              <a:tr h="49716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short</a:t>
                      </a:r>
                      <a:endParaRPr lang="ko-KR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2</a:t>
                      </a:r>
                      <a:endParaRPr lang="ko-KR" alt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2524986"/>
                  </a:ext>
                </a:extLst>
              </a:tr>
              <a:tr h="49716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 err="1"/>
                        <a:t>int</a:t>
                      </a:r>
                      <a:endParaRPr lang="ko-KR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4</a:t>
                      </a:r>
                      <a:endParaRPr lang="ko-KR" alt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0055681"/>
                  </a:ext>
                </a:extLst>
              </a:tr>
              <a:tr h="49716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float</a:t>
                      </a:r>
                      <a:endParaRPr lang="ko-KR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4</a:t>
                      </a:r>
                      <a:endParaRPr lang="ko-KR" alt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0734672"/>
                  </a:ext>
                </a:extLst>
              </a:tr>
              <a:tr h="49716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double</a:t>
                      </a:r>
                      <a:endParaRPr lang="ko-KR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8</a:t>
                      </a:r>
                      <a:endParaRPr lang="ko-KR" alt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98671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302302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22004" y="-155968"/>
            <a:ext cx="10515600" cy="1325563"/>
          </a:xfrm>
        </p:spPr>
        <p:txBody>
          <a:bodyPr/>
          <a:lstStyle/>
          <a:p>
            <a:r>
              <a:rPr lang="ko-KR" altLang="en-US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포인터 연산</a:t>
            </a:r>
          </a:p>
        </p:txBody>
      </p:sp>
      <p:grpSp>
        <p:nvGrpSpPr>
          <p:cNvPr id="14" name="그룹 13"/>
          <p:cNvGrpSpPr/>
          <p:nvPr/>
        </p:nvGrpSpPr>
        <p:grpSpPr>
          <a:xfrm>
            <a:off x="0" y="1530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17" name="직사각형 1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이등변 삼각형 1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타원 2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타원 2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DC57840C-1FD4-433A-83DA-CF286EC0CF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582" t="10000" r="48126" b="44555"/>
          <a:stretch/>
        </p:blipFill>
        <p:spPr>
          <a:xfrm>
            <a:off x="592551" y="1428436"/>
            <a:ext cx="8043952" cy="483108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8665D723-B5E9-48B4-94F5-E2986600AAC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64300" b="78750"/>
          <a:stretch/>
        </p:blipFill>
        <p:spPr>
          <a:xfrm>
            <a:off x="4614527" y="1135005"/>
            <a:ext cx="7075304" cy="2202555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9F5E5058-CE99-42AA-8883-6C6AA26D940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9097" t="16914" r="25832" b="23110"/>
          <a:stretch/>
        </p:blipFill>
        <p:spPr>
          <a:xfrm>
            <a:off x="2020216" y="-60493"/>
            <a:ext cx="7685040" cy="6391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37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22004" y="-155968"/>
            <a:ext cx="10515600" cy="1325563"/>
          </a:xfrm>
        </p:spPr>
        <p:txBody>
          <a:bodyPr/>
          <a:lstStyle/>
          <a:p>
            <a:r>
              <a:rPr lang="ko-KR" altLang="en-US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간접 참조 연산자와 증감 연산자</a:t>
            </a:r>
          </a:p>
        </p:txBody>
      </p:sp>
      <p:grpSp>
        <p:nvGrpSpPr>
          <p:cNvPr id="14" name="그룹 13"/>
          <p:cNvGrpSpPr/>
          <p:nvPr/>
        </p:nvGrpSpPr>
        <p:grpSpPr>
          <a:xfrm>
            <a:off x="0" y="0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17" name="직사각형 1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이등변 삼각형 1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타원 2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타원 2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5" name="내용 개체 틀 15">
            <a:extLst>
              <a:ext uri="{FF2B5EF4-FFF2-40B4-BE49-F238E27FC236}">
                <a16:creationId xmlns:a16="http://schemas.microsoft.com/office/drawing/2014/main" id="{F45796E7-004E-4F62-A7B1-646CF190B26B}"/>
              </a:ext>
            </a:extLst>
          </p:cNvPr>
          <p:cNvSpPr txBox="1">
            <a:spLocks/>
          </p:cNvSpPr>
          <p:nvPr/>
        </p:nvSpPr>
        <p:spPr>
          <a:xfrm>
            <a:off x="1301966" y="1325563"/>
            <a:ext cx="10417346" cy="52730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ko-KR" sz="2400" b="1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07736AAB-C53A-4018-9005-EB62185E91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5222004"/>
              </p:ext>
            </p:extLst>
          </p:nvPr>
        </p:nvGraphicFramePr>
        <p:xfrm>
          <a:off x="1466712" y="2712527"/>
          <a:ext cx="9932808" cy="24858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14788">
                  <a:extLst>
                    <a:ext uri="{9D8B030D-6E8A-4147-A177-3AD203B41FA5}">
                      <a16:colId xmlns:a16="http://schemas.microsoft.com/office/drawing/2014/main" val="3727722321"/>
                    </a:ext>
                  </a:extLst>
                </a:gridCol>
                <a:gridCol w="7018020">
                  <a:extLst>
                    <a:ext uri="{9D8B030D-6E8A-4147-A177-3AD203B41FA5}">
                      <a16:colId xmlns:a16="http://schemas.microsoft.com/office/drawing/2014/main" val="4123759000"/>
                    </a:ext>
                  </a:extLst>
                </a:gridCol>
              </a:tblGrid>
              <a:tr h="49716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수식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++</a:t>
                      </a:r>
                      <a:r>
                        <a:rPr lang="ko-KR" altLang="en-US" b="1" dirty="0"/>
                        <a:t>연산 후 증가되는 값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0706038"/>
                  </a:ext>
                </a:extLst>
              </a:tr>
              <a:tr h="49716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v = *p++</a:t>
                      </a:r>
                      <a:endParaRPr lang="ko-KR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p</a:t>
                      </a:r>
                      <a:r>
                        <a:rPr lang="ko-KR" altLang="en-US" b="1" dirty="0"/>
                        <a:t>가 가리키는 값을 </a:t>
                      </a:r>
                      <a:r>
                        <a:rPr lang="en-US" altLang="ko-KR" b="1" dirty="0"/>
                        <a:t>v</a:t>
                      </a:r>
                      <a:r>
                        <a:rPr lang="ko-KR" altLang="en-US" b="1" dirty="0"/>
                        <a:t>에 대입한 후에 </a:t>
                      </a:r>
                      <a:r>
                        <a:rPr lang="en-US" altLang="ko-KR" b="1" dirty="0"/>
                        <a:t>p</a:t>
                      </a:r>
                      <a:r>
                        <a:rPr lang="ko-KR" altLang="en-US" b="1" dirty="0"/>
                        <a:t>를 증가한다</a:t>
                      </a:r>
                      <a:r>
                        <a:rPr lang="en-US" altLang="ko-KR" b="1" dirty="0"/>
                        <a:t>.</a:t>
                      </a:r>
                      <a:endParaRPr lang="ko-KR" alt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9730838"/>
                  </a:ext>
                </a:extLst>
              </a:tr>
              <a:tr h="49716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v = (*p)++</a:t>
                      </a:r>
                      <a:endParaRPr lang="ko-KR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1" dirty="0"/>
                        <a:t>p</a:t>
                      </a:r>
                      <a:r>
                        <a:rPr lang="ko-KR" altLang="en-US" b="1" dirty="0"/>
                        <a:t>가 가리키는 값을 </a:t>
                      </a:r>
                      <a:r>
                        <a:rPr lang="en-US" altLang="ko-KR" b="1" dirty="0"/>
                        <a:t>v</a:t>
                      </a:r>
                      <a:r>
                        <a:rPr lang="ko-KR" altLang="en-US" b="1" dirty="0"/>
                        <a:t>에 대입한 후에 가리키는 값을 증가한다</a:t>
                      </a:r>
                      <a:r>
                        <a:rPr lang="en-US" altLang="ko-KR" b="1" dirty="0"/>
                        <a:t>.</a:t>
                      </a:r>
                      <a:endParaRPr lang="ko-KR" alt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2524986"/>
                  </a:ext>
                </a:extLst>
              </a:tr>
              <a:tr h="49716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v = *++p</a:t>
                      </a:r>
                      <a:endParaRPr lang="ko-KR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1" dirty="0"/>
                        <a:t>p</a:t>
                      </a:r>
                      <a:r>
                        <a:rPr lang="ko-KR" altLang="en-US" b="1" dirty="0"/>
                        <a:t>를 증가시킨 후에 </a:t>
                      </a:r>
                      <a:r>
                        <a:rPr lang="en-US" altLang="ko-KR" b="1" dirty="0"/>
                        <a:t>p</a:t>
                      </a:r>
                      <a:r>
                        <a:rPr lang="ko-KR" altLang="en-US" b="1" dirty="0"/>
                        <a:t>가 가리키는 값을 </a:t>
                      </a:r>
                      <a:r>
                        <a:rPr lang="en-US" altLang="ko-KR" b="1" dirty="0"/>
                        <a:t>v</a:t>
                      </a:r>
                      <a:r>
                        <a:rPr lang="ko-KR" altLang="en-US" b="1" dirty="0"/>
                        <a:t>에 대입한다</a:t>
                      </a:r>
                      <a:r>
                        <a:rPr lang="en-US" altLang="ko-KR" b="1" dirty="0"/>
                        <a:t>.</a:t>
                      </a:r>
                      <a:endParaRPr lang="ko-KR" alt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0055681"/>
                  </a:ext>
                </a:extLst>
              </a:tr>
              <a:tr h="49716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v = ++*p</a:t>
                      </a:r>
                      <a:endParaRPr lang="ko-KR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1" dirty="0"/>
                        <a:t>p</a:t>
                      </a:r>
                      <a:r>
                        <a:rPr lang="ko-KR" altLang="en-US" b="1" dirty="0"/>
                        <a:t>가 가리키는 값을 가져온 후에 그 값을 증가하여 </a:t>
                      </a:r>
                      <a:r>
                        <a:rPr lang="en-US" altLang="ko-KR" b="1" dirty="0"/>
                        <a:t>v</a:t>
                      </a:r>
                      <a:r>
                        <a:rPr lang="ko-KR" altLang="en-US" b="1" dirty="0"/>
                        <a:t>에 대입한다</a:t>
                      </a:r>
                      <a:r>
                        <a:rPr lang="en-US" altLang="ko-KR" b="1" dirty="0"/>
                        <a:t>.</a:t>
                      </a:r>
                      <a:endParaRPr lang="ko-KR" alt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07346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37445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22004" y="-155968"/>
            <a:ext cx="10515600" cy="1325563"/>
          </a:xfrm>
        </p:spPr>
        <p:txBody>
          <a:bodyPr/>
          <a:lstStyle/>
          <a:p>
            <a:r>
              <a:rPr lang="ko-KR" altLang="en-US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포인터와 배열</a:t>
            </a:r>
          </a:p>
        </p:txBody>
      </p:sp>
      <p:grpSp>
        <p:nvGrpSpPr>
          <p:cNvPr id="14" name="그룹 13"/>
          <p:cNvGrpSpPr/>
          <p:nvPr/>
        </p:nvGrpSpPr>
        <p:grpSpPr>
          <a:xfrm>
            <a:off x="0" y="410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17" name="직사각형 1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이등변 삼각형 1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타원 2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타원 2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5" name="그림 4">
            <a:extLst>
              <a:ext uri="{FF2B5EF4-FFF2-40B4-BE49-F238E27FC236}">
                <a16:creationId xmlns:a16="http://schemas.microsoft.com/office/drawing/2014/main" id="{4D8C148F-F0AE-4589-BBA9-4E033CC458A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099" t="10222" r="70417" b="59333"/>
          <a:stretch/>
        </p:blipFill>
        <p:spPr>
          <a:xfrm>
            <a:off x="644837" y="1574038"/>
            <a:ext cx="6560626" cy="4898464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98ADBAFA-FADB-485E-9E71-0115AFDCC30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67487" b="77344"/>
          <a:stretch/>
        </p:blipFill>
        <p:spPr>
          <a:xfrm>
            <a:off x="5634787" y="594360"/>
            <a:ext cx="6084525" cy="221742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5F67C36-FA52-47D0-8871-EAE811D8F6C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4028" t="35369" r="22014" b="17000"/>
          <a:stretch/>
        </p:blipFill>
        <p:spPr>
          <a:xfrm>
            <a:off x="3309684" y="526449"/>
            <a:ext cx="4785360" cy="5946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7885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22004" y="-155968"/>
            <a:ext cx="10515600" cy="1325563"/>
          </a:xfrm>
        </p:spPr>
        <p:txBody>
          <a:bodyPr/>
          <a:lstStyle/>
          <a:p>
            <a:r>
              <a:rPr lang="ko-KR" altLang="en-US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포인터와 배열</a:t>
            </a:r>
          </a:p>
        </p:txBody>
      </p:sp>
      <p:grpSp>
        <p:nvGrpSpPr>
          <p:cNvPr id="14" name="그룹 13"/>
          <p:cNvGrpSpPr/>
          <p:nvPr/>
        </p:nvGrpSpPr>
        <p:grpSpPr>
          <a:xfrm>
            <a:off x="0" y="410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17" name="직사각형 1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이등변 삼각형 1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타원 2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타원 2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85561850-23E2-4CE6-9F43-89C23B3798C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000" t="10333" r="55138" b="49000"/>
          <a:stretch/>
        </p:blipFill>
        <p:spPr>
          <a:xfrm>
            <a:off x="592551" y="1932652"/>
            <a:ext cx="7360938" cy="469354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E61560F5-3A79-4A12-8D9E-E32EA1BA8F4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66262" b="75485"/>
          <a:stretch/>
        </p:blipFill>
        <p:spPr>
          <a:xfrm>
            <a:off x="5760693" y="1014038"/>
            <a:ext cx="6201727" cy="2356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3824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22004" y="-155968"/>
            <a:ext cx="10515600" cy="1325563"/>
          </a:xfrm>
        </p:spPr>
        <p:txBody>
          <a:bodyPr/>
          <a:lstStyle/>
          <a:p>
            <a:r>
              <a:rPr lang="ko-KR" altLang="en-US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포인터와 함수</a:t>
            </a:r>
          </a:p>
        </p:txBody>
      </p:sp>
      <p:grpSp>
        <p:nvGrpSpPr>
          <p:cNvPr id="14" name="그룹 13"/>
          <p:cNvGrpSpPr/>
          <p:nvPr/>
        </p:nvGrpSpPr>
        <p:grpSpPr>
          <a:xfrm>
            <a:off x="0" y="0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17" name="직사각형 1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이등변 삼각형 1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타원 2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타원 2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AD02CEDF-7064-439C-A32B-C27A3F215C82}"/>
              </a:ext>
            </a:extLst>
          </p:cNvPr>
          <p:cNvSpPr txBox="1"/>
          <p:nvPr/>
        </p:nvSpPr>
        <p:spPr>
          <a:xfrm>
            <a:off x="7086046" y="4791440"/>
            <a:ext cx="3376214" cy="6694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일반 변수는 값에 의한 호출로</a:t>
            </a:r>
            <a:r>
              <a:rPr lang="en-US" altLang="ko-KR" b="1" dirty="0"/>
              <a:t>, </a:t>
            </a:r>
            <a:r>
              <a:rPr lang="ko-KR" altLang="en-US" b="1" dirty="0"/>
              <a:t>원본은 변하지 않는다</a:t>
            </a:r>
            <a:r>
              <a:rPr lang="en-US" altLang="ko-KR" b="1" dirty="0"/>
              <a:t>.</a:t>
            </a:r>
            <a:endParaRPr lang="ko-KR" altLang="en-US" b="1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8A07F882-BDA2-446A-B4E6-681C026171F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583" t="9779" r="77708" b="57443"/>
          <a:stretch/>
        </p:blipFill>
        <p:spPr>
          <a:xfrm>
            <a:off x="1352229" y="1325563"/>
            <a:ext cx="4406407" cy="5097564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3D9D36E7-DABC-42DA-953D-7805FA67A25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68386" b="82500"/>
          <a:stretch/>
        </p:blipFill>
        <p:spPr>
          <a:xfrm>
            <a:off x="5590927" y="2042699"/>
            <a:ext cx="6478905" cy="1875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7080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22004" y="-155968"/>
            <a:ext cx="10515600" cy="1325563"/>
          </a:xfrm>
        </p:spPr>
        <p:txBody>
          <a:bodyPr/>
          <a:lstStyle/>
          <a:p>
            <a:r>
              <a:rPr lang="ko-KR" altLang="en-US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포인터와 함수</a:t>
            </a:r>
          </a:p>
        </p:txBody>
      </p:sp>
      <p:grpSp>
        <p:nvGrpSpPr>
          <p:cNvPr id="14" name="그룹 13"/>
          <p:cNvGrpSpPr/>
          <p:nvPr/>
        </p:nvGrpSpPr>
        <p:grpSpPr>
          <a:xfrm>
            <a:off x="0" y="0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17" name="직사각형 1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이등변 삼각형 1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타원 2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타원 2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AD02CEDF-7064-439C-A32B-C27A3F215C82}"/>
              </a:ext>
            </a:extLst>
          </p:cNvPr>
          <p:cNvSpPr txBox="1"/>
          <p:nvPr/>
        </p:nvSpPr>
        <p:spPr>
          <a:xfrm>
            <a:off x="7200345" y="5121793"/>
            <a:ext cx="45989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smtClean="0"/>
              <a:t>함수에서 </a:t>
            </a:r>
            <a:r>
              <a:rPr lang="ko-KR" altLang="en-US" b="1" dirty="0"/>
              <a:t>제곱하고 출력해보았더니 원본이 변경되어 있는 것을 볼 수 있다</a:t>
            </a:r>
            <a:r>
              <a:rPr lang="en-US" altLang="ko-KR" b="1" dirty="0"/>
              <a:t>.</a:t>
            </a:r>
            <a:endParaRPr lang="ko-KR" altLang="en-US" b="1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F17587F-7A89-4B33-9D2E-BA0E424A6E8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316" t="9445" r="68333" b="44555"/>
          <a:stretch/>
        </p:blipFill>
        <p:spPr>
          <a:xfrm>
            <a:off x="1031886" y="857250"/>
            <a:ext cx="5581968" cy="58674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48F5707F-D752-45B1-B084-550F17F760B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68631" b="80691"/>
          <a:stretch/>
        </p:blipFill>
        <p:spPr>
          <a:xfrm>
            <a:off x="6783101" y="1984741"/>
            <a:ext cx="5212581" cy="1678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92084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22004" y="-155968"/>
            <a:ext cx="10515600" cy="1325563"/>
          </a:xfrm>
        </p:spPr>
        <p:txBody>
          <a:bodyPr/>
          <a:lstStyle/>
          <a:p>
            <a:r>
              <a:rPr lang="ko-KR" altLang="en-US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포인터와 함수</a:t>
            </a:r>
          </a:p>
        </p:txBody>
      </p:sp>
      <p:grpSp>
        <p:nvGrpSpPr>
          <p:cNvPr id="14" name="그룹 13"/>
          <p:cNvGrpSpPr/>
          <p:nvPr/>
        </p:nvGrpSpPr>
        <p:grpSpPr>
          <a:xfrm>
            <a:off x="0" y="0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17" name="직사각형 1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이등변 삼각형 1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타원 2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타원 2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AD02CEDF-7064-439C-A32B-C27A3F215C82}"/>
              </a:ext>
            </a:extLst>
          </p:cNvPr>
          <p:cNvSpPr txBox="1"/>
          <p:nvPr/>
        </p:nvSpPr>
        <p:spPr>
          <a:xfrm>
            <a:off x="7200346" y="5121793"/>
            <a:ext cx="43937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일반 변수를 인수로 넘기면 값에 의한 호출을 하므로 원본은 변경되지 않음</a:t>
            </a:r>
            <a:r>
              <a:rPr lang="en-US" altLang="ko-KR" b="1" dirty="0"/>
              <a:t>.</a:t>
            </a:r>
            <a:endParaRPr lang="ko-KR" altLang="en-US" b="1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98F460DE-4051-47E1-9D0D-39F3E55AB8D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395" t="9556" r="59305" b="44444"/>
          <a:stretch/>
        </p:blipFill>
        <p:spPr>
          <a:xfrm>
            <a:off x="229580" y="1388806"/>
            <a:ext cx="6455459" cy="5112804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C7F15921-C55C-4646-80B3-040C3498A2F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67405" b="70583"/>
          <a:stretch/>
        </p:blipFill>
        <p:spPr>
          <a:xfrm>
            <a:off x="6749170" y="1679646"/>
            <a:ext cx="5296130" cy="2499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53626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22004" y="-155968"/>
            <a:ext cx="10515600" cy="1325563"/>
          </a:xfrm>
        </p:spPr>
        <p:txBody>
          <a:bodyPr/>
          <a:lstStyle/>
          <a:p>
            <a:r>
              <a:rPr lang="ko-KR" altLang="en-US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포인터와 함수</a:t>
            </a:r>
          </a:p>
        </p:txBody>
      </p:sp>
      <p:grpSp>
        <p:nvGrpSpPr>
          <p:cNvPr id="14" name="그룹 13"/>
          <p:cNvGrpSpPr/>
          <p:nvPr/>
        </p:nvGrpSpPr>
        <p:grpSpPr>
          <a:xfrm>
            <a:off x="0" y="0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17" name="직사각형 1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이등변 삼각형 1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타원 2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타원 2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AD02CEDF-7064-439C-A32B-C27A3F215C82}"/>
              </a:ext>
            </a:extLst>
          </p:cNvPr>
          <p:cNvSpPr txBox="1"/>
          <p:nvPr/>
        </p:nvSpPr>
        <p:spPr>
          <a:xfrm>
            <a:off x="7808160" y="4820118"/>
            <a:ext cx="43937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포인터를 인수로 사용하여서 참조에 의한 호출을 이용함</a:t>
            </a:r>
            <a:r>
              <a:rPr lang="en-US" altLang="ko-KR" b="1" dirty="0"/>
              <a:t>. </a:t>
            </a:r>
            <a:r>
              <a:rPr lang="ko-KR" altLang="en-US" b="1" dirty="0"/>
              <a:t>원본이 변경됨을 확인할 수 있음</a:t>
            </a:r>
            <a:r>
              <a:rPr lang="en-US" altLang="ko-KR" b="1" dirty="0"/>
              <a:t>.</a:t>
            </a:r>
            <a:r>
              <a:rPr lang="ko-KR" altLang="en-US" b="1" dirty="0"/>
              <a:t> 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D54C351-8485-411C-8BF3-C300047ACA6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848" t="10000" r="56806" b="44222"/>
          <a:stretch/>
        </p:blipFill>
        <p:spPr>
          <a:xfrm>
            <a:off x="179535" y="1046638"/>
            <a:ext cx="7571094" cy="5505454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99E4BC0C-7284-40D9-874E-24CAFED3956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66915" b="68630"/>
          <a:stretch/>
        </p:blipFill>
        <p:spPr>
          <a:xfrm>
            <a:off x="7750629" y="1775460"/>
            <a:ext cx="4410290" cy="2186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49704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22004" y="-155968"/>
            <a:ext cx="10515600" cy="1325563"/>
          </a:xfrm>
        </p:spPr>
        <p:txBody>
          <a:bodyPr/>
          <a:lstStyle/>
          <a:p>
            <a:r>
              <a:rPr lang="ko-KR" altLang="en-US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포인터의 장점</a:t>
            </a:r>
          </a:p>
        </p:txBody>
      </p:sp>
      <p:grpSp>
        <p:nvGrpSpPr>
          <p:cNvPr id="14" name="그룹 13"/>
          <p:cNvGrpSpPr/>
          <p:nvPr/>
        </p:nvGrpSpPr>
        <p:grpSpPr>
          <a:xfrm>
            <a:off x="-14176" y="0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17" name="직사각형 1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이등변 삼각형 1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타원 2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타원 2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5" name="내용 개체 틀 15">
            <a:extLst>
              <a:ext uri="{FF2B5EF4-FFF2-40B4-BE49-F238E27FC236}">
                <a16:creationId xmlns:a16="http://schemas.microsoft.com/office/drawing/2014/main" id="{F45796E7-004E-4F62-A7B1-646CF190B26B}"/>
              </a:ext>
            </a:extLst>
          </p:cNvPr>
          <p:cNvSpPr txBox="1">
            <a:spLocks/>
          </p:cNvSpPr>
          <p:nvPr/>
        </p:nvSpPr>
        <p:spPr>
          <a:xfrm>
            <a:off x="1497193" y="2714814"/>
            <a:ext cx="10201306" cy="25353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/>
            </a:pPr>
            <a:r>
              <a:rPr lang="ko-KR" altLang="en-US" sz="2400" b="1" dirty="0"/>
              <a:t>포인터를 이용하여 연결 리스트나 트리 등의 향상된 자료구조 구현</a:t>
            </a:r>
            <a:endParaRPr lang="en-US" altLang="ko-KR" sz="2400" b="1" dirty="0"/>
          </a:p>
          <a:p>
            <a:pPr marL="457200" indent="-457200">
              <a:buFont typeface="+mj-lt"/>
              <a:buAutoNum type="arabicPeriod"/>
            </a:pPr>
            <a:endParaRPr lang="en-US" altLang="ko-KR" sz="900" b="1" dirty="0"/>
          </a:p>
          <a:p>
            <a:pPr marL="0" indent="0">
              <a:buNone/>
            </a:pPr>
            <a:r>
              <a:rPr lang="en-US" altLang="ko-KR" sz="2400" b="1" dirty="0"/>
              <a:t>2. </a:t>
            </a:r>
            <a:r>
              <a:rPr lang="ko-KR" altLang="en-US" sz="2400" b="1" dirty="0"/>
              <a:t>참조에 의한 호출</a:t>
            </a:r>
            <a:endParaRPr lang="en-US" altLang="ko-KR" sz="2400" b="1" dirty="0"/>
          </a:p>
          <a:p>
            <a:pPr marL="0" indent="0">
              <a:buNone/>
            </a:pPr>
            <a:endParaRPr lang="en-US" altLang="ko-KR" sz="2000" b="1" dirty="0"/>
          </a:p>
          <a:p>
            <a:pPr marL="0" indent="0">
              <a:buNone/>
            </a:pPr>
            <a:r>
              <a:rPr lang="en-US" altLang="ko-KR" sz="2400" b="1" dirty="0"/>
              <a:t>3. </a:t>
            </a:r>
            <a:r>
              <a:rPr lang="ko-KR" altLang="en-US" sz="2400" b="1" dirty="0"/>
              <a:t>동적 메모리 할당</a:t>
            </a:r>
            <a:endParaRPr lang="en-US" altLang="ko-KR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22574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/>
          <p:cNvGrpSpPr/>
          <p:nvPr/>
        </p:nvGrpSpPr>
        <p:grpSpPr>
          <a:xfrm>
            <a:off x="0" y="-95250"/>
            <a:ext cx="12268200" cy="2411413"/>
            <a:chOff x="0" y="-95250"/>
            <a:chExt cx="12268200" cy="2411413"/>
          </a:xfrm>
        </p:grpSpPr>
        <p:sp>
          <p:nvSpPr>
            <p:cNvPr id="4" name="직사각형 3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이등변 삼각형 5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타원 10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타원 11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타원 12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205204" y="-295445"/>
            <a:ext cx="10515600" cy="1325563"/>
          </a:xfrm>
        </p:spPr>
        <p:txBody>
          <a:bodyPr/>
          <a:lstStyle/>
          <a:p>
            <a:r>
              <a:rPr lang="ko-KR" altLang="en-US" b="1" dirty="0" smtClean="0"/>
              <a:t>다음주</a:t>
            </a:r>
            <a:r>
              <a:rPr lang="en-US" altLang="ko-KR" b="1" dirty="0" smtClean="0"/>
              <a:t>?</a:t>
            </a:r>
            <a:endParaRPr lang="ko-KR" altLang="en-US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3A4D4B-A76B-40B2-AB6C-14F9EAC9C9A0}"/>
              </a:ext>
            </a:extLst>
          </p:cNvPr>
          <p:cNvSpPr txBox="1"/>
          <p:nvPr/>
        </p:nvSpPr>
        <p:spPr>
          <a:xfrm>
            <a:off x="2987822" y="3073702"/>
            <a:ext cx="6216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600" b="1" dirty="0" smtClean="0"/>
              <a:t>문자열</a:t>
            </a:r>
            <a:r>
              <a:rPr lang="en-US" altLang="ko-KR" sz="3600" b="1" dirty="0" smtClean="0"/>
              <a:t>, </a:t>
            </a:r>
            <a:r>
              <a:rPr lang="ko-KR" altLang="en-US" sz="3600" b="1" dirty="0" smtClean="0"/>
              <a:t>구조체</a:t>
            </a:r>
            <a:r>
              <a:rPr lang="en-US" altLang="ko-KR" sz="3600" b="1" dirty="0" smtClean="0"/>
              <a:t>, </a:t>
            </a:r>
            <a:r>
              <a:rPr lang="ko-KR" altLang="en-US" sz="3600" b="1" dirty="0" err="1" smtClean="0"/>
              <a:t>동적할당</a:t>
            </a:r>
            <a:endParaRPr lang="ko-KR" alt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7853133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/>
          <p:cNvGrpSpPr/>
          <p:nvPr/>
        </p:nvGrpSpPr>
        <p:grpSpPr>
          <a:xfrm>
            <a:off x="0" y="-95250"/>
            <a:ext cx="12268200" cy="2411413"/>
            <a:chOff x="0" y="-95250"/>
            <a:chExt cx="12268200" cy="2411413"/>
          </a:xfrm>
        </p:grpSpPr>
        <p:sp>
          <p:nvSpPr>
            <p:cNvPr id="4" name="직사각형 3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이등변 삼각형 5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타원 10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타원 11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타원 12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4" name="내용 개체 틀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>
              <a:solidFill>
                <a:srgbClr val="FF0000"/>
              </a:solidFill>
            </a:endParaRPr>
          </a:p>
          <a:p>
            <a:endParaRPr lang="en-US" altLang="ko-KR" dirty="0">
              <a:solidFill>
                <a:srgbClr val="FF0000"/>
              </a:solidFill>
            </a:endParaRPr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3111950" y="3339574"/>
            <a:ext cx="531427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8000" b="1" dirty="0"/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41120253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4058</TotalTime>
  <Words>581</Words>
  <Application>Microsoft Office PowerPoint</Application>
  <PresentationFormat>와이드스크린</PresentationFormat>
  <Paragraphs>94</Paragraphs>
  <Slides>23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27" baseType="lpstr">
      <vt:lpstr>맑은 고딕</vt:lpstr>
      <vt:lpstr>휴먼매직체</vt:lpstr>
      <vt:lpstr>Arial</vt:lpstr>
      <vt:lpstr>Office 테마</vt:lpstr>
      <vt:lpstr>C 언어 스터디 6주차 </vt:lpstr>
      <vt:lpstr>포인터</vt:lpstr>
      <vt:lpstr>포인터</vt:lpstr>
      <vt:lpstr>포인터</vt:lpstr>
      <vt:lpstr>포인터 선언</vt:lpstr>
      <vt:lpstr>포인터와 변수 연결</vt:lpstr>
      <vt:lpstr>포인터와 변수 연결</vt:lpstr>
      <vt:lpstr>간접 참조 연산자 *</vt:lpstr>
      <vt:lpstr>간접 참조 연산자 *</vt:lpstr>
      <vt:lpstr>간접 참조 연산자 *</vt:lpstr>
      <vt:lpstr>포인터 사용시 주의점</vt:lpstr>
      <vt:lpstr>포인터 연산</vt:lpstr>
      <vt:lpstr>포인터 연산</vt:lpstr>
      <vt:lpstr>간접 참조 연산자와 증감 연산자</vt:lpstr>
      <vt:lpstr>포인터와 배열</vt:lpstr>
      <vt:lpstr>포인터와 배열</vt:lpstr>
      <vt:lpstr>포인터와 함수</vt:lpstr>
      <vt:lpstr>포인터와 함수</vt:lpstr>
      <vt:lpstr>포인터와 함수</vt:lpstr>
      <vt:lpstr>포인터와 함수</vt:lpstr>
      <vt:lpstr>포인터의 장점</vt:lpstr>
      <vt:lpstr>다음주?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sera</dc:creator>
  <cp:lastModifiedBy>이우열</cp:lastModifiedBy>
  <cp:revision>257</cp:revision>
  <dcterms:created xsi:type="dcterms:W3CDTF">2016-06-26T11:40:01Z</dcterms:created>
  <dcterms:modified xsi:type="dcterms:W3CDTF">2019-07-28T07:59:10Z</dcterms:modified>
</cp:coreProperties>
</file>