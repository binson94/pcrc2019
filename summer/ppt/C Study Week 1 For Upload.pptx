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258" r:id="rId3"/>
    <p:sldId id="257" r:id="rId4"/>
    <p:sldId id="261" r:id="rId5"/>
    <p:sldId id="262" r:id="rId6"/>
    <p:sldId id="263" r:id="rId7"/>
    <p:sldId id="264" r:id="rId8"/>
    <p:sldId id="265" r:id="rId9"/>
    <p:sldId id="294" r:id="rId10"/>
    <p:sldId id="266" r:id="rId11"/>
    <p:sldId id="267" r:id="rId12"/>
    <p:sldId id="295" r:id="rId13"/>
    <p:sldId id="272" r:id="rId14"/>
    <p:sldId id="296" r:id="rId15"/>
    <p:sldId id="297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292" r:id="rId31"/>
    <p:sldId id="293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visualstudio.com/k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c</a:t>
            </a:r>
            <a:r>
              <a:rPr lang="ko-KR" altLang="en-US" sz="6600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언어 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1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394117" y="25316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계획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838200" y="204077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6.24 </a:t>
            </a:r>
            <a:r>
              <a:rPr lang="en-US" altLang="ko-KR" b="1" dirty="0"/>
              <a:t>~ </a:t>
            </a:r>
            <a:r>
              <a:rPr lang="en-US" altLang="ko-KR" b="1" dirty="0" smtClean="0"/>
              <a:t> </a:t>
            </a:r>
            <a:r>
              <a:rPr lang="ko-KR" altLang="en-US" b="1" dirty="0"/>
              <a:t>매주 월요일 </a:t>
            </a:r>
            <a:r>
              <a:rPr lang="en-US" altLang="ko-KR" b="1" dirty="0"/>
              <a:t>4</a:t>
            </a:r>
            <a:r>
              <a:rPr lang="ko-KR" altLang="en-US" b="1" dirty="0"/>
              <a:t>시 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ko-KR" altLang="en-US" b="1" dirty="0" smtClean="0"/>
              <a:t>개념에 </a:t>
            </a:r>
            <a:r>
              <a:rPr lang="ko-KR" altLang="en-US" b="1" dirty="0"/>
              <a:t>대해 설명하고 실습 위주로 진행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다음주 스터디 내용은 </a:t>
            </a:r>
            <a:r>
              <a:rPr lang="en-US" altLang="ko-KR" b="1" dirty="0"/>
              <a:t>1</a:t>
            </a:r>
            <a:r>
              <a:rPr lang="ko-KR" altLang="en-US" b="1" dirty="0"/>
              <a:t>주전 공지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스터디 끝나고 되도록 다같이 세미나도 들읍시다 </a:t>
            </a:r>
            <a:r>
              <a:rPr lang="en-US" altLang="ko-KR" b="1" dirty="0"/>
              <a:t>^~^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79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스터디 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방식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838200" y="217525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b="1" dirty="0" smtClean="0"/>
              <a:t>노트북 지참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앉아서 듣는 것보다는 직접 키보드 두드리는 것이 실력 향상의 </a:t>
            </a:r>
            <a:r>
              <a:rPr lang="ko-KR" altLang="en-US" sz="2400" b="1" dirty="0" smtClean="0"/>
              <a:t>지름길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 smtClean="0"/>
              <a:t>스터디에서 </a:t>
            </a:r>
            <a:r>
              <a:rPr lang="ko-KR" altLang="en-US" sz="2400" b="1" dirty="0"/>
              <a:t>많이 얻어 가도록 집중</a:t>
            </a:r>
            <a:r>
              <a:rPr lang="en-US" altLang="ko-KR" sz="2400" b="1" dirty="0"/>
              <a:t>!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en-US" altLang="ko-KR" dirty="0"/>
              <a:t>*</a:t>
            </a:r>
            <a:r>
              <a:rPr lang="en-US" altLang="ko-KR" b="1" dirty="0"/>
              <a:t>C </a:t>
            </a:r>
            <a:r>
              <a:rPr lang="ko-KR" altLang="en-US" b="1" dirty="0"/>
              <a:t>언어</a:t>
            </a:r>
            <a:r>
              <a:rPr lang="en-US" altLang="ko-KR" b="1" dirty="0"/>
              <a:t>??</a:t>
            </a:r>
            <a:endParaRPr lang="ko-KR" altLang="en-US" b="1" dirty="0"/>
          </a:p>
        </p:txBody>
      </p:sp>
      <p:sp>
        <p:nvSpPr>
          <p:cNvPr id="18" name="내용 개체 틀 17"/>
          <p:cNvSpPr>
            <a:spLocks noGrp="1"/>
          </p:cNvSpPr>
          <p:nvPr>
            <p:ph idx="1"/>
          </p:nvPr>
        </p:nvSpPr>
        <p:spPr>
          <a:xfrm>
            <a:off x="838200" y="2318686"/>
            <a:ext cx="10515600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“</a:t>
            </a:r>
            <a:r>
              <a:rPr lang="ko-KR" altLang="en-US" b="1" dirty="0"/>
              <a:t>절차 지향적 언어</a:t>
            </a:r>
            <a:r>
              <a:rPr lang="en-US" altLang="ko-KR" b="1" dirty="0"/>
              <a:t>“  vs. “</a:t>
            </a:r>
            <a:r>
              <a:rPr lang="ko-KR" altLang="en-US" b="1" dirty="0"/>
              <a:t>객체 지향적 언어</a:t>
            </a:r>
            <a:r>
              <a:rPr lang="en-US" altLang="ko-KR" b="1" dirty="0"/>
              <a:t>”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“</a:t>
            </a:r>
            <a:r>
              <a:rPr lang="ko-KR" altLang="en-US" b="1" dirty="0"/>
              <a:t>고급언어</a:t>
            </a:r>
            <a:r>
              <a:rPr lang="en-US" altLang="ko-KR" b="1" dirty="0"/>
              <a:t>”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203702" y="2129506"/>
            <a:ext cx="3182471" cy="801500"/>
          </a:xfrm>
          <a:prstGeom prst="rect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838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22860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1165118" y="4442068"/>
            <a:ext cx="9144000" cy="1074226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* C</a:t>
            </a:r>
            <a:r>
              <a:rPr lang="ko-KR" altLang="en-US" b="1" dirty="0"/>
              <a:t>언어 특징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1.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간결함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2.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효율성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3.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이식성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6015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6" name="직사각형 15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이등변 삼각형 17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0" y="-217012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공부 준비물 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148355"/>
            <a:ext cx="10515600" cy="4351338"/>
          </a:xfrm>
        </p:spPr>
        <p:txBody>
          <a:bodyPr/>
          <a:lstStyle/>
          <a:p>
            <a:r>
              <a:rPr lang="ko-KR" altLang="en-US" b="1" dirty="0"/>
              <a:t>이해할 수 있는 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건강한 신체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간단히 참고할 수 있는 서적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컴파일러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57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37" name="직사각형 3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이등변 삼각형 3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224928"/>
            <a:ext cx="10515600" cy="1325563"/>
          </a:xfrm>
        </p:spPr>
        <p:txBody>
          <a:bodyPr/>
          <a:lstStyle/>
          <a:p>
            <a:r>
              <a:rPr lang="ko-KR" altLang="en-US" b="1" dirty="0"/>
              <a:t>컴파일</a:t>
            </a:r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2399367"/>
            <a:ext cx="10515600" cy="4351338"/>
          </a:xfrm>
        </p:spPr>
        <p:txBody>
          <a:bodyPr/>
          <a:lstStyle/>
          <a:p>
            <a:r>
              <a:rPr lang="ko-KR" altLang="en-US" b="1" dirty="0"/>
              <a:t>프로그래밍 언어 </a:t>
            </a:r>
            <a:r>
              <a:rPr lang="en-US" altLang="ko-KR" b="1" dirty="0"/>
              <a:t>- &gt; </a:t>
            </a:r>
            <a:r>
              <a:rPr lang="ko-KR" altLang="en-US" b="1" dirty="0"/>
              <a:t>기계어로 번역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번역 해주는 프로그램 </a:t>
            </a:r>
            <a:r>
              <a:rPr lang="en-US" altLang="ko-KR" b="1" dirty="0"/>
              <a:t>- &gt; </a:t>
            </a:r>
            <a:r>
              <a:rPr lang="ko-KR" altLang="en-US" b="1" dirty="0">
                <a:solidFill>
                  <a:srgbClr val="FF0000"/>
                </a:solidFill>
              </a:rPr>
              <a:t>컴파일러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65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2651" y="768539"/>
            <a:ext cx="10515600" cy="1325563"/>
          </a:xfrm>
        </p:spPr>
        <p:txBody>
          <a:bodyPr/>
          <a:lstStyle/>
          <a:p>
            <a:r>
              <a:rPr lang="en-US" altLang="ko-KR" b="1" dirty="0"/>
              <a:t>Visual studio 2017</a:t>
            </a:r>
            <a:r>
              <a:rPr lang="ko-KR" altLang="en-US" b="1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2229039"/>
            <a:ext cx="10515600" cy="4351338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https://www.visualstudio.com/ko/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Community 2017 </a:t>
            </a:r>
            <a:r>
              <a:rPr lang="ko-KR" altLang="en-US" dirty="0"/>
              <a:t>다운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C36B0CF0-D8CF-4C8E-9E22-B1DF23AEEB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4" t="19610" r="63758" b="6776"/>
          <a:stretch/>
        </p:blipFill>
        <p:spPr>
          <a:xfrm>
            <a:off x="7470434" y="1431320"/>
            <a:ext cx="3494617" cy="504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5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2651" y="768539"/>
            <a:ext cx="10515600" cy="1325563"/>
          </a:xfrm>
        </p:spPr>
        <p:txBody>
          <a:bodyPr/>
          <a:lstStyle/>
          <a:p>
            <a:r>
              <a:rPr lang="en-US" altLang="ko-KR" b="1" dirty="0"/>
              <a:t>Visual studio 2017</a:t>
            </a:r>
            <a:r>
              <a:rPr lang="ko-KR" altLang="en-US" b="1" dirty="0"/>
              <a:t> 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1D00A2F-2B84-40D2-9670-7B3507B9E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37" t="33773" r="33312" b="26554"/>
          <a:stretch/>
        </p:blipFill>
        <p:spPr>
          <a:xfrm>
            <a:off x="1991639" y="2182813"/>
            <a:ext cx="7716038" cy="409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6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388699"/>
            <a:ext cx="10515600" cy="1325563"/>
          </a:xfrm>
        </p:spPr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805DEE-5C13-4CC9-B04F-09638018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46" y="1172518"/>
            <a:ext cx="7407307" cy="51402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051398-15B9-4164-ADD5-AB2BAB923712}"/>
              </a:ext>
            </a:extLst>
          </p:cNvPr>
          <p:cNvSpPr txBox="1"/>
          <p:nvPr/>
        </p:nvSpPr>
        <p:spPr>
          <a:xfrm>
            <a:off x="4706680" y="3909402"/>
            <a:ext cx="4669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Ctrl + Shift + N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D09FC-C143-4237-A898-8AE2F479BF9A}"/>
              </a:ext>
            </a:extLst>
          </p:cNvPr>
          <p:cNvSpPr txBox="1"/>
          <p:nvPr/>
        </p:nvSpPr>
        <p:spPr>
          <a:xfrm>
            <a:off x="276386" y="87619"/>
            <a:ext cx="11639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프로젝트 생성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3F4A6A6-DFB1-4EB3-BE4C-B70603B386AC}"/>
              </a:ext>
            </a:extLst>
          </p:cNvPr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30073-E076-4103-BC62-F8269DBDA464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FF77B5-8065-4E80-96FB-4FC56E57E7FD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0565D264-6EBE-4BEA-98A1-139113DB18F6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63F405-C467-4F71-AAE2-352CE8F7582E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7651ED8-A12F-4C26-AFC6-1C75FCA53C25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008966-5682-463B-8E76-1C05D8842814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5656752-4F5C-4C87-9E8E-D2E18EDF3550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5D0925D-DBFD-4EC9-82F5-57B9D63D6F53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C070140-A587-4DB0-9A48-2BA5B77639F9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971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6CA2BC-10A1-4D59-A820-023FF929DA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52" t="23051" r="15937" b="25989"/>
          <a:stretch/>
        </p:blipFill>
        <p:spPr>
          <a:xfrm>
            <a:off x="2100855" y="1912897"/>
            <a:ext cx="8066489" cy="417679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94FE73E-12CC-4936-A76B-95CBFD869D9C}"/>
              </a:ext>
            </a:extLst>
          </p:cNvPr>
          <p:cNvSpPr/>
          <p:nvPr/>
        </p:nvSpPr>
        <p:spPr>
          <a:xfrm>
            <a:off x="4161295" y="4021810"/>
            <a:ext cx="906651" cy="2092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02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388699"/>
            <a:ext cx="10515600" cy="1325563"/>
          </a:xfrm>
        </p:spPr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D09FC-C143-4237-A898-8AE2F479BF9A}"/>
              </a:ext>
            </a:extLst>
          </p:cNvPr>
          <p:cNvSpPr txBox="1"/>
          <p:nvPr/>
        </p:nvSpPr>
        <p:spPr>
          <a:xfrm>
            <a:off x="302418" y="87472"/>
            <a:ext cx="11639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소스파일 생성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3F4A6A6-DFB1-4EB3-BE4C-B70603B386AC}"/>
              </a:ext>
            </a:extLst>
          </p:cNvPr>
          <p:cNvGrpSpPr/>
          <p:nvPr/>
        </p:nvGrpSpPr>
        <p:grpSpPr>
          <a:xfrm>
            <a:off x="0" y="-3028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30073-E076-4103-BC62-F8269DBDA464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FF77B5-8065-4E80-96FB-4FC56E57E7FD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0565D264-6EBE-4BEA-98A1-139113DB18F6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63F405-C467-4F71-AAE2-352CE8F7582E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7651ED8-A12F-4C26-AFC6-1C75FCA53C25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008966-5682-463B-8E76-1C05D8842814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5656752-4F5C-4C87-9E8E-D2E18EDF3550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5D0925D-DBFD-4EC9-82F5-57B9D63D6F53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C070140-A587-4DB0-9A48-2BA5B77639F9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EE24AB8-042C-4047-9943-1F33798D3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09" y="1293556"/>
            <a:ext cx="7489869" cy="51975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051398-15B9-4164-ADD5-AB2BAB923712}"/>
              </a:ext>
            </a:extLst>
          </p:cNvPr>
          <p:cNvSpPr txBox="1"/>
          <p:nvPr/>
        </p:nvSpPr>
        <p:spPr>
          <a:xfrm>
            <a:off x="4471952" y="3816412"/>
            <a:ext cx="4669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Ctrl + Shift + A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CA88ED-B37D-46B1-8CD4-F378283F44F3}"/>
              </a:ext>
            </a:extLst>
          </p:cNvPr>
          <p:cNvSpPr/>
          <p:nvPr/>
        </p:nvSpPr>
        <p:spPr>
          <a:xfrm>
            <a:off x="2844136" y="5796367"/>
            <a:ext cx="1053687" cy="2247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13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b="1" dirty="0"/>
              <a:t>Hello World!</a:t>
            </a:r>
            <a:endParaRPr lang="ko-KR" altLang="en-US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D33A7CA-2085-4704-964E-63275FB63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49" r="54976" b="69829"/>
          <a:stretch/>
        </p:blipFill>
        <p:spPr>
          <a:xfrm>
            <a:off x="1281179" y="2322812"/>
            <a:ext cx="9282639" cy="2787109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189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b="1" dirty="0"/>
              <a:t>Hello World!</a:t>
            </a:r>
            <a:endParaRPr lang="ko-KR" altLang="en-US" b="1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-6458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3C57752-F85F-46B4-BE3E-0564331F4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81" t="75819" r="1"/>
          <a:stretch/>
        </p:blipFill>
        <p:spPr>
          <a:xfrm>
            <a:off x="404000" y="3386231"/>
            <a:ext cx="11384000" cy="1658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334C6-A294-4F36-BB28-40B4028F152A}"/>
              </a:ext>
            </a:extLst>
          </p:cNvPr>
          <p:cNvSpPr txBox="1"/>
          <p:nvPr/>
        </p:nvSpPr>
        <p:spPr>
          <a:xfrm>
            <a:off x="1807997" y="1876340"/>
            <a:ext cx="8128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빌드 </a:t>
            </a:r>
            <a:r>
              <a:rPr lang="en-US" altLang="ko-KR" sz="2400" b="1" dirty="0">
                <a:solidFill>
                  <a:srgbClr val="FF0000"/>
                </a:solidFill>
              </a:rPr>
              <a:t>-&gt; </a:t>
            </a:r>
            <a:r>
              <a:rPr lang="ko-KR" altLang="en-US" sz="2400" b="1" dirty="0">
                <a:solidFill>
                  <a:srgbClr val="FF0000"/>
                </a:solidFill>
              </a:rPr>
              <a:t>솔루션 빌드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Ctrl + Shift + B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5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-21391" y="-15380"/>
            <a:ext cx="12289591" cy="2426793"/>
            <a:chOff x="-21391" y="-110630"/>
            <a:chExt cx="12289591" cy="242679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-21391" y="-11063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Hello World!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334C6-A294-4F36-BB28-40B4028F152A}"/>
              </a:ext>
            </a:extLst>
          </p:cNvPr>
          <p:cNvSpPr txBox="1"/>
          <p:nvPr/>
        </p:nvSpPr>
        <p:spPr>
          <a:xfrm>
            <a:off x="1807997" y="1876340"/>
            <a:ext cx="8128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디버그 </a:t>
            </a:r>
            <a:r>
              <a:rPr lang="en-US" altLang="ko-KR" sz="2400" b="1" dirty="0">
                <a:solidFill>
                  <a:srgbClr val="FF0000"/>
                </a:solidFill>
              </a:rPr>
              <a:t>-&gt; </a:t>
            </a:r>
            <a:r>
              <a:rPr lang="ko-KR" altLang="en-US" sz="2400" b="1" dirty="0" err="1">
                <a:solidFill>
                  <a:srgbClr val="FF0000"/>
                </a:solidFill>
              </a:rPr>
              <a:t>디버그하지</a:t>
            </a:r>
            <a:r>
              <a:rPr lang="ko-KR" altLang="en-US" sz="2400" b="1" dirty="0">
                <a:solidFill>
                  <a:srgbClr val="FF0000"/>
                </a:solidFill>
              </a:rPr>
              <a:t> 않고 시작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Ctrl + F5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12F06-956E-486E-9DF7-23A98001B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97" y="2853813"/>
            <a:ext cx="6843101" cy="35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191156"/>
            <a:ext cx="10515600" cy="1325563"/>
          </a:xfrm>
        </p:spPr>
        <p:txBody>
          <a:bodyPr/>
          <a:lstStyle/>
          <a:p>
            <a:r>
              <a:rPr lang="ko-KR" altLang="en-US" b="1" dirty="0"/>
              <a:t>깔끔하게 코딩하자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0"/>
            <a:ext cx="12289591" cy="2328863"/>
            <a:chOff x="-21391" y="-12700"/>
            <a:chExt cx="12289591" cy="232886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-21391" y="-1270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1A57CED8-42D4-4177-AEF6-3F33DACA9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86" r="27499" b="70588"/>
          <a:stretch/>
        </p:blipFill>
        <p:spPr>
          <a:xfrm>
            <a:off x="796100" y="1293556"/>
            <a:ext cx="10946715" cy="2718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470C4-32EC-44E7-A68A-1CC5B503AFCE}"/>
              </a:ext>
            </a:extLst>
          </p:cNvPr>
          <p:cNvSpPr txBox="1"/>
          <p:nvPr/>
        </p:nvSpPr>
        <p:spPr>
          <a:xfrm>
            <a:off x="712414" y="4448186"/>
            <a:ext cx="10377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가독성이 매우 떨어짐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ko-KR" altLang="en-US" sz="2400" b="1" dirty="0"/>
              <a:t>좋은 개발자가 되기 위해선 좋은 코딩 습관을 들이자 </a:t>
            </a:r>
          </a:p>
        </p:txBody>
      </p:sp>
    </p:spTree>
    <p:extLst>
      <p:ext uri="{BB962C8B-B14F-4D97-AF65-F5344CB8AC3E}">
        <p14:creationId xmlns:p14="http://schemas.microsoft.com/office/powerpoint/2010/main" val="340895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243500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 분석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!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592551" y="2366467"/>
            <a:ext cx="10515600" cy="33679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latin typeface="Consolas" panose="020B0609020204030204" pitchFamily="49" charset="0"/>
              </a:rPr>
              <a:t>해석 </a:t>
            </a:r>
            <a:r>
              <a:rPr lang="en-US" altLang="ko-KR" sz="2400" b="1" dirty="0">
                <a:latin typeface="Consolas" panose="020B0609020204030204" pitchFamily="49" charset="0"/>
              </a:rPr>
              <a:t>: </a:t>
            </a:r>
            <a:r>
              <a:rPr lang="ko-KR" altLang="en-US" sz="2400" b="1" dirty="0" err="1">
                <a:latin typeface="Consolas" panose="020B0609020204030204" pitchFamily="49" charset="0"/>
              </a:rPr>
              <a:t>컴파일하기전에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파일 가져와서 소스파일에 포함시키세요</a:t>
            </a:r>
            <a:r>
              <a:rPr lang="en-US" altLang="ko-KR" sz="2400" b="1" dirty="0"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&gt;: standard input output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ko-KR" altLang="en-US" sz="2400" b="1" dirty="0">
                <a:latin typeface="Consolas" panose="020B0609020204030204" pitchFamily="49" charset="0"/>
              </a:rPr>
              <a:t>에는 </a:t>
            </a:r>
            <a:r>
              <a:rPr lang="en-US" altLang="ko-KR" sz="2400" b="1" dirty="0" err="1">
                <a:latin typeface="Consolas" panose="020B0609020204030204" pitchFamily="49" charset="0"/>
              </a:rPr>
              <a:t>printf</a:t>
            </a:r>
            <a:r>
              <a:rPr lang="en-US" altLang="ko-KR" sz="2400" b="1" dirty="0">
                <a:latin typeface="Consolas" panose="020B0609020204030204" pitchFamily="49" charset="0"/>
              </a:rPr>
              <a:t>, </a:t>
            </a:r>
            <a:r>
              <a:rPr lang="en-US" altLang="ko-KR" sz="2400" b="1" dirty="0" err="1">
                <a:latin typeface="Consolas" panose="020B0609020204030204" pitchFamily="49" charset="0"/>
              </a:rPr>
              <a:t>scanf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등 여러가지 입출력 라이브러리가 함수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정의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Consolas" panose="020B0609020204030204" pitchFamily="49" charset="0"/>
              </a:rPr>
              <a:t> </a:t>
            </a:r>
            <a:r>
              <a:rPr lang="ko-KR" altLang="en-US" sz="2400" b="1" dirty="0" err="1">
                <a:latin typeface="Consolas" panose="020B0609020204030204" pitchFamily="49" charset="0"/>
              </a:rPr>
              <a:t>그외는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math.h</a:t>
            </a:r>
            <a:r>
              <a:rPr lang="en-US" altLang="ko-KR" sz="2400" b="1" dirty="0">
                <a:latin typeface="Consolas" panose="020B0609020204030204" pitchFamily="49" charset="0"/>
              </a:rPr>
              <a:t>&gt;, 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stdlib.h</a:t>
            </a:r>
            <a:r>
              <a:rPr lang="en-US" altLang="ko-KR" sz="2400" b="1" dirty="0">
                <a:latin typeface="Consolas" panose="020B0609020204030204" pitchFamily="49" charset="0"/>
              </a:rPr>
              <a:t>&gt;, 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string.h</a:t>
            </a:r>
            <a:r>
              <a:rPr lang="en-US" altLang="ko-KR" sz="2400" b="1" dirty="0">
                <a:latin typeface="Consolas" panose="020B0609020204030204" pitchFamily="49" charset="0"/>
              </a:rPr>
              <a:t>&gt; </a:t>
            </a:r>
            <a:r>
              <a:rPr lang="ko-KR" altLang="en-US" sz="2400" b="1" dirty="0">
                <a:latin typeface="Consolas" panose="020B0609020204030204" pitchFamily="49" charset="0"/>
              </a:rPr>
              <a:t>등등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1437471" y="1466849"/>
            <a:ext cx="7102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#include&lt;</a:t>
            </a:r>
            <a:r>
              <a:rPr lang="en-US" altLang="ko-KR" sz="3600" b="1" dirty="0" err="1"/>
              <a:t>stdio.h</a:t>
            </a:r>
            <a:r>
              <a:rPr lang="en-US" altLang="ko-KR" sz="3600" b="1" dirty="0"/>
              <a:t>&gt; : </a:t>
            </a:r>
            <a:r>
              <a:rPr lang="ko-KR" altLang="en-US" sz="3600" b="1" dirty="0">
                <a:solidFill>
                  <a:srgbClr val="FF0000"/>
                </a:solidFill>
              </a:rPr>
              <a:t>전처리기</a:t>
            </a:r>
            <a:r>
              <a:rPr lang="ko-KR" altLang="en-US" sz="3600" b="1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77730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3600" b="1" dirty="0" err="1">
                <a:latin typeface="Consolas" panose="020B0609020204030204" pitchFamily="49" charset="0"/>
              </a:rPr>
              <a:t>int</a:t>
            </a:r>
            <a:r>
              <a:rPr lang="en-US" altLang="ko-KR" sz="3600" b="1" dirty="0">
                <a:latin typeface="Consolas" panose="020B0609020204030204" pitchFamily="49" charset="0"/>
              </a:rPr>
              <a:t> main()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해석</a:t>
            </a:r>
            <a:r>
              <a:rPr lang="en-US" altLang="ko-KR" sz="2400" b="1" dirty="0">
                <a:latin typeface="Consolas" panose="020B0609020204030204" pitchFamily="49" charset="0"/>
              </a:rPr>
              <a:t>: </a:t>
            </a:r>
            <a:r>
              <a:rPr lang="ko-KR" altLang="en-US" sz="2400" b="1" dirty="0">
                <a:latin typeface="Consolas" panose="020B0609020204030204" pitchFamily="49" charset="0"/>
              </a:rPr>
              <a:t>내가 프로그램의 </a:t>
            </a:r>
            <a:r>
              <a:rPr lang="ko-KR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메인 함수</a:t>
            </a:r>
            <a:r>
              <a:rPr lang="ko-KR" altLang="en-US" sz="2400" b="1" dirty="0">
                <a:latin typeface="Consolas" panose="020B0609020204030204" pitchFamily="49" charset="0"/>
              </a:rPr>
              <a:t>다</a:t>
            </a:r>
            <a:r>
              <a:rPr lang="en-US" altLang="ko-KR" sz="2400" b="1" dirty="0">
                <a:latin typeface="Consolas" panose="020B0609020204030204" pitchFamily="49" charset="0"/>
              </a:rPr>
              <a:t>. </a:t>
            </a:r>
            <a:r>
              <a:rPr lang="ko-KR" altLang="en-US" sz="2400" b="1" dirty="0">
                <a:latin typeface="Consolas" panose="020B0609020204030204" pitchFamily="49" charset="0"/>
              </a:rPr>
              <a:t>반환형은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이다</a:t>
            </a:r>
            <a:r>
              <a:rPr lang="en-US" altLang="ko-KR" sz="2400" b="1" dirty="0">
                <a:latin typeface="Consolas" panose="020B0609020204030204" pitchFamily="49" charset="0"/>
              </a:rPr>
              <a:t>.</a:t>
            </a: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main </a:t>
            </a:r>
            <a:r>
              <a:rPr lang="ko-KR" altLang="en-US" sz="2400" b="1" dirty="0">
                <a:latin typeface="Consolas" panose="020B0609020204030204" pitchFamily="49" charset="0"/>
              </a:rPr>
              <a:t>모두 소문자임</a:t>
            </a:r>
            <a:r>
              <a:rPr lang="en-US" altLang="ko-KR" sz="2400" b="1" dirty="0">
                <a:latin typeface="Consolas" panose="020B0609020204030204" pitchFamily="49" charset="0"/>
              </a:rPr>
              <a:t>! </a:t>
            </a:r>
            <a:r>
              <a:rPr lang="ko-KR" altLang="en-US" sz="2400" b="1" dirty="0">
                <a:latin typeface="Consolas" panose="020B0609020204030204" pitchFamily="49" charset="0"/>
              </a:rPr>
              <a:t>대문자 구분하므로 조심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r>
              <a:rPr lang="ko-KR" altLang="en-US" sz="2400" b="1" dirty="0">
                <a:latin typeface="Consolas" panose="020B0609020204030204" pitchFamily="49" charset="0"/>
              </a:rPr>
              <a:t> 메인 함수의 몸체라는 것만 기억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()</a:t>
            </a:r>
            <a:r>
              <a:rPr lang="ko-KR" altLang="en-US" sz="2400" b="1" dirty="0">
                <a:latin typeface="Consolas" panose="020B0609020204030204" pitchFamily="49" charset="0"/>
              </a:rPr>
              <a:t>안에는 매개변수가 들어간다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endParaRPr lang="ko-KR" altLang="en-US" dirty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313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48514" y="901999"/>
            <a:ext cx="10515600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3600" b="1" dirty="0" err="1">
                <a:latin typeface="Consolas" panose="020B0609020204030204" pitchFamily="49" charset="0"/>
              </a:rPr>
              <a:t>printf</a:t>
            </a:r>
            <a:r>
              <a:rPr lang="en-US" altLang="ko-KR" sz="3600" b="1" dirty="0">
                <a:latin typeface="Consolas" panose="020B0609020204030204" pitchFamily="49" charset="0"/>
              </a:rPr>
              <a:t>(“hello world</a:t>
            </a:r>
            <a:r>
              <a:rPr lang="en-US" altLang="ko-KR" sz="3600" b="1" dirty="0" smtClean="0">
                <a:latin typeface="Consolas" panose="020B0609020204030204" pitchFamily="49" charset="0"/>
              </a:rPr>
              <a:t>!\</a:t>
            </a:r>
            <a:r>
              <a:rPr lang="en-US" altLang="ko-KR" sz="3600" b="1" dirty="0">
                <a:latin typeface="Consolas" panose="020B0609020204030204" pitchFamily="49" charset="0"/>
              </a:rPr>
              <a:t>n”)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90067" y="196373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&gt; </a:t>
            </a:r>
            <a:r>
              <a:rPr lang="ko-KR" altLang="en-US" sz="2400" b="1" dirty="0"/>
              <a:t>파일 안에 정의된 </a:t>
            </a:r>
            <a:r>
              <a:rPr lang="ko-KR" altLang="en-US" sz="2400" b="1" dirty="0">
                <a:solidFill>
                  <a:srgbClr val="FF0000"/>
                </a:solidFill>
              </a:rPr>
              <a:t>출력 함수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/>
              <a:t> </a:t>
            </a:r>
            <a:r>
              <a:rPr lang="ko-KR" altLang="en-US" sz="2400" b="1" dirty="0"/>
              <a:t>화면에 텍스트나 데이터 값을 출력함</a:t>
            </a:r>
            <a:endParaRPr lang="en-US" altLang="ko-KR" sz="2400" b="1" dirty="0"/>
          </a:p>
          <a:p>
            <a:r>
              <a:rPr lang="en-US" altLang="ko-KR" sz="2400" b="1" dirty="0"/>
              <a:t> “ ”</a:t>
            </a:r>
            <a:r>
              <a:rPr lang="ko-KR" altLang="en-US" sz="2400" b="1" dirty="0"/>
              <a:t>안에 문자든 숫자든 모두 출력할 수 있도록 지원</a:t>
            </a:r>
            <a:r>
              <a:rPr lang="en-US" altLang="ko-KR" sz="2400" b="1" dirty="0"/>
              <a:t>.</a:t>
            </a:r>
          </a:p>
          <a:p>
            <a:endParaRPr lang="en-US" altLang="ko-KR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6464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48514" y="9019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\n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줄 바꿈 </a:t>
            </a:r>
            <a:r>
              <a:rPr lang="ko-KR" altLang="en-US" sz="2400" b="1" dirty="0" err="1" smtClean="0"/>
              <a:t>제어문자</a:t>
            </a:r>
            <a:r>
              <a:rPr lang="en-US" altLang="ko-KR" sz="2400" b="1" dirty="0" smtClean="0"/>
              <a:t>	</a:t>
            </a:r>
            <a:endParaRPr lang="en-US" altLang="ko-KR" sz="2400" b="1" dirty="0"/>
          </a:p>
          <a:p>
            <a:r>
              <a:rPr lang="ko-KR" altLang="en-US" sz="2400" b="1" dirty="0"/>
              <a:t> 커서를 다음줄로 옮긴다</a:t>
            </a:r>
            <a:r>
              <a:rPr lang="en-US" altLang="ko-KR" sz="2400" b="1" dirty="0"/>
              <a:t>. </a:t>
            </a:r>
          </a:p>
          <a:p>
            <a:r>
              <a:rPr lang="en-US" altLang="ko-KR" sz="2400" b="1" dirty="0"/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\n</a:t>
            </a:r>
            <a:r>
              <a:rPr lang="en-US" altLang="ko-KR" sz="2400" b="1" dirty="0"/>
              <a:t>  </a:t>
            </a:r>
            <a:r>
              <a:rPr lang="ko-KR" altLang="en-US" sz="2400" b="1" dirty="0"/>
              <a:t>이걸 자체를 출력하고 싶다</a:t>
            </a:r>
            <a:r>
              <a:rPr lang="en-US" altLang="ko-KR" sz="2400" b="1" dirty="0"/>
              <a:t>?? </a:t>
            </a:r>
            <a:r>
              <a:rPr lang="en-US" altLang="ko-KR" sz="2400" b="1" dirty="0">
                <a:latin typeface="Consolas" panose="020B0609020204030204" pitchFamily="49" charset="0"/>
              </a:rPr>
              <a:t>\\n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입력</a:t>
            </a:r>
            <a:r>
              <a:rPr lang="en-US" altLang="ko-KR" sz="2400" b="1" dirty="0" smtClean="0"/>
              <a:t>. Ex)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printf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en-US" altLang="ko-KR" sz="24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“\\n”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);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/>
              <a:t> </a:t>
            </a:r>
            <a:r>
              <a:rPr lang="ko-KR" altLang="en-US" sz="2400" b="1" dirty="0"/>
              <a:t>다른 제어문자들도 존재</a:t>
            </a:r>
            <a:r>
              <a:rPr lang="en-US" altLang="ko-KR" sz="2400" b="1" dirty="0"/>
              <a:t> ex) </a:t>
            </a:r>
            <a:r>
              <a:rPr lang="en-US" altLang="ko-KR" sz="2400" b="1" dirty="0">
                <a:latin typeface="Consolas" panose="020B0609020204030204" pitchFamily="49" charset="0"/>
              </a:rPr>
              <a:t>\a, \t </a:t>
            </a:r>
            <a:r>
              <a:rPr lang="ko-KR" altLang="en-US" sz="2400" b="1" dirty="0"/>
              <a:t>등등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101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5249" y="9019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; (</a:t>
            </a:r>
            <a:r>
              <a:rPr lang="ko-KR" altLang="en-US" sz="3600" b="1" dirty="0">
                <a:latin typeface="Consolas" panose="020B0609020204030204" pitchFamily="49" charset="0"/>
              </a:rPr>
              <a:t>세미콜론</a:t>
            </a:r>
            <a:r>
              <a:rPr lang="en-US" altLang="ko-KR" sz="3600" b="1" dirty="0">
                <a:latin typeface="Consolas" panose="020B0609020204030204" pitchFamily="49" charset="0"/>
              </a:rPr>
              <a:t>)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ko-KR" altLang="en-US" sz="2400" b="1" dirty="0"/>
              <a:t>문장의 끝에는 반드시 </a:t>
            </a:r>
            <a:r>
              <a:rPr lang="en-US" altLang="ko-KR" sz="2400" b="1" dirty="0"/>
              <a:t>‘ </a:t>
            </a:r>
            <a:r>
              <a:rPr lang="en-US" altLang="ko-KR" sz="2400" b="1" dirty="0">
                <a:latin typeface="Consolas" panose="020B0609020204030204" pitchFamily="49" charset="0"/>
              </a:rPr>
              <a:t>;</a:t>
            </a:r>
            <a:r>
              <a:rPr lang="en-US" altLang="ko-KR" sz="2400" b="1" dirty="0"/>
              <a:t> ’ </a:t>
            </a:r>
            <a:r>
              <a:rPr lang="ko-KR" altLang="en-US" sz="2400" b="1" dirty="0"/>
              <a:t>을 붙인다</a:t>
            </a:r>
            <a:r>
              <a:rPr lang="en-US" altLang="ko-KR" sz="2400" b="1" dirty="0"/>
              <a:t>.</a:t>
            </a:r>
          </a:p>
          <a:p>
            <a:r>
              <a:rPr lang="ko-KR" altLang="en-US" sz="2400" b="1" dirty="0"/>
              <a:t> 컴파일은 </a:t>
            </a:r>
            <a:r>
              <a:rPr lang="en-US" altLang="ko-KR" sz="2400" b="1" dirty="0"/>
              <a:t>; </a:t>
            </a:r>
            <a:r>
              <a:rPr lang="ko-KR" altLang="en-US" sz="2400" b="1" dirty="0"/>
              <a:t>단위로 컴파일을 진행한다</a:t>
            </a:r>
            <a:r>
              <a:rPr lang="en-US" altLang="ko-KR" sz="2400" b="1" dirty="0"/>
              <a:t>. </a:t>
            </a:r>
            <a:endParaRPr lang="ko-KR" altLang="en-US" sz="24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147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5249" y="942464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sz="3600" b="1" dirty="0">
                <a:latin typeface="Consolas" panose="020B0609020204030204" pitchFamily="49" charset="0"/>
              </a:rPr>
              <a:t>return 0;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1836992"/>
            <a:ext cx="10515600" cy="4351338"/>
          </a:xfrm>
        </p:spPr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b="1" dirty="0"/>
              <a:t>해석 </a:t>
            </a:r>
            <a:r>
              <a:rPr lang="en-US" altLang="ko-KR" sz="2400" b="1" dirty="0"/>
              <a:t>: 0</a:t>
            </a:r>
            <a:r>
              <a:rPr lang="ko-KR" altLang="en-US" sz="2400" b="1" dirty="0"/>
              <a:t>을 돌려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반환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줄게</a:t>
            </a:r>
            <a:r>
              <a:rPr lang="en-US" altLang="ko-KR" sz="2400" b="1" dirty="0"/>
              <a:t>.  </a:t>
            </a:r>
            <a:r>
              <a:rPr lang="ko-KR" altLang="en-US" sz="2400" b="1" dirty="0"/>
              <a:t>더 이상 뒤에 있는 소스파일은 컴파일 하지 말아줘</a:t>
            </a:r>
            <a:r>
              <a:rPr lang="en-US" altLang="ko-KR" sz="2400" b="1" dirty="0"/>
              <a:t>. -&gt;</a:t>
            </a:r>
            <a:r>
              <a:rPr lang="ko-KR" altLang="en-US" sz="2400" b="1" dirty="0"/>
              <a:t>종료</a:t>
            </a:r>
            <a:endParaRPr lang="en-US" altLang="ko-KR" sz="2400" b="1" dirty="0"/>
          </a:p>
          <a:p>
            <a:r>
              <a:rPr lang="en-US" altLang="ko-KR" sz="2400" b="1" dirty="0"/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en-US" altLang="ko-KR" sz="2400" b="1" dirty="0">
                <a:latin typeface="Consolas" panose="020B0609020204030204" pitchFamily="49" charset="0"/>
              </a:rPr>
              <a:t> main() </a:t>
            </a:r>
            <a:r>
              <a:rPr lang="ko-KR" altLang="en-US" sz="2400" b="1" dirty="0"/>
              <a:t>은 </a:t>
            </a:r>
            <a:r>
              <a:rPr lang="ko-KR" altLang="en-US" sz="2400" b="1" dirty="0" err="1"/>
              <a:t>메인함수로서</a:t>
            </a:r>
            <a:r>
              <a:rPr lang="ko-KR" altLang="en-US" sz="2400" b="1" dirty="0"/>
              <a:t> 함수는 값을 받고 어떤 값을 또 반환한다</a:t>
            </a:r>
            <a:r>
              <a:rPr lang="en-US" altLang="ko-KR" sz="2400" b="1" dirty="0"/>
              <a:t>. </a:t>
            </a:r>
          </a:p>
          <a:p>
            <a:r>
              <a:rPr lang="ko-KR" altLang="en-US" sz="2400" b="1" dirty="0"/>
              <a:t> 생략해도 상관없음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3579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주석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57975" y="1764940"/>
            <a:ext cx="10515600" cy="4351338"/>
          </a:xfrm>
        </p:spPr>
        <p:txBody>
          <a:bodyPr/>
          <a:lstStyle/>
          <a:p>
            <a:endParaRPr lang="en-US" altLang="ko-KR" b="1" dirty="0"/>
          </a:p>
          <a:p>
            <a:endParaRPr lang="en-US" altLang="ko-KR" dirty="0"/>
          </a:p>
          <a:p>
            <a:r>
              <a:rPr lang="ko-KR" altLang="en-US" sz="2400" b="1" dirty="0"/>
              <a:t>프로그램이 하는 일을 설명하는 글 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부가 설명</a:t>
            </a:r>
            <a:r>
              <a:rPr lang="en-US" altLang="ko-KR" sz="2400" b="1" dirty="0"/>
              <a:t>)</a:t>
            </a:r>
          </a:p>
          <a:p>
            <a:r>
              <a:rPr lang="ko-KR" altLang="en-US" sz="2400" b="1" dirty="0"/>
              <a:t>반드시 있어야 하는 부분은 아님</a:t>
            </a:r>
            <a:endParaRPr lang="en-US" altLang="ko-KR" sz="2400" b="1" dirty="0"/>
          </a:p>
          <a:p>
            <a:r>
              <a:rPr lang="en-US" altLang="ko-KR" sz="2400" b="1" dirty="0">
                <a:latin typeface="Consolas" panose="020B0609020204030204" pitchFamily="49" charset="0"/>
              </a:rPr>
              <a:t>/* </a:t>
            </a:r>
            <a:r>
              <a:rPr lang="ko-KR" altLang="en-US" sz="2400" b="1" dirty="0">
                <a:latin typeface="Consolas" panose="020B0609020204030204" pitchFamily="49" charset="0"/>
              </a:rPr>
              <a:t>주석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   </a:t>
            </a:r>
            <a:r>
              <a:rPr lang="ko-KR" altLang="en-US" sz="2400" b="1" dirty="0">
                <a:latin typeface="Consolas" panose="020B0609020204030204" pitchFamily="49" charset="0"/>
              </a:rPr>
              <a:t>내용 </a:t>
            </a:r>
            <a:r>
              <a:rPr lang="en-US" altLang="ko-KR" sz="2400" b="1" dirty="0">
                <a:latin typeface="Consolas" panose="020B0609020204030204" pitchFamily="49" charset="0"/>
              </a:rPr>
              <a:t>*/</a:t>
            </a:r>
            <a:r>
              <a:rPr lang="en-US" altLang="ko-KR" sz="2400" b="1" dirty="0"/>
              <a:t>    =&gt; </a:t>
            </a:r>
            <a:r>
              <a:rPr lang="ko-KR" altLang="en-US" sz="2400" b="1" dirty="0"/>
              <a:t>여러 줄에 거친 주석을 작성할 때</a:t>
            </a:r>
            <a:endParaRPr lang="en-US" altLang="ko-KR" sz="2400" b="1" dirty="0"/>
          </a:p>
          <a:p>
            <a:r>
              <a:rPr lang="en-US" altLang="ko-KR" sz="2400" b="1" dirty="0"/>
              <a:t>// </a:t>
            </a:r>
            <a:r>
              <a:rPr lang="ko-KR" altLang="en-US" sz="2400" b="1" dirty="0"/>
              <a:t>주석내용        </a:t>
            </a:r>
            <a:r>
              <a:rPr lang="en-US" altLang="ko-KR" sz="2400" b="1" dirty="0"/>
              <a:t>=&gt; </a:t>
            </a:r>
            <a:r>
              <a:rPr lang="ko-KR" altLang="en-US" sz="2400" b="1" dirty="0"/>
              <a:t>그 줄에서만 주석을 쓸 때</a:t>
            </a:r>
            <a:endParaRPr lang="en-US" altLang="ko-KR" sz="2400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927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덧셈 프로그램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A39387-04E9-412B-8461-A824731E2C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8" t="8289" r="49062" b="48547"/>
          <a:stretch/>
        </p:blipFill>
        <p:spPr>
          <a:xfrm>
            <a:off x="1845671" y="1583147"/>
            <a:ext cx="8424458" cy="46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68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덧셈 프로그램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6716AB-EE99-4BFA-9A4A-D69A34239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99" y="1708032"/>
            <a:ext cx="7596155" cy="397265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B1664B-1686-491E-97BD-60336692D5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" t="81808" r="43568" b="6327"/>
          <a:stretch/>
        </p:blipFill>
        <p:spPr>
          <a:xfrm>
            <a:off x="5824698" y="3694360"/>
            <a:ext cx="6235764" cy="8136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2DF3AB-A034-401F-BE3F-4A79FE919730}"/>
              </a:ext>
            </a:extLst>
          </p:cNvPr>
          <p:cNvSpPr txBox="1"/>
          <p:nvPr/>
        </p:nvSpPr>
        <p:spPr>
          <a:xfrm>
            <a:off x="8384101" y="4843220"/>
            <a:ext cx="42542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SDL </a:t>
            </a:r>
            <a:r>
              <a:rPr lang="ko-KR" altLang="en-US" sz="2000" b="1" dirty="0">
                <a:solidFill>
                  <a:srgbClr val="FF0000"/>
                </a:solidFill>
              </a:rPr>
              <a:t>검사 체크 해제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endParaRPr lang="en-US" altLang="ko-KR" sz="2000" b="1" dirty="0"/>
          </a:p>
          <a:p>
            <a:r>
              <a:rPr lang="ko-KR" altLang="en-US" sz="2000" b="1" dirty="0"/>
              <a:t>소스파일 </a:t>
            </a:r>
            <a:r>
              <a:rPr lang="ko-KR" altLang="en-US" sz="2000" b="1" dirty="0" err="1"/>
              <a:t>우클릭</a:t>
            </a:r>
            <a:r>
              <a:rPr lang="en-US" altLang="ko-KR" sz="2000" b="1" dirty="0"/>
              <a:t> -&gt; </a:t>
            </a:r>
            <a:r>
              <a:rPr lang="ko-KR" altLang="en-US" sz="2000" b="1" dirty="0"/>
              <a:t>속성 </a:t>
            </a:r>
            <a:r>
              <a:rPr lang="en-US" altLang="ko-KR" sz="2000" b="1" dirty="0"/>
              <a:t>-&gt; </a:t>
            </a:r>
          </a:p>
          <a:p>
            <a:r>
              <a:rPr lang="en-US" altLang="ko-KR" sz="2000" b="1" dirty="0"/>
              <a:t>C/C++</a:t>
            </a:r>
            <a:r>
              <a:rPr lang="ko-KR" altLang="en-US" sz="2000" b="1" dirty="0"/>
              <a:t>의 </a:t>
            </a:r>
            <a:r>
              <a:rPr lang="ko-KR" altLang="en-US" sz="2000" b="1" dirty="0" err="1"/>
              <a:t>일반탭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</a:t>
            </a:r>
          </a:p>
          <a:p>
            <a:r>
              <a:rPr lang="en-US" altLang="ko-KR" sz="2000" b="1" dirty="0"/>
              <a:t>SDL</a:t>
            </a:r>
            <a:r>
              <a:rPr lang="ko-KR" altLang="en-US" sz="2000" b="1" dirty="0"/>
              <a:t>검사 </a:t>
            </a:r>
            <a:r>
              <a:rPr lang="en-US" altLang="ko-KR" sz="2000" b="1" dirty="0"/>
              <a:t>-&gt; </a:t>
            </a:r>
            <a:r>
              <a:rPr lang="ko-KR" altLang="en-US" sz="2000" b="1" dirty="0"/>
              <a:t>아니요</a:t>
            </a:r>
          </a:p>
        </p:txBody>
      </p:sp>
    </p:spTree>
    <p:extLst>
      <p:ext uri="{BB962C8B-B14F-4D97-AF65-F5344CB8AC3E}">
        <p14:creationId xmlns:p14="http://schemas.microsoft.com/office/powerpoint/2010/main" val="916991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변수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EAB010-C711-4092-9066-AA787D61AE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33" t="21376" r="67720" b="59375"/>
          <a:stretch/>
        </p:blipFill>
        <p:spPr>
          <a:xfrm>
            <a:off x="1576534" y="1475724"/>
            <a:ext cx="2944942" cy="16583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454904" y="3238266"/>
            <a:ext cx="94636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변수를 선언하는 문장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프로그램이 사용하는 데이터를 저장할 목적으로 사용되는 </a:t>
            </a:r>
            <a:r>
              <a:rPr lang="ko-KR" altLang="en-US" b="1" dirty="0">
                <a:solidFill>
                  <a:srgbClr val="FF0000"/>
                </a:solidFill>
              </a:rPr>
              <a:t>메모리 공간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/>
              <a:t>int</a:t>
            </a:r>
            <a:r>
              <a:rPr lang="ko-KR" altLang="en-US" b="1" dirty="0"/>
              <a:t> 는 변수의 </a:t>
            </a:r>
            <a:r>
              <a:rPr lang="ko-KR" altLang="en-US" b="1" dirty="0">
                <a:solidFill>
                  <a:srgbClr val="FF0000"/>
                </a:solidFill>
              </a:rPr>
              <a:t>자료형</a:t>
            </a:r>
            <a:r>
              <a:rPr lang="en-US" altLang="ko-KR" b="1" dirty="0">
                <a:solidFill>
                  <a:srgbClr val="FF0000"/>
                </a:solidFill>
              </a:rPr>
              <a:t>(type)</a:t>
            </a:r>
            <a:r>
              <a:rPr lang="ko-KR" altLang="en-US" b="1" dirty="0"/>
              <a:t>을 지정함</a:t>
            </a:r>
            <a:r>
              <a:rPr lang="en-US" altLang="ko-KR" b="1" dirty="0"/>
              <a:t>. </a:t>
            </a:r>
            <a:r>
              <a:rPr lang="ko-KR" altLang="en-US" b="1" dirty="0"/>
              <a:t>자료형에 따라 담을 수 있는 데이터의 종류나 </a:t>
            </a:r>
            <a:r>
              <a:rPr lang="en-US" altLang="ko-KR" b="1" dirty="0"/>
              <a:t>   </a:t>
            </a:r>
            <a:r>
              <a:rPr lang="ko-KR" altLang="en-US" b="1" dirty="0"/>
              <a:t>크기가 달라짐</a:t>
            </a:r>
            <a:r>
              <a:rPr lang="en-US" altLang="ko-KR" b="1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int</a:t>
            </a:r>
            <a:r>
              <a:rPr lang="en-US" altLang="ko-KR" b="1" dirty="0">
                <a:solidFill>
                  <a:srgbClr val="FF0000"/>
                </a:solidFill>
              </a:rPr>
              <a:t>, short, long</a:t>
            </a:r>
            <a:r>
              <a:rPr lang="en-US" altLang="ko-KR" b="1" dirty="0"/>
              <a:t> </a:t>
            </a:r>
            <a:r>
              <a:rPr lang="ko-KR" altLang="en-US" b="1" dirty="0"/>
              <a:t>과 같은 자료형은 </a:t>
            </a:r>
            <a:r>
              <a:rPr lang="ko-KR" altLang="en-US" b="1" dirty="0">
                <a:solidFill>
                  <a:srgbClr val="FF0000"/>
                </a:solidFill>
              </a:rPr>
              <a:t>정수</a:t>
            </a:r>
            <a:r>
              <a:rPr lang="ko-KR" altLang="en-US" b="1" dirty="0"/>
              <a:t>만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float, long, double</a:t>
            </a:r>
            <a:r>
              <a:rPr lang="en-US" altLang="ko-KR" b="1" dirty="0"/>
              <a:t> </a:t>
            </a:r>
            <a:r>
              <a:rPr lang="ko-KR" altLang="en-US" b="1" dirty="0"/>
              <a:t>과 같은 자료형은 </a:t>
            </a:r>
            <a:r>
              <a:rPr lang="ko-KR" altLang="en-US" b="1" dirty="0">
                <a:solidFill>
                  <a:srgbClr val="FF0000"/>
                </a:solidFill>
              </a:rPr>
              <a:t>실수</a:t>
            </a:r>
            <a:r>
              <a:rPr lang="ko-KR" altLang="en-US" b="1" dirty="0"/>
              <a:t>를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char</a:t>
            </a:r>
            <a:r>
              <a:rPr lang="ko-KR" altLang="en-US" b="1" dirty="0"/>
              <a:t> 자료형은 </a:t>
            </a:r>
            <a:r>
              <a:rPr lang="ko-KR" altLang="en-US" b="1" dirty="0">
                <a:solidFill>
                  <a:srgbClr val="FF0000"/>
                </a:solidFill>
              </a:rPr>
              <a:t>문자</a:t>
            </a:r>
            <a:r>
              <a:rPr lang="ko-KR" altLang="en-US" b="1" dirty="0"/>
              <a:t>를 담는다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x, y, sum </a:t>
            </a:r>
            <a:r>
              <a:rPr lang="ko-KR" altLang="en-US" b="1" dirty="0"/>
              <a:t>은 변수의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5"/>
                </a:solidFill>
              </a:rPr>
              <a:t>즉</a:t>
            </a:r>
            <a:r>
              <a:rPr lang="en-US" altLang="ko-KR" b="1" dirty="0">
                <a:solidFill>
                  <a:schemeClr val="accent5"/>
                </a:solidFill>
              </a:rPr>
              <a:t>, </a:t>
            </a:r>
            <a:r>
              <a:rPr lang="en-US" altLang="ko-KR" b="1" dirty="0" err="1">
                <a:solidFill>
                  <a:schemeClr val="accent5"/>
                </a:solidFill>
              </a:rPr>
              <a:t>int</a:t>
            </a:r>
            <a:r>
              <a:rPr lang="ko-KR" altLang="en-US" b="1" dirty="0">
                <a:solidFill>
                  <a:schemeClr val="accent5"/>
                </a:solidFill>
              </a:rPr>
              <a:t>형</a:t>
            </a:r>
            <a:r>
              <a:rPr lang="en-US" altLang="ko-KR" b="1" dirty="0">
                <a:solidFill>
                  <a:schemeClr val="accent5"/>
                </a:solidFill>
              </a:rPr>
              <a:t>(</a:t>
            </a:r>
            <a:r>
              <a:rPr lang="ko-KR" altLang="en-US" b="1" dirty="0">
                <a:solidFill>
                  <a:schemeClr val="accent5"/>
                </a:solidFill>
              </a:rPr>
              <a:t>정수를 담는</a:t>
            </a:r>
            <a:r>
              <a:rPr lang="en-US" altLang="ko-KR" b="1" dirty="0">
                <a:solidFill>
                  <a:schemeClr val="accent5"/>
                </a:solidFill>
              </a:rPr>
              <a:t>) </a:t>
            </a:r>
            <a:r>
              <a:rPr lang="ko-KR" altLang="en-US" b="1" dirty="0">
                <a:solidFill>
                  <a:schemeClr val="accent5"/>
                </a:solidFill>
              </a:rPr>
              <a:t>변수 </a:t>
            </a:r>
            <a:r>
              <a:rPr lang="en-US" altLang="ko-KR" b="1" dirty="0">
                <a:solidFill>
                  <a:schemeClr val="accent5"/>
                </a:solidFill>
              </a:rPr>
              <a:t>x, y, sum</a:t>
            </a:r>
            <a:r>
              <a:rPr lang="ko-KR" altLang="en-US" b="1" dirty="0">
                <a:solidFill>
                  <a:schemeClr val="accent5"/>
                </a:solidFill>
              </a:rPr>
              <a:t>을 선언하여 사용하겠다</a:t>
            </a:r>
            <a:r>
              <a:rPr lang="en-US" altLang="ko-KR" b="1" dirty="0">
                <a:solidFill>
                  <a:schemeClr val="accent5"/>
                </a:solidFill>
              </a:rPr>
              <a:t>. </a:t>
            </a:r>
            <a:r>
              <a:rPr lang="ko-KR" altLang="en-US" b="1" dirty="0">
                <a:solidFill>
                  <a:schemeClr val="accent5"/>
                </a:solidFill>
              </a:rPr>
              <a:t>라는 의미임</a:t>
            </a:r>
            <a:endParaRPr lang="en-US" altLang="ko-KR" b="1" dirty="0">
              <a:solidFill>
                <a:schemeClr val="accent5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897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수식과 연산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315419" y="2954705"/>
            <a:ext cx="9463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x</a:t>
            </a:r>
            <a:r>
              <a:rPr lang="ko-KR" altLang="en-US" b="1" dirty="0"/>
              <a:t>와 </a:t>
            </a:r>
            <a:r>
              <a:rPr lang="en-US" altLang="ko-KR" b="1" dirty="0"/>
              <a:t>y</a:t>
            </a:r>
            <a:r>
              <a:rPr lang="ko-KR" altLang="en-US" b="1" dirty="0"/>
              <a:t>를 더하여 </a:t>
            </a:r>
            <a:r>
              <a:rPr lang="en-US" altLang="ko-KR" b="1" dirty="0"/>
              <a:t>sum</a:t>
            </a:r>
            <a:r>
              <a:rPr lang="ko-KR" altLang="en-US" b="1" dirty="0"/>
              <a:t>에 저장하겠다 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‘=‘ </a:t>
            </a:r>
            <a:r>
              <a:rPr lang="ko-KR" altLang="en-US" b="1" dirty="0"/>
              <a:t>은 대입연산자로 </a:t>
            </a:r>
            <a:r>
              <a:rPr lang="en-US" altLang="ko-KR" b="1" dirty="0"/>
              <a:t>‘x = 100’ </a:t>
            </a:r>
            <a:r>
              <a:rPr lang="ko-KR" altLang="en-US" b="1" dirty="0"/>
              <a:t>과 같은 식은 변수 </a:t>
            </a:r>
            <a:r>
              <a:rPr lang="en-US" altLang="ko-KR" b="1" dirty="0"/>
              <a:t>x</a:t>
            </a:r>
            <a:r>
              <a:rPr lang="ko-KR" altLang="en-US" b="1" dirty="0"/>
              <a:t>에 </a:t>
            </a:r>
            <a:r>
              <a:rPr lang="en-US" altLang="ko-KR" b="1" dirty="0"/>
              <a:t>100</a:t>
            </a:r>
            <a:r>
              <a:rPr lang="ko-KR" altLang="en-US" b="1" dirty="0"/>
              <a:t>을 저장함과 같은 의미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100 = x </a:t>
            </a:r>
            <a:r>
              <a:rPr lang="ko-KR" altLang="en-US" b="1" dirty="0"/>
              <a:t>처럼은 쓰이지 않음</a:t>
            </a:r>
            <a:r>
              <a:rPr lang="en-US" altLang="ko-KR" b="1" dirty="0"/>
              <a:t>!! </a:t>
            </a:r>
            <a:r>
              <a:rPr lang="ko-KR" altLang="en-US" b="1" dirty="0">
                <a:solidFill>
                  <a:srgbClr val="FF0000"/>
                </a:solidFill>
              </a:rPr>
              <a:t>변수가 왼쪽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값이 우변에 </a:t>
            </a:r>
            <a:r>
              <a:rPr lang="ko-KR" altLang="en-US" b="1" dirty="0" smtClean="0">
                <a:solidFill>
                  <a:srgbClr val="FF0000"/>
                </a:solidFill>
              </a:rPr>
              <a:t>위치함 </a:t>
            </a:r>
            <a:r>
              <a:rPr lang="en-US" altLang="ko-KR" b="1" dirty="0" smtClean="0">
                <a:solidFill>
                  <a:srgbClr val="FF0000"/>
                </a:solidFill>
              </a:rPr>
              <a:t>(l-value,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r-value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D84FFC-475A-4B1F-9063-317C4EB302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8" t="37850" r="79879" b="59356"/>
          <a:stretch/>
        </p:blipFill>
        <p:spPr>
          <a:xfrm>
            <a:off x="1486278" y="1802257"/>
            <a:ext cx="7022669" cy="731089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C0E3A97-435C-4E26-8DAA-364EAF564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042709"/>
              </p:ext>
            </p:extLst>
          </p:nvPr>
        </p:nvGraphicFramePr>
        <p:xfrm>
          <a:off x="1486278" y="4369160"/>
          <a:ext cx="774743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477">
                  <a:extLst>
                    <a:ext uri="{9D8B030D-6E8A-4147-A177-3AD203B41FA5}">
                      <a16:colId xmlns:a16="http://schemas.microsoft.com/office/drawing/2014/main" val="2311600643"/>
                    </a:ext>
                  </a:extLst>
                </a:gridCol>
                <a:gridCol w="2582477">
                  <a:extLst>
                    <a:ext uri="{9D8B030D-6E8A-4147-A177-3AD203B41FA5}">
                      <a16:colId xmlns:a16="http://schemas.microsoft.com/office/drawing/2014/main" val="2522398"/>
                    </a:ext>
                  </a:extLst>
                </a:gridCol>
                <a:gridCol w="2582477">
                  <a:extLst>
                    <a:ext uri="{9D8B030D-6E8A-4147-A177-3AD203B41FA5}">
                      <a16:colId xmlns:a16="http://schemas.microsoft.com/office/drawing/2014/main" val="1403177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220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덧셈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+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67877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뺄셈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–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8047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곱셈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*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21036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나눗셈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/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/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86424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%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7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15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237133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latin typeface="Consolas" panose="020B0609020204030204" pitchFamily="49" charset="0"/>
              </a:rPr>
              <a:t>printf</a:t>
            </a:r>
            <a:r>
              <a:rPr lang="en-US" altLang="ko-KR" b="1" dirty="0">
                <a:latin typeface="Consolas" panose="020B0609020204030204" pitchFamily="49" charset="0"/>
              </a:rPr>
              <a:t>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181434" y="3095811"/>
            <a:ext cx="94636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“ “ </a:t>
            </a:r>
            <a:r>
              <a:rPr lang="ko-KR" altLang="en-US" b="1" dirty="0"/>
              <a:t>안에 들어있는 문자열 출력 </a:t>
            </a:r>
            <a:r>
              <a:rPr lang="en-US" altLang="ko-KR" b="1" dirty="0"/>
              <a:t>(Hello World </a:t>
            </a:r>
            <a:r>
              <a:rPr lang="ko-KR" altLang="en-US" b="1" dirty="0"/>
              <a:t>예제에서 다뤘음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변수도 출력 가능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위의 문장에선 </a:t>
            </a:r>
            <a:r>
              <a:rPr lang="en-US" altLang="ko-KR" b="1" dirty="0"/>
              <a:t>%d</a:t>
            </a:r>
            <a:r>
              <a:rPr lang="ko-KR" altLang="en-US" b="1" dirty="0"/>
              <a:t> 위치에 </a:t>
            </a:r>
            <a:r>
              <a:rPr lang="en-US" altLang="ko-KR" b="1" dirty="0"/>
              <a:t>sum </a:t>
            </a:r>
            <a:r>
              <a:rPr lang="ko-KR" altLang="en-US" b="1" dirty="0"/>
              <a:t>값을 출력함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형식제어문자열</a:t>
            </a:r>
            <a:r>
              <a:rPr lang="en-US" altLang="ko-KR" b="1" dirty="0" smtClean="0"/>
              <a:t>(format string)</a:t>
            </a:r>
            <a:r>
              <a:rPr lang="ko-KR" altLang="en-US" b="1" dirty="0" smtClean="0"/>
              <a:t>과 </a:t>
            </a:r>
            <a:r>
              <a:rPr lang="ko-KR" altLang="en-US" b="1" dirty="0"/>
              <a:t>변수의 타입을 일치시켜야 함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B0CCC66-F279-4C41-9869-EA804CED2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84" t="26031" r="53651" b="55847"/>
          <a:stretch/>
        </p:blipFill>
        <p:spPr>
          <a:xfrm>
            <a:off x="1486278" y="1115546"/>
            <a:ext cx="6431797" cy="1811142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505C2E-14E3-44CB-85CA-0E304A30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85749"/>
              </p:ext>
            </p:extLst>
          </p:nvPr>
        </p:nvGraphicFramePr>
        <p:xfrm>
          <a:off x="1315968" y="4890718"/>
          <a:ext cx="879667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713">
                  <a:extLst>
                    <a:ext uri="{9D8B030D-6E8A-4147-A177-3AD203B41FA5}">
                      <a16:colId xmlns:a16="http://schemas.microsoft.com/office/drawing/2014/main" val="2459010008"/>
                    </a:ext>
                  </a:extLst>
                </a:gridCol>
                <a:gridCol w="2399594">
                  <a:extLst>
                    <a:ext uri="{9D8B030D-6E8A-4147-A177-3AD203B41FA5}">
                      <a16:colId xmlns:a16="http://schemas.microsoft.com/office/drawing/2014/main" val="2801553647"/>
                    </a:ext>
                  </a:extLst>
                </a:gridCol>
                <a:gridCol w="2795402">
                  <a:extLst>
                    <a:ext uri="{9D8B030D-6E8A-4147-A177-3AD203B41FA5}">
                      <a16:colId xmlns:a16="http://schemas.microsoft.com/office/drawing/2014/main" val="2443812811"/>
                    </a:ext>
                  </a:extLst>
                </a:gridCol>
                <a:gridCol w="2016967">
                  <a:extLst>
                    <a:ext uri="{9D8B030D-6E8A-4147-A177-3AD203B41FA5}">
                      <a16:colId xmlns:a16="http://schemas.microsoft.com/office/drawing/2014/main" val="4240198339"/>
                    </a:ext>
                  </a:extLst>
                </a:gridCol>
              </a:tblGrid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형식 지정자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실행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18228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진 정수로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10);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94563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실수로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3.14);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3.14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01999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‘A’);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5162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문자열로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“Hello”);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Hello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9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07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latin typeface="Consolas" panose="020B0609020204030204" pitchFamily="49" charset="0"/>
              </a:rPr>
              <a:t>scanf</a:t>
            </a:r>
            <a:r>
              <a:rPr lang="en-US" altLang="ko-KR" b="1" dirty="0">
                <a:latin typeface="Consolas" panose="020B0609020204030204" pitchFamily="49" charset="0"/>
              </a:rPr>
              <a:t>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243428" y="2478669"/>
            <a:ext cx="946365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사용자에게 데이터를 입력 받아 변수에 저장하는 함수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형식 지정자로 입력 받을 형식을 지정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형식제어문자열과 변수의 타입을 일치시켜야 함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반드시 변수 앞에 </a:t>
            </a:r>
            <a:r>
              <a:rPr lang="en-US" altLang="ko-KR" b="1" dirty="0">
                <a:solidFill>
                  <a:srgbClr val="FF0000"/>
                </a:solidFill>
              </a:rPr>
              <a:t>&amp;(</a:t>
            </a:r>
            <a:r>
              <a:rPr lang="ko-KR" altLang="en-US" b="1" dirty="0" err="1">
                <a:solidFill>
                  <a:srgbClr val="FF0000"/>
                </a:solidFill>
              </a:rPr>
              <a:t>앰퍼샌드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/>
              <a:t>를 붙인다</a:t>
            </a:r>
            <a:r>
              <a:rPr lang="en-US" altLang="ko-KR" b="1" dirty="0"/>
              <a:t>. </a:t>
            </a:r>
            <a:r>
              <a:rPr lang="ko-KR" altLang="en-US" b="1" dirty="0"/>
              <a:t>이는 </a:t>
            </a:r>
            <a:r>
              <a:rPr lang="ko-KR" altLang="en-US" b="1" dirty="0">
                <a:solidFill>
                  <a:srgbClr val="FF0000"/>
                </a:solidFill>
              </a:rPr>
              <a:t>변수의 주소</a:t>
            </a:r>
            <a:r>
              <a:rPr lang="ko-KR" altLang="en-US" b="1" dirty="0"/>
              <a:t>를 의미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B0CCC66-F279-4C41-9869-EA804CED2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85" t="26032" r="54382" b="62378"/>
          <a:stretch/>
        </p:blipFill>
        <p:spPr>
          <a:xfrm>
            <a:off x="1486279" y="1115546"/>
            <a:ext cx="6301620" cy="1158364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505C2E-14E3-44CB-85CA-0E304A30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2886"/>
              </p:ext>
            </p:extLst>
          </p:nvPr>
        </p:nvGraphicFramePr>
        <p:xfrm>
          <a:off x="1243428" y="4430551"/>
          <a:ext cx="879667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713">
                  <a:extLst>
                    <a:ext uri="{9D8B030D-6E8A-4147-A177-3AD203B41FA5}">
                      <a16:colId xmlns:a16="http://schemas.microsoft.com/office/drawing/2014/main" val="2459010008"/>
                    </a:ext>
                  </a:extLst>
                </a:gridCol>
                <a:gridCol w="3786838">
                  <a:extLst>
                    <a:ext uri="{9D8B030D-6E8A-4147-A177-3AD203B41FA5}">
                      <a16:colId xmlns:a16="http://schemas.microsoft.com/office/drawing/2014/main" val="2801553647"/>
                    </a:ext>
                  </a:extLst>
                </a:gridCol>
                <a:gridCol w="3425125">
                  <a:extLst>
                    <a:ext uri="{9D8B030D-6E8A-4147-A177-3AD203B41FA5}">
                      <a16:colId xmlns:a16="http://schemas.microsoft.com/office/drawing/2014/main" val="2443812811"/>
                    </a:ext>
                  </a:extLst>
                </a:gridCol>
              </a:tblGrid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형식 지정자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18228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정수를 </a:t>
                      </a:r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진수로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(“%d”, &amp;</a:t>
                      </a:r>
                      <a:r>
                        <a:rPr lang="en-US" altLang="ko-KR" sz="1600" dirty="0" err="1"/>
                        <a:t>i</a:t>
                      </a:r>
                      <a:r>
                        <a:rPr lang="en-US" altLang="ko-KR" sz="1600" dirty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9456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Float</a:t>
                      </a:r>
                      <a:r>
                        <a:rPr lang="ko-KR" altLang="en-US" sz="1600" dirty="0"/>
                        <a:t>형의 실수로 입력한다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(“%f”, &amp;f);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0199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</a:t>
                      </a:r>
                      <a:r>
                        <a:rPr lang="en-US" altLang="ko-KR" sz="1600" dirty="0" err="1"/>
                        <a:t>lf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Double</a:t>
                      </a:r>
                      <a:r>
                        <a:rPr lang="ko-KR" altLang="en-US" sz="1600" dirty="0"/>
                        <a:t>형의 실수로 입력한다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</a:t>
                      </a:r>
                      <a:r>
                        <a:rPr lang="en-US" altLang="ko-KR" sz="1600" dirty="0" err="1"/>
                        <a:t>lf</a:t>
                      </a:r>
                      <a:r>
                        <a:rPr lang="en-US" altLang="ko-KR" sz="1600" dirty="0"/>
                        <a:t>”, &amp;d);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059034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 형태로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(“%c”, &amp;</a:t>
                      </a:r>
                      <a:r>
                        <a:rPr lang="en-US" altLang="ko-KR" sz="1600" dirty="0" err="1"/>
                        <a:t>ch</a:t>
                      </a:r>
                      <a:r>
                        <a:rPr lang="en-US" altLang="ko-KR" sz="1600" dirty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5162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문장 형태로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(“%s”, s);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9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639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1748079" y="3125446"/>
            <a:ext cx="993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변수와 자료형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수식과 연산자</a:t>
            </a:r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785</Words>
  <Application>Microsoft Office PowerPoint</Application>
  <PresentationFormat>와이드스크린</PresentationFormat>
  <Paragraphs>205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맑은 고딕</vt:lpstr>
      <vt:lpstr>휴먼매직체</vt:lpstr>
      <vt:lpstr>Arial</vt:lpstr>
      <vt:lpstr>Consolas</vt:lpstr>
      <vt:lpstr>Wingdings</vt:lpstr>
      <vt:lpstr>Office 테마</vt:lpstr>
      <vt:lpstr>c언어 스터디 1주차 </vt:lpstr>
      <vt:lpstr>계획</vt:lpstr>
      <vt:lpstr>스터디 방식</vt:lpstr>
      <vt:lpstr>*C 언어??</vt:lpstr>
      <vt:lpstr>* C언어 특징  1. 간결함 2. 효율성 3. 이식성</vt:lpstr>
      <vt:lpstr>C언어 공부 준비물  </vt:lpstr>
      <vt:lpstr>컴파일 </vt:lpstr>
      <vt:lpstr>Visual studio 2017 </vt:lpstr>
      <vt:lpstr>Visual studio 2017 </vt:lpstr>
      <vt:lpstr> </vt:lpstr>
      <vt:lpstr>PowerPoint 프레젠테이션</vt:lpstr>
      <vt:lpstr> </vt:lpstr>
      <vt:lpstr>Hello World!</vt:lpstr>
      <vt:lpstr>Hello World!</vt:lpstr>
      <vt:lpstr>Hello World!</vt:lpstr>
      <vt:lpstr>깔끔하게 코딩하자.</vt:lpstr>
      <vt:lpstr>문장 분석!</vt:lpstr>
      <vt:lpstr> int main()</vt:lpstr>
      <vt:lpstr> printf(“hello world!\n”)</vt:lpstr>
      <vt:lpstr>\n</vt:lpstr>
      <vt:lpstr>; (세미콜론)</vt:lpstr>
      <vt:lpstr> return 0;</vt:lpstr>
      <vt:lpstr>주석</vt:lpstr>
      <vt:lpstr>덧셈 프로그램</vt:lpstr>
      <vt:lpstr>덧셈 프로그램</vt:lpstr>
      <vt:lpstr>변수</vt:lpstr>
      <vt:lpstr>수식과 연산</vt:lpstr>
      <vt:lpstr>printf()</vt:lpstr>
      <vt:lpstr>scanf()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59</cp:revision>
  <dcterms:created xsi:type="dcterms:W3CDTF">2016-06-26T11:40:01Z</dcterms:created>
  <dcterms:modified xsi:type="dcterms:W3CDTF">2019-06-23T10:13:47Z</dcterms:modified>
</cp:coreProperties>
</file>