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5" r:id="rId1"/>
  </p:sldMasterIdLst>
  <p:sldIdLst>
    <p:sldId id="260" r:id="rId2"/>
    <p:sldId id="346" r:id="rId3"/>
    <p:sldId id="430" r:id="rId4"/>
    <p:sldId id="431" r:id="rId5"/>
    <p:sldId id="405" r:id="rId6"/>
    <p:sldId id="432" r:id="rId7"/>
    <p:sldId id="433" r:id="rId8"/>
    <p:sldId id="406" r:id="rId9"/>
    <p:sldId id="407" r:id="rId10"/>
    <p:sldId id="434" r:id="rId11"/>
    <p:sldId id="408" r:id="rId12"/>
    <p:sldId id="435" r:id="rId13"/>
    <p:sldId id="436" r:id="rId14"/>
    <p:sldId id="437" r:id="rId15"/>
    <p:sldId id="421" r:id="rId16"/>
    <p:sldId id="438" r:id="rId17"/>
    <p:sldId id="439" r:id="rId18"/>
    <p:sldId id="440" r:id="rId19"/>
    <p:sldId id="441" r:id="rId20"/>
    <p:sldId id="442" r:id="rId21"/>
    <p:sldId id="443" r:id="rId22"/>
    <p:sldId id="446" r:id="rId23"/>
    <p:sldId id="444" r:id="rId24"/>
    <p:sldId id="445" r:id="rId25"/>
    <p:sldId id="447" r:id="rId26"/>
    <p:sldId id="449" r:id="rId27"/>
    <p:sldId id="293" r:id="rId2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FF"/>
    <a:srgbClr val="99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898" autoAdjust="0"/>
    <p:restoredTop sz="94660"/>
  </p:normalViewPr>
  <p:slideViewPr>
    <p:cSldViewPr snapToGrid="0">
      <p:cViewPr varScale="1">
        <p:scale>
          <a:sx n="87" d="100"/>
          <a:sy n="87" d="100"/>
        </p:scale>
        <p:origin x="576" y="1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FD9F2-3F14-4585-A92A-001A16360462}" type="datetimeFigureOut">
              <a:rPr lang="ko-KR" altLang="en-US" smtClean="0"/>
              <a:t>2019-08-04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2F639-A394-47EE-A8B9-2AD7C9275A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63404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FD9F2-3F14-4585-A92A-001A16360462}" type="datetimeFigureOut">
              <a:rPr lang="ko-KR" altLang="en-US" smtClean="0"/>
              <a:t>2019-08-04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2F639-A394-47EE-A8B9-2AD7C9275A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74250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FD9F2-3F14-4585-A92A-001A16360462}" type="datetimeFigureOut">
              <a:rPr lang="ko-KR" altLang="en-US" smtClean="0"/>
              <a:t>2019-08-04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2F639-A394-47EE-A8B9-2AD7C9275A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15290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FD9F2-3F14-4585-A92A-001A16360462}" type="datetimeFigureOut">
              <a:rPr lang="ko-KR" altLang="en-US" smtClean="0"/>
              <a:t>2019-08-04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2F639-A394-47EE-A8B9-2AD7C9275A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20602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FD9F2-3F14-4585-A92A-001A16360462}" type="datetimeFigureOut">
              <a:rPr lang="ko-KR" altLang="en-US" smtClean="0"/>
              <a:t>2019-08-04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2F639-A394-47EE-A8B9-2AD7C9275A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64178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FD9F2-3F14-4585-A92A-001A16360462}" type="datetimeFigureOut">
              <a:rPr lang="ko-KR" altLang="en-US" smtClean="0"/>
              <a:t>2019-08-04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2F639-A394-47EE-A8B9-2AD7C9275A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51560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FD9F2-3F14-4585-A92A-001A16360462}" type="datetimeFigureOut">
              <a:rPr lang="ko-KR" altLang="en-US" smtClean="0"/>
              <a:t>2019-08-04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2F639-A394-47EE-A8B9-2AD7C9275A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73857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FD9F2-3F14-4585-A92A-001A16360462}" type="datetimeFigureOut">
              <a:rPr lang="ko-KR" altLang="en-US" smtClean="0"/>
              <a:t>2019-08-04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2F639-A394-47EE-A8B9-2AD7C9275A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54976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FD9F2-3F14-4585-A92A-001A16360462}" type="datetimeFigureOut">
              <a:rPr lang="ko-KR" altLang="en-US" smtClean="0"/>
              <a:t>2019-08-04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2F639-A394-47EE-A8B9-2AD7C9275A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89613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FD9F2-3F14-4585-A92A-001A16360462}" type="datetimeFigureOut">
              <a:rPr lang="ko-KR" altLang="en-US" smtClean="0"/>
              <a:t>2019-08-04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2F639-A394-47EE-A8B9-2AD7C9275A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99709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FD9F2-3F14-4585-A92A-001A16360462}" type="datetimeFigureOut">
              <a:rPr lang="ko-KR" altLang="en-US" smtClean="0"/>
              <a:t>2019-08-04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2F639-A394-47EE-A8B9-2AD7C9275A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11482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3FD9F2-3F14-4585-A92A-001A16360462}" type="datetimeFigureOut">
              <a:rPr lang="ko-KR" altLang="en-US" smtClean="0"/>
              <a:t>2019-08-04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32F639-A394-47EE-A8B9-2AD7C9275A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0502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6" r:id="rId1"/>
    <p:sldLayoutId id="2147483747" r:id="rId2"/>
    <p:sldLayoutId id="2147483748" r:id="rId3"/>
    <p:sldLayoutId id="2147483749" r:id="rId4"/>
    <p:sldLayoutId id="2147483750" r:id="rId5"/>
    <p:sldLayoutId id="2147483751" r:id="rId6"/>
    <p:sldLayoutId id="2147483752" r:id="rId7"/>
    <p:sldLayoutId id="2147483753" r:id="rId8"/>
    <p:sldLayoutId id="2147483754" r:id="rId9"/>
    <p:sldLayoutId id="2147483755" r:id="rId10"/>
    <p:sldLayoutId id="2147483756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그룹 14"/>
          <p:cNvGrpSpPr/>
          <p:nvPr/>
        </p:nvGrpSpPr>
        <p:grpSpPr>
          <a:xfrm>
            <a:off x="0" y="-95250"/>
            <a:ext cx="12268200" cy="2411413"/>
            <a:chOff x="0" y="-95250"/>
            <a:chExt cx="12268200" cy="2411413"/>
          </a:xfrm>
        </p:grpSpPr>
        <p:sp>
          <p:nvSpPr>
            <p:cNvPr id="4" name="직사각형 3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직사각형 4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이등변 삼각형 5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직사각형 7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타원 10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타원 11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타원 12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838200" y="1407049"/>
            <a:ext cx="10515600" cy="5026025"/>
          </a:xfrm>
        </p:spPr>
        <p:txBody>
          <a:bodyPr>
            <a:normAutofit/>
          </a:bodyPr>
          <a:lstStyle/>
          <a:p>
            <a:pPr algn="ctr"/>
            <a:r>
              <a:rPr lang="en-US" altLang="ko-KR" sz="6600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C </a:t>
            </a:r>
            <a:r>
              <a:rPr lang="ko-KR" altLang="en-US" sz="6600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언어 스터디 </a:t>
            </a:r>
            <a:r>
              <a:rPr lang="en-US" altLang="ko-KR" sz="6600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7</a:t>
            </a:r>
            <a:r>
              <a:rPr lang="ko-KR" altLang="en-US" sz="6600" dirty="0" smtClean="0">
                <a:latin typeface="휴먼매직체" panose="02030504000101010101" pitchFamily="18" charset="-127"/>
                <a:ea typeface="휴먼매직체" panose="02030504000101010101" pitchFamily="18" charset="-127"/>
              </a:rPr>
              <a:t>주차 </a:t>
            </a:r>
            <a:endParaRPr lang="ko-KR" altLang="en-US" sz="6600" dirty="0">
              <a:latin typeface="휴먼매직체" panose="02030504000101010101" pitchFamily="18" charset="-127"/>
              <a:ea typeface="휴먼매직체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066758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122004" y="-155968"/>
            <a:ext cx="10515600" cy="1325563"/>
          </a:xfrm>
        </p:spPr>
        <p:txBody>
          <a:bodyPr/>
          <a:lstStyle/>
          <a:p>
            <a:r>
              <a:rPr lang="ko-KR" altLang="en-US" dirty="0" smtClean="0">
                <a:latin typeface="휴먼매직체" panose="02030504000101010101" pitchFamily="18" charset="-127"/>
                <a:ea typeface="휴먼매직체" panose="02030504000101010101" pitchFamily="18" charset="-127"/>
              </a:rPr>
              <a:t>메모리 할당</a:t>
            </a:r>
            <a:endParaRPr lang="ko-KR" altLang="en-US" dirty="0">
              <a:latin typeface="휴먼매직체" panose="02030504000101010101" pitchFamily="18" charset="-127"/>
              <a:ea typeface="휴먼매직체" panose="02030504000101010101" pitchFamily="18" charset="-127"/>
            </a:endParaRPr>
          </a:p>
        </p:txBody>
      </p:sp>
      <p:grpSp>
        <p:nvGrpSpPr>
          <p:cNvPr id="14" name="그룹 13"/>
          <p:cNvGrpSpPr/>
          <p:nvPr/>
        </p:nvGrpSpPr>
        <p:grpSpPr>
          <a:xfrm>
            <a:off x="0" y="0"/>
            <a:ext cx="12268200" cy="2411413"/>
            <a:chOff x="0" y="-95250"/>
            <a:chExt cx="12268200" cy="2411413"/>
          </a:xfrm>
          <a:solidFill>
            <a:srgbClr val="99CC00">
              <a:alpha val="30196"/>
            </a:srgbClr>
          </a:solidFill>
        </p:grpSpPr>
        <p:sp>
          <p:nvSpPr>
            <p:cNvPr id="17" name="직사각형 16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8" name="직사각형 17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이등변 삼각형 18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직사각형 19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직사각형 20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직사각형 21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타원 22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타원 23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타원 24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6" name="내용 개체 틀 15">
            <a:extLst>
              <a:ext uri="{FF2B5EF4-FFF2-40B4-BE49-F238E27FC236}">
                <a16:creationId xmlns:a16="http://schemas.microsoft.com/office/drawing/2014/main" id="{0E2CF507-ED0B-4D43-A90C-762FD993E897}"/>
              </a:ext>
            </a:extLst>
          </p:cNvPr>
          <p:cNvSpPr txBox="1">
            <a:spLocks/>
          </p:cNvSpPr>
          <p:nvPr/>
        </p:nvSpPr>
        <p:spPr>
          <a:xfrm>
            <a:off x="1199637" y="1495081"/>
            <a:ext cx="10417346" cy="47380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sz="2400" b="1" dirty="0" smtClean="0"/>
              <a:t>프로그램의 메모리 할당</a:t>
            </a:r>
            <a:endParaRPr lang="en-US" altLang="ko-KR" sz="2400" b="1" dirty="0" smtClean="0"/>
          </a:p>
          <a:p>
            <a:endParaRPr lang="en-US" altLang="ko-KR" sz="2400" b="1" dirty="0"/>
          </a:p>
          <a:p>
            <a:r>
              <a:rPr lang="ko-KR" altLang="en-US" sz="2400" b="1" dirty="0" smtClean="0"/>
              <a:t>정적</a:t>
            </a:r>
            <a:r>
              <a:rPr lang="en-US" altLang="ko-KR" sz="2400" b="1" dirty="0" smtClean="0"/>
              <a:t>(static) </a:t>
            </a:r>
            <a:r>
              <a:rPr lang="ko-KR" altLang="en-US" sz="2400" b="1" dirty="0" smtClean="0"/>
              <a:t>할당</a:t>
            </a:r>
            <a:endParaRPr lang="en-US" altLang="ko-KR" sz="2400" b="1" dirty="0" smtClean="0"/>
          </a:p>
          <a:p>
            <a:pPr marL="0" indent="0">
              <a:buNone/>
            </a:pPr>
            <a:r>
              <a:rPr lang="en-US" altLang="ko-KR" sz="2400" b="1" dirty="0" smtClean="0"/>
              <a:t>	- </a:t>
            </a:r>
            <a:r>
              <a:rPr lang="ko-KR" altLang="en-US" sz="2400" b="1" dirty="0" smtClean="0"/>
              <a:t>프로그램이 시작되기 전</a:t>
            </a:r>
            <a:r>
              <a:rPr lang="en-US" altLang="ko-KR" sz="2400" b="1" dirty="0" smtClean="0"/>
              <a:t>(</a:t>
            </a:r>
            <a:r>
              <a:rPr lang="ko-KR" altLang="en-US" sz="2400" b="1" dirty="0" smtClean="0"/>
              <a:t>컴파일 타임</a:t>
            </a:r>
            <a:r>
              <a:rPr lang="en-US" altLang="ko-KR" sz="2400" b="1" dirty="0" smtClean="0"/>
              <a:t>)</a:t>
            </a:r>
            <a:r>
              <a:rPr lang="ko-KR" altLang="en-US" sz="2400" b="1" dirty="0" smtClean="0"/>
              <a:t>에 미리 정해진 크기의 메모</a:t>
            </a:r>
            <a:r>
              <a:rPr lang="en-US" altLang="ko-KR" sz="2400" b="1" dirty="0" smtClean="0"/>
              <a:t>	</a:t>
            </a:r>
            <a:r>
              <a:rPr lang="ko-KR" altLang="en-US" sz="2400" b="1" dirty="0" smtClean="0"/>
              <a:t>리 할당</a:t>
            </a:r>
            <a:endParaRPr lang="en-US" altLang="ko-KR" sz="2400" b="1" dirty="0" smtClean="0"/>
          </a:p>
          <a:p>
            <a:pPr marL="0" indent="0">
              <a:buNone/>
            </a:pPr>
            <a:endParaRPr lang="en-US" altLang="ko-KR" sz="2400" b="1" dirty="0" smtClean="0"/>
          </a:p>
          <a:p>
            <a:pPr marL="0" indent="0">
              <a:buNone/>
            </a:pPr>
            <a:r>
              <a:rPr lang="en-US" altLang="ko-KR" sz="2400" b="1" dirty="0"/>
              <a:t>	</a:t>
            </a:r>
            <a:r>
              <a:rPr lang="en-US" altLang="ko-KR" sz="2400" b="1" dirty="0" smtClean="0"/>
              <a:t>- ex) </a:t>
            </a:r>
            <a:r>
              <a:rPr lang="en-US" altLang="ko-KR" sz="2400" b="1" dirty="0" err="1" smtClean="0"/>
              <a:t>int</a:t>
            </a:r>
            <a:r>
              <a:rPr lang="en-US" altLang="ko-KR" sz="2400" b="1" dirty="0" smtClean="0"/>
              <a:t> number;    </a:t>
            </a:r>
            <a:r>
              <a:rPr lang="en-US" altLang="ko-KR" sz="2400" b="1" dirty="0" err="1" smtClean="0"/>
              <a:t>int</a:t>
            </a:r>
            <a:r>
              <a:rPr lang="en-US" altLang="ko-KR" sz="2400" b="1" dirty="0" smtClean="0"/>
              <a:t> score[100];</a:t>
            </a:r>
          </a:p>
          <a:p>
            <a:pPr marL="0" indent="0">
              <a:buNone/>
            </a:pPr>
            <a:endParaRPr lang="en-US" altLang="ko-KR" sz="2400" b="1" dirty="0"/>
          </a:p>
          <a:p>
            <a:pPr marL="0" indent="0">
              <a:buNone/>
            </a:pPr>
            <a:r>
              <a:rPr lang="en-US" altLang="ko-KR" sz="2400" b="1" dirty="0" smtClean="0"/>
              <a:t>	- </a:t>
            </a:r>
            <a:r>
              <a:rPr lang="ko-KR" altLang="en-US" sz="2400" b="1" dirty="0" smtClean="0"/>
              <a:t>크기 변경 불가</a:t>
            </a:r>
            <a:endParaRPr lang="en-US" altLang="ko-KR" sz="2400" b="1" dirty="0"/>
          </a:p>
        </p:txBody>
      </p:sp>
    </p:spTree>
    <p:extLst>
      <p:ext uri="{BB962C8B-B14F-4D97-AF65-F5344CB8AC3E}">
        <p14:creationId xmlns:p14="http://schemas.microsoft.com/office/powerpoint/2010/main" val="6194195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122004" y="-155968"/>
            <a:ext cx="10515600" cy="1325563"/>
          </a:xfrm>
        </p:spPr>
        <p:txBody>
          <a:bodyPr/>
          <a:lstStyle/>
          <a:p>
            <a:r>
              <a:rPr lang="ko-KR" altLang="en-US" dirty="0" smtClean="0">
                <a:latin typeface="휴먼매직체" panose="02030504000101010101" pitchFamily="18" charset="-127"/>
                <a:ea typeface="휴먼매직체" panose="02030504000101010101" pitchFamily="18" charset="-127"/>
              </a:rPr>
              <a:t>메모리 할당</a:t>
            </a:r>
            <a:endParaRPr lang="ko-KR" altLang="en-US" dirty="0">
              <a:latin typeface="휴먼매직체" panose="02030504000101010101" pitchFamily="18" charset="-127"/>
              <a:ea typeface="휴먼매직체" panose="02030504000101010101" pitchFamily="18" charset="-127"/>
            </a:endParaRPr>
          </a:p>
        </p:txBody>
      </p:sp>
      <p:grpSp>
        <p:nvGrpSpPr>
          <p:cNvPr id="14" name="그룹 13"/>
          <p:cNvGrpSpPr/>
          <p:nvPr/>
        </p:nvGrpSpPr>
        <p:grpSpPr>
          <a:xfrm>
            <a:off x="0" y="0"/>
            <a:ext cx="12268200" cy="2411413"/>
            <a:chOff x="0" y="-95250"/>
            <a:chExt cx="12268200" cy="2411413"/>
          </a:xfrm>
          <a:solidFill>
            <a:srgbClr val="99CC00">
              <a:alpha val="30196"/>
            </a:srgbClr>
          </a:solidFill>
        </p:grpSpPr>
        <p:sp>
          <p:nvSpPr>
            <p:cNvPr id="17" name="직사각형 16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8" name="직사각형 17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이등변 삼각형 18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직사각형 19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직사각형 20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직사각형 21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타원 22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타원 23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타원 24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6" name="내용 개체 틀 15">
            <a:extLst>
              <a:ext uri="{FF2B5EF4-FFF2-40B4-BE49-F238E27FC236}">
                <a16:creationId xmlns:a16="http://schemas.microsoft.com/office/drawing/2014/main" id="{0E2CF507-ED0B-4D43-A90C-762FD993E897}"/>
              </a:ext>
            </a:extLst>
          </p:cNvPr>
          <p:cNvSpPr txBox="1">
            <a:spLocks/>
          </p:cNvSpPr>
          <p:nvPr/>
        </p:nvSpPr>
        <p:spPr>
          <a:xfrm>
            <a:off x="1199637" y="1495081"/>
            <a:ext cx="10417346" cy="47380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ko-KR" sz="2400" b="1" dirty="0" smtClean="0"/>
          </a:p>
          <a:p>
            <a:endParaRPr lang="en-US" altLang="ko-KR" sz="2400" b="1" dirty="0"/>
          </a:p>
          <a:p>
            <a:r>
              <a:rPr lang="ko-KR" altLang="en-US" sz="2400" b="1" dirty="0"/>
              <a:t>동</a:t>
            </a:r>
            <a:r>
              <a:rPr lang="ko-KR" altLang="en-US" sz="2400" b="1" dirty="0" smtClean="0"/>
              <a:t>적</a:t>
            </a:r>
            <a:r>
              <a:rPr lang="en-US" altLang="ko-KR" sz="2400" b="1" dirty="0" smtClean="0"/>
              <a:t>(dynamic) </a:t>
            </a:r>
            <a:r>
              <a:rPr lang="ko-KR" altLang="en-US" sz="2400" b="1" dirty="0" smtClean="0"/>
              <a:t>할당</a:t>
            </a:r>
            <a:endParaRPr lang="en-US" altLang="ko-KR" sz="2400" b="1" dirty="0" smtClean="0"/>
          </a:p>
          <a:p>
            <a:pPr marL="0" indent="0">
              <a:buNone/>
            </a:pPr>
            <a:r>
              <a:rPr lang="en-US" altLang="ko-KR" sz="2400" b="1" dirty="0" smtClean="0"/>
              <a:t>	- </a:t>
            </a:r>
            <a:r>
              <a:rPr lang="ko-KR" altLang="en-US" sz="2400" b="1" dirty="0" smtClean="0"/>
              <a:t>실행 도중</a:t>
            </a:r>
            <a:r>
              <a:rPr lang="en-US" altLang="ko-KR" sz="2400" b="1" dirty="0" smtClean="0"/>
              <a:t>(</a:t>
            </a:r>
            <a:r>
              <a:rPr lang="ko-KR" altLang="en-US" sz="2400" b="1" dirty="0" smtClean="0"/>
              <a:t>런타임</a:t>
            </a:r>
            <a:r>
              <a:rPr lang="en-US" altLang="ko-KR" sz="2400" b="1" dirty="0" smtClean="0"/>
              <a:t>)</a:t>
            </a:r>
            <a:r>
              <a:rPr lang="ko-KR" altLang="en-US" sz="2400" b="1" dirty="0" smtClean="0"/>
              <a:t>에 동적으로 메모리를 </a:t>
            </a:r>
            <a:r>
              <a:rPr lang="ko-KR" altLang="en-US" sz="2400" b="1" dirty="0" err="1" smtClean="0"/>
              <a:t>할당받는</a:t>
            </a:r>
            <a:r>
              <a:rPr lang="ko-KR" altLang="en-US" sz="2400" b="1" dirty="0" smtClean="0"/>
              <a:t> 것</a:t>
            </a:r>
            <a:endParaRPr lang="en-US" altLang="ko-KR" sz="2400" b="1" dirty="0" smtClean="0"/>
          </a:p>
          <a:p>
            <a:pPr marL="0" indent="0">
              <a:buNone/>
            </a:pPr>
            <a:r>
              <a:rPr lang="en-US" altLang="ko-KR" sz="2400" b="1" dirty="0"/>
              <a:t>	</a:t>
            </a:r>
            <a:r>
              <a:rPr lang="en-US" altLang="ko-KR" sz="2400" b="1" dirty="0" smtClean="0"/>
              <a:t>- </a:t>
            </a:r>
            <a:r>
              <a:rPr lang="ko-KR" altLang="en-US" sz="2400" b="1" dirty="0" smtClean="0"/>
              <a:t>사용이 끝나면 시스템에 메모리 반납</a:t>
            </a:r>
            <a:endParaRPr lang="en-US" altLang="ko-KR" sz="2400" b="1" dirty="0" smtClean="0"/>
          </a:p>
          <a:p>
            <a:pPr marL="0" indent="0">
              <a:buNone/>
            </a:pPr>
            <a:endParaRPr lang="en-US" altLang="ko-KR" sz="2400" b="1" dirty="0" smtClean="0"/>
          </a:p>
          <a:p>
            <a:pPr marL="0" indent="0">
              <a:buNone/>
            </a:pPr>
            <a:r>
              <a:rPr lang="en-US" altLang="ko-KR" sz="2400" b="1" dirty="0"/>
              <a:t>	</a:t>
            </a:r>
            <a:r>
              <a:rPr lang="en-US" altLang="ko-KR" sz="2400" b="1" dirty="0" smtClean="0"/>
              <a:t>- ex) </a:t>
            </a:r>
            <a:r>
              <a:rPr lang="en-US" altLang="ko-KR" sz="2400" b="1" dirty="0" err="1" smtClean="0"/>
              <a:t>int</a:t>
            </a:r>
            <a:r>
              <a:rPr lang="en-US" altLang="ko-KR" sz="2400" b="1" dirty="0" smtClean="0"/>
              <a:t>* score = (</a:t>
            </a:r>
            <a:r>
              <a:rPr lang="en-US" altLang="ko-KR" sz="2400" b="1" dirty="0" err="1" smtClean="0"/>
              <a:t>int</a:t>
            </a:r>
            <a:r>
              <a:rPr lang="en-US" altLang="ko-KR" sz="2400" b="1" dirty="0" smtClean="0"/>
              <a:t>*) </a:t>
            </a:r>
            <a:r>
              <a:rPr lang="en-US" altLang="ko-KR" sz="2400" b="1" dirty="0" err="1" smtClean="0"/>
              <a:t>malloc</a:t>
            </a:r>
            <a:r>
              <a:rPr lang="en-US" altLang="ko-KR" sz="2400" b="1" dirty="0" smtClean="0"/>
              <a:t>(</a:t>
            </a:r>
            <a:r>
              <a:rPr lang="en-US" altLang="ko-KR" sz="2400" b="1" dirty="0" err="1" smtClean="0"/>
              <a:t>sizeof</a:t>
            </a:r>
            <a:r>
              <a:rPr lang="en-US" altLang="ko-KR" sz="2400" b="1" dirty="0" smtClean="0"/>
              <a:t>(</a:t>
            </a:r>
            <a:r>
              <a:rPr lang="en-US" altLang="ko-KR" sz="2400" b="1" dirty="0" err="1" smtClean="0"/>
              <a:t>int</a:t>
            </a:r>
            <a:r>
              <a:rPr lang="en-US" altLang="ko-KR" sz="2400" b="1" dirty="0" smtClean="0"/>
              <a:t>) * 100);</a:t>
            </a:r>
            <a:endParaRPr lang="en-US" altLang="ko-KR" sz="2400" b="1" dirty="0"/>
          </a:p>
          <a:p>
            <a:pPr marL="0" indent="0">
              <a:buNone/>
            </a:pPr>
            <a:r>
              <a:rPr lang="en-US" altLang="ko-KR" sz="2400" b="1" dirty="0" smtClean="0"/>
              <a:t>	- </a:t>
            </a:r>
            <a:r>
              <a:rPr lang="ko-KR" altLang="en-US" sz="2400" b="1" dirty="0" smtClean="0"/>
              <a:t>필요한 만큼만 </a:t>
            </a:r>
            <a:r>
              <a:rPr lang="ko-KR" altLang="en-US" sz="2400" b="1" dirty="0" err="1" smtClean="0"/>
              <a:t>할당받아서</a:t>
            </a:r>
            <a:r>
              <a:rPr lang="ko-KR" altLang="en-US" sz="2400" b="1" dirty="0" smtClean="0"/>
              <a:t> 사용</a:t>
            </a:r>
            <a:endParaRPr lang="en-US" altLang="ko-KR" sz="2400" b="1" dirty="0"/>
          </a:p>
        </p:txBody>
      </p:sp>
    </p:spTree>
    <p:extLst>
      <p:ext uri="{BB962C8B-B14F-4D97-AF65-F5344CB8AC3E}">
        <p14:creationId xmlns:p14="http://schemas.microsoft.com/office/powerpoint/2010/main" val="36685323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122004" y="-155968"/>
            <a:ext cx="10515600" cy="1325563"/>
          </a:xfrm>
        </p:spPr>
        <p:txBody>
          <a:bodyPr/>
          <a:lstStyle/>
          <a:p>
            <a:r>
              <a:rPr lang="ko-KR" altLang="en-US" dirty="0" smtClean="0">
                <a:latin typeface="휴먼매직체" panose="02030504000101010101" pitchFamily="18" charset="-127"/>
                <a:ea typeface="휴먼매직체" panose="02030504000101010101" pitchFamily="18" charset="-127"/>
              </a:rPr>
              <a:t>메모리 할당</a:t>
            </a:r>
            <a:endParaRPr lang="ko-KR" altLang="en-US" dirty="0">
              <a:latin typeface="휴먼매직체" panose="02030504000101010101" pitchFamily="18" charset="-127"/>
              <a:ea typeface="휴먼매직체" panose="02030504000101010101" pitchFamily="18" charset="-127"/>
            </a:endParaRPr>
          </a:p>
        </p:txBody>
      </p:sp>
      <p:grpSp>
        <p:nvGrpSpPr>
          <p:cNvPr id="14" name="그룹 13"/>
          <p:cNvGrpSpPr/>
          <p:nvPr/>
        </p:nvGrpSpPr>
        <p:grpSpPr>
          <a:xfrm>
            <a:off x="0" y="0"/>
            <a:ext cx="12268200" cy="2411413"/>
            <a:chOff x="0" y="-95250"/>
            <a:chExt cx="12268200" cy="2411413"/>
          </a:xfrm>
          <a:solidFill>
            <a:srgbClr val="99CC00">
              <a:alpha val="30196"/>
            </a:srgbClr>
          </a:solidFill>
        </p:grpSpPr>
        <p:sp>
          <p:nvSpPr>
            <p:cNvPr id="17" name="직사각형 16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8" name="직사각형 17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이등변 삼각형 18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직사각형 19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직사각형 20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직사각형 21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타원 22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타원 23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타원 24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rcRect l="4775" t="14143" r="65565" b="32603"/>
          <a:stretch/>
        </p:blipFill>
        <p:spPr>
          <a:xfrm>
            <a:off x="1112503" y="1228714"/>
            <a:ext cx="5357225" cy="5410531"/>
          </a:xfrm>
          <a:prstGeom prst="rect">
            <a:avLst/>
          </a:prstGeom>
        </p:spPr>
      </p:pic>
      <p:sp>
        <p:nvSpPr>
          <p:cNvPr id="3" name="직사각형 2"/>
          <p:cNvSpPr/>
          <p:nvPr/>
        </p:nvSpPr>
        <p:spPr>
          <a:xfrm>
            <a:off x="2301243" y="3024445"/>
            <a:ext cx="3704897" cy="353758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/>
          <p:cNvSpPr/>
          <p:nvPr/>
        </p:nvSpPr>
        <p:spPr>
          <a:xfrm>
            <a:off x="2301243" y="5821856"/>
            <a:ext cx="1481959" cy="331077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/>
          <p:cNvSpPr txBox="1"/>
          <p:nvPr/>
        </p:nvSpPr>
        <p:spPr>
          <a:xfrm>
            <a:off x="7023652" y="2939714"/>
            <a:ext cx="24881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dirty="0" smtClean="0">
                <a:latin typeface="휴먼매직체" panose="02030504000101010101" pitchFamily="18" charset="-127"/>
                <a:ea typeface="휴먼매직체" panose="02030504000101010101" pitchFamily="18" charset="-127"/>
              </a:rPr>
              <a:t>동적 메모리 할당</a:t>
            </a:r>
            <a:endParaRPr lang="ko-KR" altLang="en-US" sz="2800" dirty="0">
              <a:latin typeface="휴먼매직체" panose="02030504000101010101" pitchFamily="18" charset="-127"/>
              <a:ea typeface="휴먼매직체" panose="02030504000101010101" pitchFamily="18" charset="-127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023652" y="5725784"/>
            <a:ext cx="259718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dirty="0" smtClean="0">
                <a:latin typeface="휴먼매직체" panose="02030504000101010101" pitchFamily="18" charset="-127"/>
                <a:ea typeface="휴먼매직체" panose="02030504000101010101" pitchFamily="18" charset="-127"/>
              </a:rPr>
              <a:t>메모리 할당 해제</a:t>
            </a:r>
            <a:endParaRPr lang="ko-KR" altLang="en-US" sz="2800" dirty="0">
              <a:latin typeface="휴먼매직체" panose="02030504000101010101" pitchFamily="18" charset="-127"/>
              <a:ea typeface="휴먼매직체" panose="02030504000101010101" pitchFamily="18" charset="-127"/>
            </a:endParaRPr>
          </a:p>
        </p:txBody>
      </p:sp>
      <p:cxnSp>
        <p:nvCxnSpPr>
          <p:cNvPr id="6" name="직선 연결선 5"/>
          <p:cNvCxnSpPr>
            <a:stCxn id="4" idx="1"/>
            <a:endCxn id="3" idx="3"/>
          </p:cNvCxnSpPr>
          <p:nvPr/>
        </p:nvCxnSpPr>
        <p:spPr>
          <a:xfrm flipH="1">
            <a:off x="6006140" y="3201324"/>
            <a:ext cx="1017512" cy="0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/>
          <p:cNvCxnSpPr>
            <a:stCxn id="27" idx="1"/>
            <a:endCxn id="16" idx="3"/>
          </p:cNvCxnSpPr>
          <p:nvPr/>
        </p:nvCxnSpPr>
        <p:spPr>
          <a:xfrm flipH="1">
            <a:off x="3783202" y="5987394"/>
            <a:ext cx="3240450" cy="1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직사각형 28"/>
          <p:cNvSpPr/>
          <p:nvPr/>
        </p:nvSpPr>
        <p:spPr>
          <a:xfrm>
            <a:off x="1924051" y="1559952"/>
            <a:ext cx="2048859" cy="372290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TextBox 29"/>
          <p:cNvSpPr txBox="1"/>
          <p:nvPr/>
        </p:nvSpPr>
        <p:spPr>
          <a:xfrm>
            <a:off x="7023652" y="1475221"/>
            <a:ext cx="20986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dirty="0" err="1" smtClean="0">
                <a:latin typeface="휴먼매직체" panose="02030504000101010101" pitchFamily="18" charset="-127"/>
                <a:ea typeface="휴먼매직체" panose="02030504000101010101" pitchFamily="18" charset="-127"/>
              </a:rPr>
              <a:t>헤더파일</a:t>
            </a:r>
            <a:r>
              <a:rPr lang="ko-KR" altLang="en-US" sz="2800" dirty="0" smtClean="0">
                <a:latin typeface="휴먼매직체" panose="02030504000101010101" pitchFamily="18" charset="-127"/>
                <a:ea typeface="휴먼매직체" panose="02030504000101010101" pitchFamily="18" charset="-127"/>
              </a:rPr>
              <a:t> 포함</a:t>
            </a:r>
            <a:endParaRPr lang="ko-KR" altLang="en-US" sz="2800" dirty="0">
              <a:latin typeface="휴먼매직체" panose="02030504000101010101" pitchFamily="18" charset="-127"/>
              <a:ea typeface="휴먼매직체" panose="02030504000101010101" pitchFamily="18" charset="-127"/>
            </a:endParaRPr>
          </a:p>
        </p:txBody>
      </p:sp>
      <p:cxnSp>
        <p:nvCxnSpPr>
          <p:cNvPr id="31" name="직선 연결선 30"/>
          <p:cNvCxnSpPr>
            <a:stCxn id="30" idx="1"/>
            <a:endCxn id="29" idx="3"/>
          </p:cNvCxnSpPr>
          <p:nvPr/>
        </p:nvCxnSpPr>
        <p:spPr>
          <a:xfrm flipH="1">
            <a:off x="3972910" y="1736831"/>
            <a:ext cx="3050742" cy="9266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87270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122004" y="-155968"/>
            <a:ext cx="10515600" cy="1325563"/>
          </a:xfrm>
        </p:spPr>
        <p:txBody>
          <a:bodyPr/>
          <a:lstStyle/>
          <a:p>
            <a:r>
              <a:rPr lang="ko-KR" altLang="en-US" dirty="0" smtClean="0">
                <a:latin typeface="휴먼매직체" panose="02030504000101010101" pitchFamily="18" charset="-127"/>
                <a:ea typeface="휴먼매직체" panose="02030504000101010101" pitchFamily="18" charset="-127"/>
              </a:rPr>
              <a:t>동적 할당</a:t>
            </a:r>
            <a:endParaRPr lang="ko-KR" altLang="en-US" dirty="0">
              <a:latin typeface="휴먼매직체" panose="02030504000101010101" pitchFamily="18" charset="-127"/>
              <a:ea typeface="휴먼매직체" panose="02030504000101010101" pitchFamily="18" charset="-127"/>
            </a:endParaRPr>
          </a:p>
        </p:txBody>
      </p:sp>
      <p:grpSp>
        <p:nvGrpSpPr>
          <p:cNvPr id="14" name="그룹 13"/>
          <p:cNvGrpSpPr/>
          <p:nvPr/>
        </p:nvGrpSpPr>
        <p:grpSpPr>
          <a:xfrm>
            <a:off x="0" y="0"/>
            <a:ext cx="12268200" cy="2411413"/>
            <a:chOff x="0" y="-95250"/>
            <a:chExt cx="12268200" cy="2411413"/>
          </a:xfrm>
          <a:solidFill>
            <a:srgbClr val="99CC00">
              <a:alpha val="30196"/>
            </a:srgbClr>
          </a:solidFill>
        </p:grpSpPr>
        <p:sp>
          <p:nvSpPr>
            <p:cNvPr id="17" name="직사각형 16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8" name="직사각형 17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이등변 삼각형 18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직사각형 19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직사각형 20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직사각형 21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타원 22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타원 23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타원 24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7" name="내용 개체 틀 15">
            <a:extLst>
              <a:ext uri="{FF2B5EF4-FFF2-40B4-BE49-F238E27FC236}">
                <a16:creationId xmlns:a16="http://schemas.microsoft.com/office/drawing/2014/main" id="{0E2CF507-ED0B-4D43-A90C-762FD993E897}"/>
              </a:ext>
            </a:extLst>
          </p:cNvPr>
          <p:cNvSpPr txBox="1">
            <a:spLocks/>
          </p:cNvSpPr>
          <p:nvPr/>
        </p:nvSpPr>
        <p:spPr>
          <a:xfrm>
            <a:off x="1199637" y="1495081"/>
            <a:ext cx="10417346" cy="47380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b="1" dirty="0" err="1"/>
              <a:t>m</a:t>
            </a:r>
            <a:r>
              <a:rPr lang="en-US" altLang="ko-KR" sz="2400" b="1" dirty="0" err="1" smtClean="0"/>
              <a:t>alloc</a:t>
            </a:r>
            <a:r>
              <a:rPr lang="en-US" altLang="ko-KR" sz="2400" b="1" dirty="0" smtClean="0"/>
              <a:t> </a:t>
            </a:r>
            <a:r>
              <a:rPr lang="ko-KR" altLang="en-US" sz="2400" b="1" dirty="0" smtClean="0"/>
              <a:t>함수</a:t>
            </a:r>
            <a:endParaRPr lang="en-US" altLang="ko-KR" sz="2400" b="1" dirty="0" smtClean="0"/>
          </a:p>
          <a:p>
            <a:pPr lvl="1"/>
            <a:r>
              <a:rPr lang="ko-KR" altLang="en-US" b="1" dirty="0" smtClean="0"/>
              <a:t>매개변수로 </a:t>
            </a:r>
            <a:r>
              <a:rPr lang="ko-KR" altLang="en-US" b="1" dirty="0" err="1" smtClean="0"/>
              <a:t>할당받을</a:t>
            </a:r>
            <a:r>
              <a:rPr lang="ko-KR" altLang="en-US" b="1" dirty="0" smtClean="0"/>
              <a:t> 바이트의 수를 넘겨줌</a:t>
            </a:r>
            <a:endParaRPr lang="en-US" altLang="ko-KR" b="1" dirty="0" smtClean="0"/>
          </a:p>
          <a:p>
            <a:pPr lvl="1"/>
            <a:endParaRPr lang="en-US" altLang="ko-KR" b="1" dirty="0"/>
          </a:p>
          <a:p>
            <a:pPr lvl="1"/>
            <a:r>
              <a:rPr lang="en-US" altLang="ko-KR" b="1" dirty="0" smtClean="0"/>
              <a:t>free() </a:t>
            </a:r>
            <a:r>
              <a:rPr lang="ko-KR" altLang="en-US" b="1" dirty="0" smtClean="0"/>
              <a:t>함수는 동적 할당된 메모리 블록을 반납</a:t>
            </a:r>
            <a:endParaRPr lang="en-US" altLang="ko-KR" b="1" dirty="0"/>
          </a:p>
        </p:txBody>
      </p:sp>
      <p:sp>
        <p:nvSpPr>
          <p:cNvPr id="30" name="TextBox 29"/>
          <p:cNvSpPr txBox="1"/>
          <p:nvPr/>
        </p:nvSpPr>
        <p:spPr>
          <a:xfrm>
            <a:off x="1924050" y="4256656"/>
            <a:ext cx="5992346" cy="186512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marL="800100" lvl="2" indent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2400" dirty="0" err="1">
                <a:solidFill>
                  <a:srgbClr val="0000FF"/>
                </a:solidFill>
                <a:latin typeface="Trebuchet MS" pitchFamily="34" charset="0"/>
              </a:rPr>
              <a:t>int</a:t>
            </a:r>
            <a:r>
              <a:rPr lang="en-US" altLang="ko-KR" sz="2400" dirty="0">
                <a:solidFill>
                  <a:srgbClr val="000000"/>
                </a:solidFill>
                <a:latin typeface="Trebuchet MS" pitchFamily="34" charset="0"/>
              </a:rPr>
              <a:t> *score;</a:t>
            </a:r>
          </a:p>
          <a:p>
            <a:pPr marL="800100" lvl="2" indent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2400" dirty="0">
                <a:solidFill>
                  <a:srgbClr val="000000"/>
                </a:solidFill>
                <a:latin typeface="Trebuchet MS" pitchFamily="34" charset="0"/>
              </a:rPr>
              <a:t>score = (</a:t>
            </a:r>
            <a:r>
              <a:rPr lang="en-US" altLang="ko-KR" sz="2400" dirty="0" err="1">
                <a:solidFill>
                  <a:srgbClr val="0000FF"/>
                </a:solidFill>
                <a:latin typeface="Trebuchet MS" pitchFamily="34" charset="0"/>
              </a:rPr>
              <a:t>int</a:t>
            </a:r>
            <a:r>
              <a:rPr lang="en-US" altLang="ko-KR" sz="2400" dirty="0">
                <a:solidFill>
                  <a:srgbClr val="000000"/>
                </a:solidFill>
                <a:latin typeface="Trebuchet MS" pitchFamily="34" charset="0"/>
              </a:rPr>
              <a:t> *)</a:t>
            </a:r>
            <a:r>
              <a:rPr lang="en-US" altLang="ko-KR" sz="2400" dirty="0" err="1" smtClean="0">
                <a:solidFill>
                  <a:srgbClr val="000000"/>
                </a:solidFill>
                <a:latin typeface="Trebuchet MS" pitchFamily="34" charset="0"/>
              </a:rPr>
              <a:t>malloc</a:t>
            </a:r>
            <a:r>
              <a:rPr lang="en-US" altLang="ko-KR" sz="2400" dirty="0" smtClean="0">
                <a:solidFill>
                  <a:srgbClr val="000000"/>
                </a:solidFill>
                <a:latin typeface="Trebuchet MS" pitchFamily="34" charset="0"/>
              </a:rPr>
              <a:t>(</a:t>
            </a:r>
            <a:r>
              <a:rPr lang="en-US" altLang="ko-KR" sz="2400" dirty="0" err="1" smtClean="0">
                <a:solidFill>
                  <a:srgbClr val="0000FF"/>
                </a:solidFill>
                <a:latin typeface="Trebuchet MS" pitchFamily="34" charset="0"/>
              </a:rPr>
              <a:t>sizeof</a:t>
            </a:r>
            <a:r>
              <a:rPr lang="en-US" altLang="ko-KR" sz="2400" dirty="0" smtClean="0">
                <a:solidFill>
                  <a:srgbClr val="000000"/>
                </a:solidFill>
                <a:latin typeface="Trebuchet MS" pitchFamily="34" charset="0"/>
              </a:rPr>
              <a:t>(</a:t>
            </a:r>
            <a:r>
              <a:rPr lang="en-US" altLang="ko-KR" sz="2400" dirty="0" err="1" smtClean="0">
                <a:solidFill>
                  <a:srgbClr val="0000FF"/>
                </a:solidFill>
                <a:latin typeface="Trebuchet MS" pitchFamily="34" charset="0"/>
              </a:rPr>
              <a:t>int</a:t>
            </a:r>
            <a:r>
              <a:rPr lang="en-US" altLang="ko-KR" sz="2400" dirty="0">
                <a:solidFill>
                  <a:srgbClr val="000000"/>
                </a:solidFill>
                <a:latin typeface="Trebuchet MS" pitchFamily="34" charset="0"/>
              </a:rPr>
              <a:t>)*</a:t>
            </a:r>
            <a:r>
              <a:rPr lang="en-US" altLang="ko-KR" sz="2400" dirty="0" smtClean="0">
                <a:solidFill>
                  <a:srgbClr val="000000"/>
                </a:solidFill>
                <a:latin typeface="Trebuchet MS" pitchFamily="34" charset="0"/>
              </a:rPr>
              <a:t>10);</a:t>
            </a:r>
            <a:endParaRPr lang="en-US" altLang="ko-KR" sz="2400" dirty="0">
              <a:solidFill>
                <a:srgbClr val="000000"/>
              </a:solidFill>
              <a:latin typeface="Trebuchet MS" pitchFamily="34" charset="0"/>
            </a:endParaRPr>
          </a:p>
          <a:p>
            <a:pPr marL="800100" lvl="2" indent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2400" dirty="0" smtClean="0">
                <a:solidFill>
                  <a:srgbClr val="000000"/>
                </a:solidFill>
                <a:latin typeface="Trebuchet MS" pitchFamily="34" charset="0"/>
              </a:rPr>
              <a:t>…</a:t>
            </a:r>
            <a:endParaRPr lang="en-US" altLang="ko-KR" sz="2400" dirty="0" smtClean="0">
              <a:latin typeface="Trebuchet MS" pitchFamily="34" charset="0"/>
            </a:endParaRPr>
          </a:p>
          <a:p>
            <a:pPr marL="800100" lvl="2" indent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2400" dirty="0" smtClean="0">
                <a:latin typeface="Trebuchet MS" pitchFamily="34" charset="0"/>
              </a:rPr>
              <a:t>free(score);</a:t>
            </a:r>
            <a:endParaRPr lang="en-US" altLang="ko-KR" sz="2400" dirty="0">
              <a:latin typeface="Trebuchet MS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9027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122004" y="-155968"/>
            <a:ext cx="10515600" cy="1325563"/>
          </a:xfrm>
        </p:spPr>
        <p:txBody>
          <a:bodyPr/>
          <a:lstStyle/>
          <a:p>
            <a:r>
              <a:rPr lang="ko-KR" altLang="en-US" dirty="0" smtClean="0">
                <a:latin typeface="휴먼매직체" panose="02030504000101010101" pitchFamily="18" charset="-127"/>
                <a:ea typeface="휴먼매직체" panose="02030504000101010101" pitchFamily="18" charset="-127"/>
              </a:rPr>
              <a:t>동적 할당</a:t>
            </a:r>
            <a:endParaRPr lang="ko-KR" altLang="en-US" dirty="0">
              <a:latin typeface="휴먼매직체" panose="02030504000101010101" pitchFamily="18" charset="-127"/>
              <a:ea typeface="휴먼매직체" panose="02030504000101010101" pitchFamily="18" charset="-127"/>
            </a:endParaRPr>
          </a:p>
        </p:txBody>
      </p:sp>
      <p:grpSp>
        <p:nvGrpSpPr>
          <p:cNvPr id="14" name="그룹 13"/>
          <p:cNvGrpSpPr/>
          <p:nvPr/>
        </p:nvGrpSpPr>
        <p:grpSpPr>
          <a:xfrm>
            <a:off x="0" y="0"/>
            <a:ext cx="12268200" cy="2411413"/>
            <a:chOff x="0" y="-95250"/>
            <a:chExt cx="12268200" cy="2411413"/>
          </a:xfrm>
          <a:solidFill>
            <a:srgbClr val="99CC00">
              <a:alpha val="30196"/>
            </a:srgbClr>
          </a:solidFill>
        </p:grpSpPr>
        <p:sp>
          <p:nvSpPr>
            <p:cNvPr id="17" name="직사각형 16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8" name="직사각형 17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이등변 삼각형 18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직사각형 19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직사각형 20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직사각형 21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타원 22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타원 23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타원 24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7" name="내용 개체 틀 15">
            <a:extLst>
              <a:ext uri="{FF2B5EF4-FFF2-40B4-BE49-F238E27FC236}">
                <a16:creationId xmlns:a16="http://schemas.microsoft.com/office/drawing/2014/main" id="{0E2CF507-ED0B-4D43-A90C-762FD993E897}"/>
              </a:ext>
            </a:extLst>
          </p:cNvPr>
          <p:cNvSpPr txBox="1">
            <a:spLocks/>
          </p:cNvSpPr>
          <p:nvPr/>
        </p:nvSpPr>
        <p:spPr>
          <a:xfrm>
            <a:off x="1199637" y="1495081"/>
            <a:ext cx="10417346" cy="47380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b="1" dirty="0"/>
              <a:t>f</a:t>
            </a:r>
            <a:r>
              <a:rPr lang="en-US" altLang="ko-KR" sz="2400" b="1" dirty="0" smtClean="0"/>
              <a:t>ree </a:t>
            </a:r>
            <a:r>
              <a:rPr lang="ko-KR" altLang="en-US" sz="2400" b="1" dirty="0" smtClean="0"/>
              <a:t>함수</a:t>
            </a:r>
            <a:endParaRPr lang="en-US" altLang="ko-KR" sz="2400" b="1" dirty="0"/>
          </a:p>
          <a:p>
            <a:pPr lvl="1"/>
            <a:r>
              <a:rPr lang="ko-KR" altLang="en-US" b="1" dirty="0" smtClean="0"/>
              <a:t>매개변수로 동적 할당된 메모리를 가리키는 포인터 넘겨줌</a:t>
            </a:r>
            <a:endParaRPr lang="en-US" altLang="ko-KR" b="1" dirty="0" smtClean="0"/>
          </a:p>
          <a:p>
            <a:pPr lvl="1"/>
            <a:endParaRPr lang="en-US" altLang="ko-KR" b="1" dirty="0"/>
          </a:p>
          <a:p>
            <a:pPr lvl="1"/>
            <a:r>
              <a:rPr lang="en-US" altLang="ko-KR" b="1" dirty="0" err="1" smtClean="0"/>
              <a:t>malloc</a:t>
            </a:r>
            <a:r>
              <a:rPr lang="en-US" altLang="ko-KR" b="1" dirty="0" smtClean="0"/>
              <a:t>() </a:t>
            </a:r>
            <a:r>
              <a:rPr lang="ko-KR" altLang="en-US" b="1" dirty="0" smtClean="0"/>
              <a:t>함수는 메모리 블록의 첫 번째 바이트에 대한 주소 반환</a:t>
            </a:r>
            <a:endParaRPr lang="en-US" altLang="ko-KR" b="1" dirty="0" smtClean="0"/>
          </a:p>
          <a:p>
            <a:pPr lvl="1"/>
            <a:endParaRPr lang="en-US" altLang="ko-KR" b="1" dirty="0"/>
          </a:p>
          <a:p>
            <a:pPr lvl="1"/>
            <a:r>
              <a:rPr lang="ko-KR" altLang="en-US" b="1" dirty="0" smtClean="0"/>
              <a:t>만약 요청한 메모리 공간을 할당할 수 없는 경우 </a:t>
            </a:r>
            <a:r>
              <a:rPr lang="en-US" altLang="ko-KR" b="1" dirty="0" smtClean="0"/>
              <a:t>NULL </a:t>
            </a:r>
            <a:r>
              <a:rPr lang="ko-KR" altLang="en-US" b="1" dirty="0" smtClean="0"/>
              <a:t>반환</a:t>
            </a:r>
            <a:endParaRPr lang="en-US" altLang="ko-KR" b="1" dirty="0"/>
          </a:p>
        </p:txBody>
      </p:sp>
      <p:sp>
        <p:nvSpPr>
          <p:cNvPr id="30" name="TextBox 29"/>
          <p:cNvSpPr txBox="1"/>
          <p:nvPr/>
        </p:nvSpPr>
        <p:spPr>
          <a:xfrm>
            <a:off x="1924050" y="4256656"/>
            <a:ext cx="5992346" cy="226818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marL="800100" lvl="2" indent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2400" dirty="0" err="1">
                <a:solidFill>
                  <a:srgbClr val="0000FF"/>
                </a:solidFill>
                <a:latin typeface="Trebuchet MS" pitchFamily="34" charset="0"/>
              </a:rPr>
              <a:t>int</a:t>
            </a:r>
            <a:r>
              <a:rPr lang="en-US" altLang="ko-KR" sz="2400" dirty="0">
                <a:solidFill>
                  <a:srgbClr val="000000"/>
                </a:solidFill>
                <a:latin typeface="Trebuchet MS" pitchFamily="34" charset="0"/>
              </a:rPr>
              <a:t> *score;</a:t>
            </a:r>
          </a:p>
          <a:p>
            <a:pPr marL="800100" lvl="2" indent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2400" dirty="0">
                <a:solidFill>
                  <a:srgbClr val="000000"/>
                </a:solidFill>
                <a:latin typeface="Trebuchet MS" pitchFamily="34" charset="0"/>
              </a:rPr>
              <a:t>score = (</a:t>
            </a:r>
            <a:r>
              <a:rPr lang="en-US" altLang="ko-KR" sz="2400" dirty="0" err="1">
                <a:solidFill>
                  <a:srgbClr val="0000FF"/>
                </a:solidFill>
                <a:latin typeface="Trebuchet MS" pitchFamily="34" charset="0"/>
              </a:rPr>
              <a:t>int</a:t>
            </a:r>
            <a:r>
              <a:rPr lang="en-US" altLang="ko-KR" sz="2400" dirty="0">
                <a:solidFill>
                  <a:srgbClr val="000000"/>
                </a:solidFill>
                <a:latin typeface="Trebuchet MS" pitchFamily="34" charset="0"/>
              </a:rPr>
              <a:t> *)</a:t>
            </a:r>
            <a:r>
              <a:rPr lang="en-US" altLang="ko-KR" sz="2400" dirty="0" err="1" smtClean="0">
                <a:solidFill>
                  <a:srgbClr val="000000"/>
                </a:solidFill>
                <a:latin typeface="Trebuchet MS" pitchFamily="34" charset="0"/>
              </a:rPr>
              <a:t>malloc</a:t>
            </a:r>
            <a:r>
              <a:rPr lang="en-US" altLang="ko-KR" sz="2400" dirty="0" smtClean="0">
                <a:solidFill>
                  <a:srgbClr val="000000"/>
                </a:solidFill>
                <a:latin typeface="Trebuchet MS" pitchFamily="34" charset="0"/>
              </a:rPr>
              <a:t>(</a:t>
            </a:r>
            <a:r>
              <a:rPr lang="en-US" altLang="ko-KR" sz="2400" dirty="0" err="1" smtClean="0">
                <a:solidFill>
                  <a:srgbClr val="0000FF"/>
                </a:solidFill>
                <a:latin typeface="Trebuchet MS" pitchFamily="34" charset="0"/>
              </a:rPr>
              <a:t>sizeof</a:t>
            </a:r>
            <a:r>
              <a:rPr lang="en-US" altLang="ko-KR" sz="2400" dirty="0" smtClean="0">
                <a:solidFill>
                  <a:srgbClr val="000000"/>
                </a:solidFill>
                <a:latin typeface="Trebuchet MS" pitchFamily="34" charset="0"/>
              </a:rPr>
              <a:t>(</a:t>
            </a:r>
            <a:r>
              <a:rPr lang="en-US" altLang="ko-KR" sz="2400" dirty="0" err="1" smtClean="0">
                <a:solidFill>
                  <a:srgbClr val="0000FF"/>
                </a:solidFill>
                <a:latin typeface="Trebuchet MS" pitchFamily="34" charset="0"/>
              </a:rPr>
              <a:t>int</a:t>
            </a:r>
            <a:r>
              <a:rPr lang="en-US" altLang="ko-KR" sz="2400" dirty="0">
                <a:solidFill>
                  <a:srgbClr val="000000"/>
                </a:solidFill>
                <a:latin typeface="Trebuchet MS" pitchFamily="34" charset="0"/>
              </a:rPr>
              <a:t>)*</a:t>
            </a:r>
            <a:r>
              <a:rPr lang="en-US" altLang="ko-KR" sz="2400" dirty="0" smtClean="0">
                <a:solidFill>
                  <a:srgbClr val="000000"/>
                </a:solidFill>
                <a:latin typeface="Trebuchet MS" pitchFamily="34" charset="0"/>
              </a:rPr>
              <a:t>10);</a:t>
            </a:r>
            <a:endParaRPr lang="en-US" altLang="ko-KR" sz="2400" dirty="0">
              <a:solidFill>
                <a:srgbClr val="000000"/>
              </a:solidFill>
              <a:latin typeface="Trebuchet MS" pitchFamily="34" charset="0"/>
            </a:endParaRPr>
          </a:p>
          <a:p>
            <a:pPr marL="800100" lvl="2" indent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2400" dirty="0">
                <a:solidFill>
                  <a:srgbClr val="0000FF"/>
                </a:solidFill>
                <a:latin typeface="Trebuchet MS" pitchFamily="34" charset="0"/>
              </a:rPr>
              <a:t>if</a:t>
            </a:r>
            <a:r>
              <a:rPr lang="en-US" altLang="ko-KR" sz="2400" dirty="0">
                <a:solidFill>
                  <a:srgbClr val="000000"/>
                </a:solidFill>
                <a:latin typeface="Trebuchet MS" pitchFamily="34" charset="0"/>
              </a:rPr>
              <a:t>( score == NULL ){</a:t>
            </a:r>
          </a:p>
          <a:p>
            <a:pPr marL="1257300" lvl="3" indent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2400" dirty="0">
                <a:solidFill>
                  <a:srgbClr val="000000"/>
                </a:solidFill>
                <a:latin typeface="Trebuchet MS" pitchFamily="34" charset="0"/>
              </a:rPr>
              <a:t>	... </a:t>
            </a:r>
            <a:r>
              <a:rPr lang="en-US" altLang="ko-KR" sz="2400" dirty="0">
                <a:solidFill>
                  <a:srgbClr val="008000"/>
                </a:solidFill>
                <a:latin typeface="Trebuchet MS" pitchFamily="34" charset="0"/>
              </a:rPr>
              <a:t>// </a:t>
            </a:r>
            <a:r>
              <a:rPr lang="ko-KR" altLang="en-US" sz="2400" dirty="0">
                <a:solidFill>
                  <a:srgbClr val="008000"/>
                </a:solidFill>
                <a:latin typeface="Trebuchet MS" pitchFamily="34" charset="0"/>
              </a:rPr>
              <a:t>오류 처리</a:t>
            </a:r>
            <a:endParaRPr lang="ko-KR" altLang="en-US" sz="2400" dirty="0">
              <a:solidFill>
                <a:srgbClr val="000000"/>
              </a:solidFill>
              <a:latin typeface="Trebuchet MS" pitchFamily="34" charset="0"/>
            </a:endParaRPr>
          </a:p>
          <a:p>
            <a:pPr marL="800100" lvl="2" indent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2400" dirty="0">
                <a:solidFill>
                  <a:srgbClr val="000000"/>
                </a:solidFill>
                <a:latin typeface="Trebuchet MS" pitchFamily="34" charset="0"/>
              </a:rPr>
              <a:t>}</a:t>
            </a:r>
            <a:endParaRPr lang="ko-KR" altLang="en-US" sz="2400" dirty="0">
              <a:solidFill>
                <a:srgbClr val="000000"/>
              </a:solidFill>
              <a:latin typeface="Trebuchet MS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21869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122004" y="-155968"/>
            <a:ext cx="10515600" cy="1325563"/>
          </a:xfrm>
        </p:spPr>
        <p:txBody>
          <a:bodyPr/>
          <a:lstStyle/>
          <a:p>
            <a:r>
              <a:rPr lang="ko-KR" altLang="en-US" dirty="0" smtClean="0">
                <a:latin typeface="휴먼매직체" panose="02030504000101010101" pitchFamily="18" charset="-127"/>
                <a:ea typeface="휴먼매직체" panose="02030504000101010101" pitchFamily="18" charset="-127"/>
              </a:rPr>
              <a:t>동적 할당</a:t>
            </a:r>
            <a:endParaRPr lang="ko-KR" altLang="en-US" dirty="0">
              <a:latin typeface="휴먼매직체" panose="02030504000101010101" pitchFamily="18" charset="-127"/>
              <a:ea typeface="휴먼매직체" panose="02030504000101010101" pitchFamily="18" charset="-127"/>
            </a:endParaRPr>
          </a:p>
        </p:txBody>
      </p:sp>
      <p:grpSp>
        <p:nvGrpSpPr>
          <p:cNvPr id="14" name="그룹 13"/>
          <p:cNvGrpSpPr/>
          <p:nvPr/>
        </p:nvGrpSpPr>
        <p:grpSpPr>
          <a:xfrm>
            <a:off x="0" y="0"/>
            <a:ext cx="12268200" cy="2411413"/>
            <a:chOff x="0" y="-95250"/>
            <a:chExt cx="12268200" cy="2411413"/>
          </a:xfrm>
          <a:solidFill>
            <a:srgbClr val="99CC00">
              <a:alpha val="30196"/>
            </a:srgbClr>
          </a:solidFill>
        </p:grpSpPr>
        <p:sp>
          <p:nvSpPr>
            <p:cNvPr id="17" name="직사각형 16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8" name="직사각형 17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이등변 삼각형 18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직사각형 19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직사각형 20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직사각형 21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타원 22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타원 23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타원 24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7" name="내용 개체 틀 15">
            <a:extLst>
              <a:ext uri="{FF2B5EF4-FFF2-40B4-BE49-F238E27FC236}">
                <a16:creationId xmlns:a16="http://schemas.microsoft.com/office/drawing/2014/main" id="{0E2CF507-ED0B-4D43-A90C-762FD993E897}"/>
              </a:ext>
            </a:extLst>
          </p:cNvPr>
          <p:cNvSpPr txBox="1">
            <a:spLocks/>
          </p:cNvSpPr>
          <p:nvPr/>
        </p:nvSpPr>
        <p:spPr>
          <a:xfrm>
            <a:off x="1199637" y="1495081"/>
            <a:ext cx="10417346" cy="47380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2400" b="1" dirty="0" err="1" smtClean="0"/>
              <a:t>할당받은</a:t>
            </a:r>
            <a:r>
              <a:rPr lang="ko-KR" altLang="en-US" sz="2400" b="1" dirty="0" smtClean="0"/>
              <a:t> 공간의 이용</a:t>
            </a:r>
            <a:endParaRPr lang="en-US" altLang="ko-KR" sz="2400" b="1" dirty="0" smtClean="0"/>
          </a:p>
          <a:p>
            <a:endParaRPr lang="en-US" altLang="ko-KR" sz="2400" b="1" dirty="0"/>
          </a:p>
          <a:p>
            <a:pPr lvl="1"/>
            <a:r>
              <a:rPr lang="ko-KR" altLang="en-US" b="1" dirty="0" smtClean="0"/>
              <a:t>배열과 같이 취급하여 사용</a:t>
            </a:r>
            <a:endParaRPr lang="en-US" altLang="ko-KR" b="1" dirty="0" smtClean="0"/>
          </a:p>
          <a:p>
            <a:pPr lvl="1"/>
            <a:endParaRPr lang="en-US" altLang="ko-KR" b="1" dirty="0" smtClean="0"/>
          </a:p>
          <a:p>
            <a:pPr lvl="1"/>
            <a:endParaRPr lang="en-US" altLang="ko-KR" b="1" dirty="0"/>
          </a:p>
          <a:p>
            <a:pPr lvl="1"/>
            <a:endParaRPr lang="en-US" altLang="ko-KR" b="1" dirty="0" smtClean="0"/>
          </a:p>
          <a:p>
            <a:pPr marL="457200" lvl="1" indent="0">
              <a:buNone/>
            </a:pPr>
            <a:endParaRPr lang="en-US" altLang="ko-KR" b="1" dirty="0" smtClean="0"/>
          </a:p>
          <a:p>
            <a:pPr marL="457200" lvl="1" indent="0">
              <a:buNone/>
            </a:pPr>
            <a:endParaRPr lang="en-US" altLang="ko-KR" b="1" dirty="0"/>
          </a:p>
          <a:p>
            <a:pPr lvl="1"/>
            <a:r>
              <a:rPr lang="ko-KR" altLang="en-US" b="1" dirty="0" smtClean="0"/>
              <a:t>포인터를 통하여 사용</a:t>
            </a:r>
            <a:endParaRPr lang="en-US" altLang="ko-KR" b="1" dirty="0"/>
          </a:p>
        </p:txBody>
      </p:sp>
      <p:sp>
        <p:nvSpPr>
          <p:cNvPr id="30" name="TextBox 29"/>
          <p:cNvSpPr txBox="1"/>
          <p:nvPr/>
        </p:nvSpPr>
        <p:spPr>
          <a:xfrm>
            <a:off x="6795595" y="4368034"/>
            <a:ext cx="4161440" cy="186512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800100" lvl="2" indent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2400" dirty="0" smtClean="0">
                <a:solidFill>
                  <a:srgbClr val="000000"/>
                </a:solidFill>
                <a:latin typeface="Trebuchet MS" pitchFamily="34" charset="0"/>
              </a:rPr>
              <a:t>*score = 100;</a:t>
            </a:r>
          </a:p>
          <a:p>
            <a:pPr marL="800100" lvl="2" indent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2400" dirty="0" smtClean="0">
                <a:solidFill>
                  <a:srgbClr val="000000"/>
                </a:solidFill>
                <a:latin typeface="Trebuchet MS" pitchFamily="34" charset="0"/>
              </a:rPr>
              <a:t>*(score + 1) = 200;</a:t>
            </a:r>
          </a:p>
          <a:p>
            <a:pPr marL="800100" lvl="2" indent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2400" dirty="0" smtClean="0">
                <a:solidFill>
                  <a:srgbClr val="000000"/>
                </a:solidFill>
                <a:latin typeface="Trebuchet MS" pitchFamily="34" charset="0"/>
              </a:rPr>
              <a:t>*(score + 2) = 300;</a:t>
            </a:r>
          </a:p>
          <a:p>
            <a:pPr marL="800100" lvl="2" indent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2400" dirty="0" smtClean="0">
                <a:solidFill>
                  <a:srgbClr val="000000"/>
                </a:solidFill>
                <a:latin typeface="Trebuchet MS" pitchFamily="34" charset="0"/>
              </a:rPr>
              <a:t>…</a:t>
            </a:r>
            <a:endParaRPr lang="ko-KR" altLang="en-US" sz="2400" dirty="0">
              <a:solidFill>
                <a:srgbClr val="000000"/>
              </a:solidFill>
              <a:latin typeface="Trebuchet MS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795595" y="1998995"/>
            <a:ext cx="4161440" cy="186512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800100" lvl="2" indent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2400" dirty="0" smtClean="0">
                <a:solidFill>
                  <a:srgbClr val="000000"/>
                </a:solidFill>
                <a:latin typeface="Trebuchet MS" pitchFamily="34" charset="0"/>
              </a:rPr>
              <a:t>score[0] = 100;</a:t>
            </a:r>
          </a:p>
          <a:p>
            <a:pPr marL="800100" lvl="2" indent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2400" dirty="0" smtClean="0">
                <a:solidFill>
                  <a:srgbClr val="000000"/>
                </a:solidFill>
                <a:latin typeface="Trebuchet MS" pitchFamily="34" charset="0"/>
              </a:rPr>
              <a:t>score[1] = 200;</a:t>
            </a:r>
          </a:p>
          <a:p>
            <a:pPr marL="800100" lvl="2" indent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2400" dirty="0" smtClean="0">
                <a:solidFill>
                  <a:srgbClr val="000000"/>
                </a:solidFill>
                <a:latin typeface="Trebuchet MS" pitchFamily="34" charset="0"/>
              </a:rPr>
              <a:t>score[3] = 300;</a:t>
            </a:r>
          </a:p>
          <a:p>
            <a:pPr marL="800100" lvl="2" indent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2400" dirty="0" smtClean="0">
                <a:solidFill>
                  <a:srgbClr val="000000"/>
                </a:solidFill>
                <a:latin typeface="Trebuchet MS" pitchFamily="34" charset="0"/>
              </a:rPr>
              <a:t>…</a:t>
            </a:r>
            <a:endParaRPr lang="ko-KR" altLang="en-US" sz="2400" dirty="0">
              <a:solidFill>
                <a:srgbClr val="000000"/>
              </a:solidFill>
              <a:latin typeface="Trebuchet MS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020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122004" y="-155968"/>
            <a:ext cx="10515600" cy="1325563"/>
          </a:xfrm>
        </p:spPr>
        <p:txBody>
          <a:bodyPr/>
          <a:lstStyle/>
          <a:p>
            <a:r>
              <a:rPr lang="ko-KR" altLang="en-US" dirty="0" smtClean="0">
                <a:latin typeface="휴먼매직체" panose="02030504000101010101" pitchFamily="18" charset="-127"/>
                <a:ea typeface="휴먼매직체" panose="02030504000101010101" pitchFamily="18" charset="-127"/>
              </a:rPr>
              <a:t>동적 할당</a:t>
            </a:r>
            <a:endParaRPr lang="ko-KR" altLang="en-US" dirty="0">
              <a:latin typeface="휴먼매직체" panose="02030504000101010101" pitchFamily="18" charset="-127"/>
              <a:ea typeface="휴먼매직체" panose="02030504000101010101" pitchFamily="18" charset="-127"/>
            </a:endParaRPr>
          </a:p>
        </p:txBody>
      </p:sp>
      <p:grpSp>
        <p:nvGrpSpPr>
          <p:cNvPr id="14" name="그룹 13"/>
          <p:cNvGrpSpPr/>
          <p:nvPr/>
        </p:nvGrpSpPr>
        <p:grpSpPr>
          <a:xfrm>
            <a:off x="0" y="0"/>
            <a:ext cx="12268200" cy="2411413"/>
            <a:chOff x="0" y="-95250"/>
            <a:chExt cx="12268200" cy="2411413"/>
          </a:xfrm>
          <a:solidFill>
            <a:srgbClr val="99CC00">
              <a:alpha val="30196"/>
            </a:srgbClr>
          </a:solidFill>
        </p:grpSpPr>
        <p:sp>
          <p:nvSpPr>
            <p:cNvPr id="17" name="직사각형 16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8" name="직사각형 17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이등변 삼각형 18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직사각형 19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직사각형 20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직사각형 21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타원 22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타원 23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타원 24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rcRect l="3967" t="14369" r="61579" b="33239"/>
          <a:stretch/>
        </p:blipFill>
        <p:spPr>
          <a:xfrm>
            <a:off x="855809" y="952500"/>
            <a:ext cx="6658564" cy="5695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46846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122004" y="-155968"/>
            <a:ext cx="10515600" cy="1325563"/>
          </a:xfrm>
        </p:spPr>
        <p:txBody>
          <a:bodyPr/>
          <a:lstStyle/>
          <a:p>
            <a:r>
              <a:rPr lang="ko-KR" altLang="en-US" dirty="0" smtClean="0">
                <a:latin typeface="휴먼매직체" panose="02030504000101010101" pitchFamily="18" charset="-127"/>
                <a:ea typeface="휴먼매직체" panose="02030504000101010101" pitchFamily="18" charset="-127"/>
              </a:rPr>
              <a:t>동적 할당</a:t>
            </a:r>
            <a:endParaRPr lang="ko-KR" altLang="en-US" dirty="0">
              <a:latin typeface="휴먼매직체" panose="02030504000101010101" pitchFamily="18" charset="-127"/>
              <a:ea typeface="휴먼매직체" panose="02030504000101010101" pitchFamily="18" charset="-127"/>
            </a:endParaRPr>
          </a:p>
        </p:txBody>
      </p:sp>
      <p:grpSp>
        <p:nvGrpSpPr>
          <p:cNvPr id="14" name="그룹 13"/>
          <p:cNvGrpSpPr/>
          <p:nvPr/>
        </p:nvGrpSpPr>
        <p:grpSpPr>
          <a:xfrm>
            <a:off x="0" y="0"/>
            <a:ext cx="12268200" cy="2411413"/>
            <a:chOff x="0" y="-95250"/>
            <a:chExt cx="12268200" cy="2411413"/>
          </a:xfrm>
          <a:solidFill>
            <a:srgbClr val="99CC00">
              <a:alpha val="30196"/>
            </a:srgbClr>
          </a:solidFill>
        </p:grpSpPr>
        <p:sp>
          <p:nvSpPr>
            <p:cNvPr id="17" name="직사각형 16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8" name="직사각형 17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이등변 삼각형 18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직사각형 19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직사각형 20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직사각형 21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타원 22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타원 23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타원 24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6" name="내용 개체 틀 15">
            <a:extLst>
              <a:ext uri="{FF2B5EF4-FFF2-40B4-BE49-F238E27FC236}">
                <a16:creationId xmlns:a16="http://schemas.microsoft.com/office/drawing/2014/main" id="{0E2CF507-ED0B-4D43-A90C-762FD993E897}"/>
              </a:ext>
            </a:extLst>
          </p:cNvPr>
          <p:cNvSpPr txBox="1">
            <a:spLocks/>
          </p:cNvSpPr>
          <p:nvPr/>
        </p:nvSpPr>
        <p:spPr>
          <a:xfrm>
            <a:off x="1199637" y="1495081"/>
            <a:ext cx="10417346" cy="47380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b="1" dirty="0" err="1" smtClean="0"/>
              <a:t>calloc</a:t>
            </a:r>
            <a:r>
              <a:rPr lang="en-US" altLang="ko-KR" sz="2400" b="1" dirty="0" smtClean="0"/>
              <a:t> </a:t>
            </a:r>
            <a:r>
              <a:rPr lang="ko-KR" altLang="en-US" sz="2400" b="1" dirty="0" smtClean="0"/>
              <a:t>함수</a:t>
            </a:r>
            <a:endParaRPr lang="en-US" altLang="ko-KR" sz="2400" b="1" dirty="0" smtClean="0"/>
          </a:p>
          <a:p>
            <a:pPr lvl="1"/>
            <a:r>
              <a:rPr lang="en-US" altLang="ko-KR" b="1" dirty="0" smtClean="0"/>
              <a:t>0</a:t>
            </a:r>
            <a:r>
              <a:rPr lang="ko-KR" altLang="en-US" b="1" dirty="0" smtClean="0"/>
              <a:t>으로 초기화 된 메모리 할당</a:t>
            </a:r>
            <a:endParaRPr lang="en-US" altLang="ko-KR" b="1" dirty="0" smtClean="0"/>
          </a:p>
          <a:p>
            <a:pPr lvl="1"/>
            <a:endParaRPr lang="en-US" altLang="ko-KR" b="1" dirty="0"/>
          </a:p>
          <a:p>
            <a:pPr lvl="1"/>
            <a:r>
              <a:rPr lang="en-US" altLang="ko-KR" b="1" dirty="0" smtClean="0"/>
              <a:t>ex) score = (</a:t>
            </a:r>
            <a:r>
              <a:rPr lang="en-US" altLang="ko-KR" b="1" dirty="0" err="1" smtClean="0"/>
              <a:t>int</a:t>
            </a:r>
            <a:r>
              <a:rPr lang="en-US" altLang="ko-KR" b="1" dirty="0" smtClean="0"/>
              <a:t>*) </a:t>
            </a:r>
            <a:r>
              <a:rPr lang="en-US" altLang="ko-KR" b="1" dirty="0" err="1" smtClean="0"/>
              <a:t>calloc</a:t>
            </a:r>
            <a:r>
              <a:rPr lang="en-US" altLang="ko-KR" b="1" dirty="0" smtClean="0"/>
              <a:t>(5, </a:t>
            </a:r>
            <a:r>
              <a:rPr lang="en-US" altLang="ko-KR" b="1" dirty="0" err="1" smtClean="0"/>
              <a:t>sizeof</a:t>
            </a:r>
            <a:r>
              <a:rPr lang="en-US" altLang="ko-KR" b="1" dirty="0" smtClean="0"/>
              <a:t>(</a:t>
            </a:r>
            <a:r>
              <a:rPr lang="en-US" altLang="ko-KR" b="1" dirty="0" err="1" smtClean="0"/>
              <a:t>int</a:t>
            </a:r>
            <a:r>
              <a:rPr lang="en-US" altLang="ko-KR" b="1" dirty="0" smtClean="0"/>
              <a:t>));</a:t>
            </a:r>
            <a:endParaRPr lang="en-US" altLang="ko-KR" b="1" dirty="0"/>
          </a:p>
        </p:txBody>
      </p:sp>
      <p:grpSp>
        <p:nvGrpSpPr>
          <p:cNvPr id="2" name="그룹 1"/>
          <p:cNvGrpSpPr/>
          <p:nvPr/>
        </p:nvGrpSpPr>
        <p:grpSpPr>
          <a:xfrm>
            <a:off x="1882985" y="3276616"/>
            <a:ext cx="4599046" cy="1713496"/>
            <a:chOff x="1882985" y="3276616"/>
            <a:chExt cx="4599046" cy="1713496"/>
          </a:xfrm>
        </p:grpSpPr>
        <p:sp>
          <p:nvSpPr>
            <p:cNvPr id="28" name="정육면체 27"/>
            <p:cNvSpPr/>
            <p:nvPr/>
          </p:nvSpPr>
          <p:spPr bwMode="auto">
            <a:xfrm flipH="1">
              <a:off x="1882985" y="4198628"/>
              <a:ext cx="835924" cy="791484"/>
            </a:xfrm>
            <a:prstGeom prst="cube">
              <a:avLst>
                <a:gd name="adj" fmla="val 31105"/>
              </a:avLst>
            </a:prstGeom>
            <a:solidFill>
              <a:srgbClr val="4BACC6">
                <a:lumMod val="40000"/>
                <a:lumOff val="60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1400" kern="0" dirty="0">
                  <a:solidFill>
                    <a:sysClr val="windowText" lastClr="000000"/>
                  </a:solidFill>
                  <a:latin typeface="Lucida Calligraphy" pitchFamily="66" charset="0"/>
                  <a:ea typeface="맑은 고딕"/>
                </a:rPr>
                <a:t>p</a:t>
              </a:r>
              <a:endParaRPr kumimoji="0" lang="ko-KR" altLang="en-US" sz="1400" kern="0" dirty="0">
                <a:solidFill>
                  <a:sysClr val="windowText" lastClr="000000"/>
                </a:solidFill>
                <a:latin typeface="Lucida Calligraphy" pitchFamily="66" charset="0"/>
                <a:ea typeface="맑은 고딕"/>
              </a:endParaRPr>
            </a:p>
          </p:txBody>
        </p:sp>
        <p:sp>
          <p:nvSpPr>
            <p:cNvPr id="30" name="정육면체 29"/>
            <p:cNvSpPr/>
            <p:nvPr/>
          </p:nvSpPr>
          <p:spPr bwMode="auto">
            <a:xfrm flipH="1">
              <a:off x="5646108" y="4198628"/>
              <a:ext cx="835923" cy="791484"/>
            </a:xfrm>
            <a:prstGeom prst="cube">
              <a:avLst>
                <a:gd name="adj" fmla="val 31105"/>
              </a:avLst>
            </a:prstGeom>
            <a:solidFill>
              <a:srgbClr val="FFC000"/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kern="0">
                <a:solidFill>
                  <a:sysClr val="window" lastClr="FFFFFF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31" name="정육면체 30"/>
            <p:cNvSpPr/>
            <p:nvPr/>
          </p:nvSpPr>
          <p:spPr bwMode="auto">
            <a:xfrm flipH="1">
              <a:off x="4977368" y="4198628"/>
              <a:ext cx="835923" cy="791484"/>
            </a:xfrm>
            <a:prstGeom prst="cube">
              <a:avLst>
                <a:gd name="adj" fmla="val 31105"/>
              </a:avLst>
            </a:prstGeom>
            <a:solidFill>
              <a:srgbClr val="FFC000"/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kern="0">
                <a:solidFill>
                  <a:sysClr val="window" lastClr="FFFFFF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32" name="정육면체 31"/>
            <p:cNvSpPr/>
            <p:nvPr/>
          </p:nvSpPr>
          <p:spPr bwMode="auto">
            <a:xfrm flipH="1">
              <a:off x="4308630" y="4198628"/>
              <a:ext cx="835923" cy="791484"/>
            </a:xfrm>
            <a:prstGeom prst="cube">
              <a:avLst>
                <a:gd name="adj" fmla="val 31105"/>
              </a:avLst>
            </a:prstGeom>
            <a:solidFill>
              <a:srgbClr val="FFC000"/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kern="0">
                <a:solidFill>
                  <a:sysClr val="window" lastClr="FFFFFF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33" name="정육면체 32"/>
            <p:cNvSpPr/>
            <p:nvPr/>
          </p:nvSpPr>
          <p:spPr bwMode="auto">
            <a:xfrm flipH="1">
              <a:off x="3639891" y="4198628"/>
              <a:ext cx="835923" cy="791484"/>
            </a:xfrm>
            <a:prstGeom prst="cube">
              <a:avLst>
                <a:gd name="adj" fmla="val 31105"/>
              </a:avLst>
            </a:prstGeom>
            <a:solidFill>
              <a:srgbClr val="FFC000"/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kern="0">
                <a:solidFill>
                  <a:sysClr val="window" lastClr="FFFFFF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34" name="정육면체 33"/>
            <p:cNvSpPr/>
            <p:nvPr/>
          </p:nvSpPr>
          <p:spPr bwMode="auto">
            <a:xfrm flipH="1">
              <a:off x="2971153" y="4198628"/>
              <a:ext cx="835923" cy="791484"/>
            </a:xfrm>
            <a:prstGeom prst="cube">
              <a:avLst>
                <a:gd name="adj" fmla="val 31105"/>
              </a:avLst>
            </a:prstGeom>
            <a:solidFill>
              <a:srgbClr val="FFC000"/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kern="0">
                <a:solidFill>
                  <a:sysClr val="window" lastClr="FFFFFF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36" name="타원 35"/>
            <p:cNvSpPr/>
            <p:nvPr/>
          </p:nvSpPr>
          <p:spPr bwMode="auto">
            <a:xfrm>
              <a:off x="5775504" y="3882037"/>
              <a:ext cx="576522" cy="545720"/>
            </a:xfrm>
            <a:prstGeom prst="ellipse">
              <a:avLst/>
            </a:prstGeom>
            <a:gradFill flip="none" rotWithShape="1">
              <a:gsLst>
                <a:gs pos="0">
                  <a:sysClr val="window" lastClr="FFFFFF"/>
                </a:gs>
                <a:gs pos="25000">
                  <a:sysClr val="window" lastClr="FFFFFF">
                    <a:lumMod val="85000"/>
                  </a:sysClr>
                </a:gs>
                <a:gs pos="68000">
                  <a:sysClr val="window" lastClr="FFFFFF">
                    <a:lumMod val="50000"/>
                  </a:sysClr>
                </a:gs>
                <a:gs pos="100000">
                  <a:sysClr val="windowText" lastClr="000000">
                    <a:lumMod val="75000"/>
                    <a:lumOff val="25000"/>
                  </a:sysClr>
                </a:gs>
              </a:gsLst>
              <a:path path="circle">
                <a:fillToRect l="100000" b="100000"/>
              </a:path>
              <a:tileRect t="-100000" r="-100000"/>
            </a:gra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kern="0" dirty="0">
                  <a:solidFill>
                    <a:sysClr val="windowText" lastClr="000000"/>
                  </a:solidFill>
                  <a:latin typeface="맑은 고딕"/>
                  <a:ea typeface="맑은 고딕"/>
                </a:rPr>
                <a:t>?</a:t>
              </a:r>
              <a:endParaRPr kumimoji="0" lang="ko-KR" altLang="en-US" kern="0" dirty="0">
                <a:solidFill>
                  <a:sysClr val="windowText" lastClr="000000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37" name="타원 36"/>
            <p:cNvSpPr/>
            <p:nvPr/>
          </p:nvSpPr>
          <p:spPr bwMode="auto">
            <a:xfrm>
              <a:off x="5106578" y="3882037"/>
              <a:ext cx="576522" cy="545720"/>
            </a:xfrm>
            <a:prstGeom prst="ellipse">
              <a:avLst/>
            </a:prstGeom>
            <a:gradFill flip="none" rotWithShape="1">
              <a:gsLst>
                <a:gs pos="0">
                  <a:sysClr val="window" lastClr="FFFFFF"/>
                </a:gs>
                <a:gs pos="25000">
                  <a:sysClr val="window" lastClr="FFFFFF">
                    <a:lumMod val="85000"/>
                  </a:sysClr>
                </a:gs>
                <a:gs pos="68000">
                  <a:sysClr val="window" lastClr="FFFFFF">
                    <a:lumMod val="50000"/>
                  </a:sysClr>
                </a:gs>
                <a:gs pos="100000">
                  <a:sysClr val="windowText" lastClr="000000">
                    <a:lumMod val="75000"/>
                    <a:lumOff val="25000"/>
                  </a:sysClr>
                </a:gs>
              </a:gsLst>
              <a:path path="circle">
                <a:fillToRect l="100000" b="100000"/>
              </a:path>
              <a:tileRect t="-100000" r="-100000"/>
            </a:gra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kern="0" dirty="0">
                  <a:solidFill>
                    <a:sysClr val="windowText" lastClr="000000"/>
                  </a:solidFill>
                  <a:latin typeface="맑은 고딕"/>
                  <a:ea typeface="맑은 고딕"/>
                </a:rPr>
                <a:t>?</a:t>
              </a:r>
              <a:endParaRPr kumimoji="0" lang="ko-KR" altLang="en-US" sz="2400" kern="0" dirty="0">
                <a:solidFill>
                  <a:sysClr val="windowText" lastClr="000000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38" name="타원 37"/>
            <p:cNvSpPr/>
            <p:nvPr/>
          </p:nvSpPr>
          <p:spPr bwMode="auto">
            <a:xfrm>
              <a:off x="4437654" y="3882037"/>
              <a:ext cx="576522" cy="545720"/>
            </a:xfrm>
            <a:prstGeom prst="ellipse">
              <a:avLst/>
            </a:prstGeom>
            <a:gradFill flip="none" rotWithShape="1">
              <a:gsLst>
                <a:gs pos="0">
                  <a:sysClr val="window" lastClr="FFFFFF"/>
                </a:gs>
                <a:gs pos="25000">
                  <a:sysClr val="window" lastClr="FFFFFF">
                    <a:lumMod val="85000"/>
                  </a:sysClr>
                </a:gs>
                <a:gs pos="68000">
                  <a:sysClr val="window" lastClr="FFFFFF">
                    <a:lumMod val="50000"/>
                  </a:sysClr>
                </a:gs>
                <a:gs pos="100000">
                  <a:sysClr val="windowText" lastClr="000000">
                    <a:lumMod val="75000"/>
                    <a:lumOff val="25000"/>
                  </a:sysClr>
                </a:gs>
              </a:gsLst>
              <a:path path="circle">
                <a:fillToRect l="100000" b="100000"/>
              </a:path>
              <a:tileRect t="-100000" r="-100000"/>
            </a:gra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kern="0" dirty="0">
                  <a:solidFill>
                    <a:sysClr val="windowText" lastClr="000000"/>
                  </a:solidFill>
                  <a:latin typeface="맑은 고딕"/>
                  <a:ea typeface="맑은 고딕"/>
                </a:rPr>
                <a:t>?</a:t>
              </a:r>
              <a:endParaRPr kumimoji="0" lang="ko-KR" altLang="en-US" kern="0" dirty="0">
                <a:solidFill>
                  <a:sysClr val="windowText" lastClr="000000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39" name="타원 38"/>
            <p:cNvSpPr/>
            <p:nvPr/>
          </p:nvSpPr>
          <p:spPr bwMode="auto">
            <a:xfrm>
              <a:off x="3768729" y="3882037"/>
              <a:ext cx="576522" cy="545720"/>
            </a:xfrm>
            <a:prstGeom prst="ellipse">
              <a:avLst/>
            </a:prstGeom>
            <a:gradFill flip="none" rotWithShape="1">
              <a:gsLst>
                <a:gs pos="0">
                  <a:sysClr val="window" lastClr="FFFFFF"/>
                </a:gs>
                <a:gs pos="25000">
                  <a:sysClr val="window" lastClr="FFFFFF">
                    <a:lumMod val="85000"/>
                  </a:sysClr>
                </a:gs>
                <a:gs pos="68000">
                  <a:sysClr val="window" lastClr="FFFFFF">
                    <a:lumMod val="50000"/>
                  </a:sysClr>
                </a:gs>
                <a:gs pos="100000">
                  <a:sysClr val="windowText" lastClr="000000">
                    <a:lumMod val="75000"/>
                    <a:lumOff val="25000"/>
                  </a:sysClr>
                </a:gs>
              </a:gsLst>
              <a:path path="circle">
                <a:fillToRect l="100000" b="100000"/>
              </a:path>
              <a:tileRect t="-100000" r="-100000"/>
            </a:gra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kern="0" dirty="0">
                  <a:solidFill>
                    <a:sysClr val="windowText" lastClr="000000"/>
                  </a:solidFill>
                  <a:latin typeface="맑은 고딕"/>
                  <a:ea typeface="맑은 고딕"/>
                </a:rPr>
                <a:t>?</a:t>
              </a:r>
              <a:endParaRPr kumimoji="0" lang="ko-KR" altLang="en-US" kern="0" dirty="0">
                <a:solidFill>
                  <a:sysClr val="windowText" lastClr="000000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40" name="타원 39"/>
            <p:cNvSpPr/>
            <p:nvPr/>
          </p:nvSpPr>
          <p:spPr bwMode="auto">
            <a:xfrm>
              <a:off x="3099803" y="3882037"/>
              <a:ext cx="576522" cy="545720"/>
            </a:xfrm>
            <a:prstGeom prst="ellipse">
              <a:avLst/>
            </a:prstGeom>
            <a:gradFill flip="none" rotWithShape="1">
              <a:gsLst>
                <a:gs pos="0">
                  <a:sysClr val="window" lastClr="FFFFFF"/>
                </a:gs>
                <a:gs pos="25000">
                  <a:sysClr val="window" lastClr="FFFFFF">
                    <a:lumMod val="85000"/>
                  </a:sysClr>
                </a:gs>
                <a:gs pos="68000">
                  <a:sysClr val="window" lastClr="FFFFFF">
                    <a:lumMod val="50000"/>
                  </a:sysClr>
                </a:gs>
                <a:gs pos="100000">
                  <a:sysClr val="windowText" lastClr="000000">
                    <a:lumMod val="75000"/>
                    <a:lumOff val="25000"/>
                  </a:sysClr>
                </a:gs>
              </a:gsLst>
              <a:path path="circle">
                <a:fillToRect l="100000" b="100000"/>
              </a:path>
              <a:tileRect t="-100000" r="-100000"/>
            </a:gra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kern="0" dirty="0">
                  <a:solidFill>
                    <a:sysClr val="windowText" lastClr="000000"/>
                  </a:solidFill>
                  <a:latin typeface="맑은 고딕"/>
                  <a:ea typeface="맑은 고딕"/>
                </a:rPr>
                <a:t>?</a:t>
              </a:r>
              <a:endParaRPr kumimoji="0" lang="ko-KR" altLang="en-US" kern="0" dirty="0">
                <a:solidFill>
                  <a:sysClr val="windowText" lastClr="000000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41" name="타원 40"/>
            <p:cNvSpPr/>
            <p:nvPr/>
          </p:nvSpPr>
          <p:spPr bwMode="auto">
            <a:xfrm>
              <a:off x="2012801" y="3882035"/>
              <a:ext cx="576522" cy="545720"/>
            </a:xfrm>
            <a:prstGeom prst="ellipse">
              <a:avLst/>
            </a:prstGeom>
            <a:gradFill flip="none" rotWithShape="1">
              <a:gsLst>
                <a:gs pos="0">
                  <a:srgbClr val="03D4A8"/>
                </a:gs>
                <a:gs pos="25000">
                  <a:srgbClr val="21D6E0"/>
                </a:gs>
                <a:gs pos="68000">
                  <a:srgbClr val="0087E6"/>
                </a:gs>
                <a:gs pos="100000">
                  <a:srgbClr val="005CBF"/>
                </a:gs>
              </a:gsLst>
              <a:path path="circle">
                <a:fillToRect l="100000" b="100000"/>
              </a:path>
              <a:tileRect t="-100000" r="-100000"/>
            </a:gra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sz="2400" kern="0" dirty="0">
                <a:solidFill>
                  <a:sysClr val="window" lastClr="FFFFFF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42" name="원호 41"/>
            <p:cNvSpPr/>
            <p:nvPr/>
          </p:nvSpPr>
          <p:spPr bwMode="auto">
            <a:xfrm>
              <a:off x="2278949" y="3820936"/>
              <a:ext cx="753797" cy="666515"/>
            </a:xfrm>
            <a:prstGeom prst="arc">
              <a:avLst>
                <a:gd name="adj1" fmla="val 10753995"/>
                <a:gd name="adj2" fmla="val 20166804"/>
              </a:avLst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headEnd type="oval" w="med" len="med"/>
              <a:tailEnd type="triangle" w="med" len="med"/>
            </a:ln>
            <a:effectLst/>
          </p:spPr>
          <p:txBody>
            <a:bodyPr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kern="0">
                <a:solidFill>
                  <a:sysClr val="windowText" lastClr="000000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43" name="TextBox 89"/>
            <p:cNvSpPr txBox="1">
              <a:spLocks noChangeArrowheads="1"/>
            </p:cNvSpPr>
            <p:nvPr/>
          </p:nvSpPr>
          <p:spPr bwMode="auto">
            <a:xfrm>
              <a:off x="2301064" y="3276616"/>
              <a:ext cx="1375264" cy="4573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/>
              <a:r>
                <a:rPr lang="en-US" altLang="ko-KR" sz="1100">
                  <a:latin typeface="Lucida Calligraphy" pitchFamily="66" charset="0"/>
                </a:rPr>
                <a:t>malloc()</a:t>
              </a:r>
              <a:endParaRPr lang="ko-KR" altLang="en-US" sz="1100">
                <a:latin typeface="Lucida Calligraphy" pitchFamily="66" charset="0"/>
              </a:endParaRPr>
            </a:p>
          </p:txBody>
        </p:sp>
      </p:grpSp>
      <p:grpSp>
        <p:nvGrpSpPr>
          <p:cNvPr id="3" name="그룹 2"/>
          <p:cNvGrpSpPr/>
          <p:nvPr/>
        </p:nvGrpSpPr>
        <p:grpSpPr>
          <a:xfrm>
            <a:off x="1924050" y="5037292"/>
            <a:ext cx="4599044" cy="1716274"/>
            <a:chOff x="1924050" y="5037292"/>
            <a:chExt cx="4599044" cy="1716274"/>
          </a:xfrm>
        </p:grpSpPr>
        <p:sp>
          <p:nvSpPr>
            <p:cNvPr id="45" name="정육면체 44"/>
            <p:cNvSpPr/>
            <p:nvPr/>
          </p:nvSpPr>
          <p:spPr>
            <a:xfrm flipH="1">
              <a:off x="1924050" y="5962080"/>
              <a:ext cx="835924" cy="791486"/>
            </a:xfrm>
            <a:prstGeom prst="cube">
              <a:avLst>
                <a:gd name="adj" fmla="val 31105"/>
              </a:avLst>
            </a:prstGeom>
            <a:solidFill>
              <a:srgbClr val="4BACC6">
                <a:lumMod val="40000"/>
                <a:lumOff val="60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1400" kern="0" dirty="0">
                  <a:solidFill>
                    <a:sysClr val="windowText" lastClr="000000"/>
                  </a:solidFill>
                  <a:latin typeface="Lucida Calligraphy" pitchFamily="66" charset="0"/>
                  <a:ea typeface="맑은 고딕"/>
                </a:rPr>
                <a:t>p</a:t>
              </a:r>
              <a:endParaRPr kumimoji="0" lang="ko-KR" altLang="en-US" sz="1400" kern="0" dirty="0">
                <a:solidFill>
                  <a:sysClr val="windowText" lastClr="000000"/>
                </a:solidFill>
                <a:latin typeface="Lucida Calligraphy" pitchFamily="66" charset="0"/>
                <a:ea typeface="맑은 고딕"/>
              </a:endParaRPr>
            </a:p>
          </p:txBody>
        </p:sp>
        <p:sp>
          <p:nvSpPr>
            <p:cNvPr id="47" name="정육면체 46"/>
            <p:cNvSpPr/>
            <p:nvPr/>
          </p:nvSpPr>
          <p:spPr>
            <a:xfrm flipH="1">
              <a:off x="5687172" y="5962080"/>
              <a:ext cx="835922" cy="791486"/>
            </a:xfrm>
            <a:prstGeom prst="cube">
              <a:avLst>
                <a:gd name="adj" fmla="val 31105"/>
              </a:avLst>
            </a:prstGeom>
            <a:solidFill>
              <a:srgbClr val="FFC000"/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kern="0">
                <a:solidFill>
                  <a:sysClr val="window" lastClr="FFFFFF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48" name="정육면체 47"/>
            <p:cNvSpPr/>
            <p:nvPr/>
          </p:nvSpPr>
          <p:spPr>
            <a:xfrm flipH="1">
              <a:off x="5018433" y="5962080"/>
              <a:ext cx="835922" cy="791486"/>
            </a:xfrm>
            <a:prstGeom prst="cube">
              <a:avLst>
                <a:gd name="adj" fmla="val 31105"/>
              </a:avLst>
            </a:prstGeom>
            <a:solidFill>
              <a:srgbClr val="FFC000"/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kern="0">
                <a:solidFill>
                  <a:sysClr val="window" lastClr="FFFFFF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49" name="정육면체 48"/>
            <p:cNvSpPr/>
            <p:nvPr/>
          </p:nvSpPr>
          <p:spPr>
            <a:xfrm flipH="1">
              <a:off x="4349695" y="5962080"/>
              <a:ext cx="835922" cy="791486"/>
            </a:xfrm>
            <a:prstGeom prst="cube">
              <a:avLst>
                <a:gd name="adj" fmla="val 31105"/>
              </a:avLst>
            </a:prstGeom>
            <a:solidFill>
              <a:srgbClr val="FFC000"/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kern="0">
                <a:solidFill>
                  <a:sysClr val="window" lastClr="FFFFFF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50" name="정육면체 49"/>
            <p:cNvSpPr/>
            <p:nvPr/>
          </p:nvSpPr>
          <p:spPr>
            <a:xfrm flipH="1">
              <a:off x="3680956" y="5962080"/>
              <a:ext cx="835922" cy="791486"/>
            </a:xfrm>
            <a:prstGeom prst="cube">
              <a:avLst>
                <a:gd name="adj" fmla="val 31105"/>
              </a:avLst>
            </a:prstGeom>
            <a:solidFill>
              <a:srgbClr val="FFC000"/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kern="0">
                <a:solidFill>
                  <a:sysClr val="window" lastClr="FFFFFF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51" name="정육면체 50"/>
            <p:cNvSpPr/>
            <p:nvPr/>
          </p:nvSpPr>
          <p:spPr>
            <a:xfrm flipH="1">
              <a:off x="3009284" y="5962080"/>
              <a:ext cx="838856" cy="791486"/>
            </a:xfrm>
            <a:prstGeom prst="cube">
              <a:avLst>
                <a:gd name="adj" fmla="val 31105"/>
              </a:avLst>
            </a:prstGeom>
            <a:solidFill>
              <a:srgbClr val="FFC000"/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kern="0">
                <a:solidFill>
                  <a:sysClr val="window" lastClr="FFFFFF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52" name="타원 51"/>
            <p:cNvSpPr/>
            <p:nvPr/>
          </p:nvSpPr>
          <p:spPr>
            <a:xfrm>
              <a:off x="2052774" y="5644418"/>
              <a:ext cx="576754" cy="546094"/>
            </a:xfrm>
            <a:prstGeom prst="ellipse">
              <a:avLst/>
            </a:prstGeom>
            <a:gradFill flip="none" rotWithShape="1">
              <a:gsLst>
                <a:gs pos="0">
                  <a:srgbClr val="03D4A8"/>
                </a:gs>
                <a:gs pos="25000">
                  <a:srgbClr val="21D6E0"/>
                </a:gs>
                <a:gs pos="68000">
                  <a:srgbClr val="0087E6"/>
                </a:gs>
                <a:gs pos="100000">
                  <a:srgbClr val="005CBF"/>
                </a:gs>
              </a:gsLst>
              <a:path path="circle">
                <a:fillToRect l="100000" b="100000"/>
              </a:path>
              <a:tileRect t="-100000" r="-100000"/>
            </a:gra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sz="2400" kern="0" dirty="0">
                <a:solidFill>
                  <a:sysClr val="window" lastClr="FFFFFF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53" name="원호 52"/>
            <p:cNvSpPr/>
            <p:nvPr/>
          </p:nvSpPr>
          <p:spPr>
            <a:xfrm>
              <a:off x="2320015" y="5584388"/>
              <a:ext cx="750864" cy="663738"/>
            </a:xfrm>
            <a:prstGeom prst="arc">
              <a:avLst>
                <a:gd name="adj1" fmla="val 10753995"/>
                <a:gd name="adj2" fmla="val 20166804"/>
              </a:avLst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headEnd type="oval" w="med" len="med"/>
              <a:tailEnd type="triangle" w="med" len="med"/>
            </a:ln>
            <a:effectLst/>
          </p:spPr>
          <p:txBody>
            <a:bodyPr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kern="0">
                <a:solidFill>
                  <a:sysClr val="windowText" lastClr="000000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54" name="TextBox 53"/>
            <p:cNvSpPr txBox="1">
              <a:spLocks noChangeArrowheads="1"/>
            </p:cNvSpPr>
            <p:nvPr/>
          </p:nvSpPr>
          <p:spPr bwMode="auto">
            <a:xfrm>
              <a:off x="2340545" y="5037292"/>
              <a:ext cx="1375608" cy="4582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/>
              <a:r>
                <a:rPr lang="en-US" altLang="ko-KR" sz="1100">
                  <a:solidFill>
                    <a:srgbClr val="FF0000"/>
                  </a:solidFill>
                  <a:latin typeface="Lucida Calligraphy" pitchFamily="66" charset="0"/>
                </a:rPr>
                <a:t>calloc()</a:t>
              </a:r>
              <a:endParaRPr lang="ko-KR" altLang="en-US" sz="1100">
                <a:solidFill>
                  <a:srgbClr val="FF0000"/>
                </a:solidFill>
                <a:latin typeface="Lucida Calligraphy" pitchFamily="66" charset="0"/>
              </a:endParaRPr>
            </a:p>
          </p:txBody>
        </p:sp>
        <p:sp>
          <p:nvSpPr>
            <p:cNvPr id="56" name="타원 55"/>
            <p:cNvSpPr/>
            <p:nvPr/>
          </p:nvSpPr>
          <p:spPr bwMode="auto">
            <a:xfrm>
              <a:off x="5816990" y="5645163"/>
              <a:ext cx="576752" cy="545349"/>
            </a:xfrm>
            <a:prstGeom prst="ellipse">
              <a:avLst/>
            </a:prstGeom>
            <a:gradFill flip="none" rotWithShape="1">
              <a:gsLst>
                <a:gs pos="0">
                  <a:srgbClr val="FFF200"/>
                </a:gs>
                <a:gs pos="40000">
                  <a:srgbClr val="FF7A00">
                    <a:alpha val="98000"/>
                  </a:srgbClr>
                </a:gs>
                <a:gs pos="60000">
                  <a:srgbClr val="FF0300"/>
                </a:gs>
                <a:gs pos="100000">
                  <a:srgbClr val="4D0808">
                    <a:alpha val="80000"/>
                  </a:srgbClr>
                </a:gs>
              </a:gsLst>
              <a:path path="circle">
                <a:fillToRect l="100000" b="100000"/>
              </a:path>
              <a:tileRect t="-100000" r="-100000"/>
            </a:gra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kern="0" dirty="0">
                  <a:solidFill>
                    <a:sysClr val="window" lastClr="FFFFFF"/>
                  </a:solidFill>
                  <a:latin typeface="맑은 고딕"/>
                  <a:ea typeface="맑은 고딕"/>
                </a:rPr>
                <a:t>0</a:t>
              </a:r>
              <a:endParaRPr kumimoji="0" lang="ko-KR" altLang="en-US" kern="0" dirty="0">
                <a:solidFill>
                  <a:sysClr val="window" lastClr="FFFFFF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57" name="타원 56"/>
            <p:cNvSpPr/>
            <p:nvPr/>
          </p:nvSpPr>
          <p:spPr bwMode="auto">
            <a:xfrm>
              <a:off x="5147797" y="5645163"/>
              <a:ext cx="576752" cy="545349"/>
            </a:xfrm>
            <a:prstGeom prst="ellipse">
              <a:avLst/>
            </a:prstGeom>
            <a:gradFill flip="none" rotWithShape="1">
              <a:gsLst>
                <a:gs pos="0">
                  <a:srgbClr val="FFF200"/>
                </a:gs>
                <a:gs pos="40000">
                  <a:srgbClr val="FF7A00">
                    <a:alpha val="98000"/>
                  </a:srgbClr>
                </a:gs>
                <a:gs pos="60000">
                  <a:srgbClr val="FF0300"/>
                </a:gs>
                <a:gs pos="100000">
                  <a:srgbClr val="4D0808">
                    <a:alpha val="80000"/>
                  </a:srgbClr>
                </a:gs>
              </a:gsLst>
              <a:path path="circle">
                <a:fillToRect l="100000" b="100000"/>
              </a:path>
              <a:tileRect t="-100000" r="-100000"/>
            </a:gra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kern="0" dirty="0">
                  <a:solidFill>
                    <a:sysClr val="window" lastClr="FFFFFF"/>
                  </a:solidFill>
                  <a:latin typeface="맑은 고딕"/>
                  <a:ea typeface="맑은 고딕"/>
                </a:rPr>
                <a:t>0</a:t>
              </a:r>
              <a:endParaRPr kumimoji="0" lang="ko-KR" altLang="en-US" kern="0" dirty="0">
                <a:solidFill>
                  <a:sysClr val="window" lastClr="FFFFFF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58" name="타원 57"/>
            <p:cNvSpPr/>
            <p:nvPr/>
          </p:nvSpPr>
          <p:spPr bwMode="auto">
            <a:xfrm>
              <a:off x="4478602" y="5645163"/>
              <a:ext cx="576752" cy="545349"/>
            </a:xfrm>
            <a:prstGeom prst="ellipse">
              <a:avLst/>
            </a:prstGeom>
            <a:gradFill flip="none" rotWithShape="1">
              <a:gsLst>
                <a:gs pos="0">
                  <a:srgbClr val="FFF200"/>
                </a:gs>
                <a:gs pos="40000">
                  <a:srgbClr val="FF7A00">
                    <a:alpha val="98000"/>
                  </a:srgbClr>
                </a:gs>
                <a:gs pos="60000">
                  <a:srgbClr val="FF0300"/>
                </a:gs>
                <a:gs pos="100000">
                  <a:srgbClr val="4D0808">
                    <a:alpha val="80000"/>
                  </a:srgbClr>
                </a:gs>
              </a:gsLst>
              <a:path path="circle">
                <a:fillToRect l="100000" b="100000"/>
              </a:path>
              <a:tileRect t="-100000" r="-100000"/>
            </a:gra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kern="0" dirty="0">
                  <a:solidFill>
                    <a:sysClr val="window" lastClr="FFFFFF"/>
                  </a:solidFill>
                  <a:latin typeface="맑은 고딕"/>
                  <a:ea typeface="맑은 고딕"/>
                </a:rPr>
                <a:t>0</a:t>
              </a:r>
              <a:endParaRPr kumimoji="0" lang="ko-KR" altLang="en-US" sz="2400" kern="0" dirty="0">
                <a:solidFill>
                  <a:sysClr val="window" lastClr="FFFFFF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59" name="타원 58"/>
            <p:cNvSpPr/>
            <p:nvPr/>
          </p:nvSpPr>
          <p:spPr bwMode="auto">
            <a:xfrm>
              <a:off x="3809409" y="5645163"/>
              <a:ext cx="576752" cy="545349"/>
            </a:xfrm>
            <a:prstGeom prst="ellipse">
              <a:avLst/>
            </a:prstGeom>
            <a:gradFill flip="none" rotWithShape="1">
              <a:gsLst>
                <a:gs pos="0">
                  <a:srgbClr val="FFF200"/>
                </a:gs>
                <a:gs pos="40000">
                  <a:srgbClr val="FF7A00">
                    <a:alpha val="98000"/>
                  </a:srgbClr>
                </a:gs>
                <a:gs pos="60000">
                  <a:srgbClr val="FF0300"/>
                </a:gs>
                <a:gs pos="100000">
                  <a:srgbClr val="4D0808">
                    <a:alpha val="80000"/>
                  </a:srgbClr>
                </a:gs>
              </a:gsLst>
              <a:path path="circle">
                <a:fillToRect l="100000" b="100000"/>
              </a:path>
              <a:tileRect t="-100000" r="-100000"/>
            </a:gra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kern="0" dirty="0">
                  <a:solidFill>
                    <a:sysClr val="window" lastClr="FFFFFF"/>
                  </a:solidFill>
                  <a:latin typeface="맑은 고딕"/>
                  <a:ea typeface="맑은 고딕"/>
                </a:rPr>
                <a:t>0</a:t>
              </a:r>
              <a:endParaRPr kumimoji="0" lang="ko-KR" altLang="en-US" kern="0" dirty="0">
                <a:solidFill>
                  <a:sysClr val="window" lastClr="FFFFFF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60" name="타원 59"/>
            <p:cNvSpPr/>
            <p:nvPr/>
          </p:nvSpPr>
          <p:spPr bwMode="auto">
            <a:xfrm>
              <a:off x="3140218" y="5645163"/>
              <a:ext cx="576752" cy="545349"/>
            </a:xfrm>
            <a:prstGeom prst="ellipse">
              <a:avLst/>
            </a:prstGeom>
            <a:gradFill flip="none" rotWithShape="1">
              <a:gsLst>
                <a:gs pos="0">
                  <a:srgbClr val="FFF200"/>
                </a:gs>
                <a:gs pos="40000">
                  <a:srgbClr val="FF7A00">
                    <a:alpha val="98000"/>
                  </a:srgbClr>
                </a:gs>
                <a:gs pos="60000">
                  <a:srgbClr val="FF0300"/>
                </a:gs>
                <a:gs pos="100000">
                  <a:srgbClr val="4D0808">
                    <a:alpha val="80000"/>
                  </a:srgbClr>
                </a:gs>
              </a:gsLst>
              <a:path path="circle">
                <a:fillToRect l="100000" b="100000"/>
              </a:path>
              <a:tileRect t="-100000" r="-100000"/>
            </a:gra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kern="0" dirty="0">
                  <a:solidFill>
                    <a:sysClr val="window" lastClr="FFFFFF"/>
                  </a:solidFill>
                  <a:latin typeface="맑은 고딕"/>
                  <a:ea typeface="맑은 고딕"/>
                </a:rPr>
                <a:t>0</a:t>
              </a:r>
              <a:endParaRPr kumimoji="0" lang="ko-KR" altLang="en-US" kern="0" dirty="0">
                <a:solidFill>
                  <a:sysClr val="window" lastClr="FFFFFF"/>
                </a:solidFill>
                <a:latin typeface="맑은 고딕"/>
                <a:ea typeface="맑은 고딕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441118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122004" y="-155968"/>
            <a:ext cx="10515600" cy="1325563"/>
          </a:xfrm>
        </p:spPr>
        <p:txBody>
          <a:bodyPr/>
          <a:lstStyle/>
          <a:p>
            <a:r>
              <a:rPr lang="ko-KR" altLang="en-US" dirty="0" smtClean="0">
                <a:latin typeface="휴먼매직체" panose="02030504000101010101" pitchFamily="18" charset="-127"/>
                <a:ea typeface="휴먼매직체" panose="02030504000101010101" pitchFamily="18" charset="-127"/>
              </a:rPr>
              <a:t>동적 할당</a:t>
            </a:r>
            <a:endParaRPr lang="ko-KR" altLang="en-US" dirty="0">
              <a:latin typeface="휴먼매직체" panose="02030504000101010101" pitchFamily="18" charset="-127"/>
              <a:ea typeface="휴먼매직체" panose="02030504000101010101" pitchFamily="18" charset="-127"/>
            </a:endParaRPr>
          </a:p>
        </p:txBody>
      </p:sp>
      <p:grpSp>
        <p:nvGrpSpPr>
          <p:cNvPr id="14" name="그룹 13"/>
          <p:cNvGrpSpPr/>
          <p:nvPr/>
        </p:nvGrpSpPr>
        <p:grpSpPr>
          <a:xfrm>
            <a:off x="0" y="0"/>
            <a:ext cx="12268200" cy="2411413"/>
            <a:chOff x="0" y="-95250"/>
            <a:chExt cx="12268200" cy="2411413"/>
          </a:xfrm>
          <a:solidFill>
            <a:srgbClr val="99CC00">
              <a:alpha val="30196"/>
            </a:srgbClr>
          </a:solidFill>
        </p:grpSpPr>
        <p:sp>
          <p:nvSpPr>
            <p:cNvPr id="17" name="직사각형 16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8" name="직사각형 17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이등변 삼각형 18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직사각형 19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직사각형 20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직사각형 21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타원 22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타원 23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타원 24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6" name="내용 개체 틀 15">
            <a:extLst>
              <a:ext uri="{FF2B5EF4-FFF2-40B4-BE49-F238E27FC236}">
                <a16:creationId xmlns:a16="http://schemas.microsoft.com/office/drawing/2014/main" id="{0E2CF507-ED0B-4D43-A90C-762FD993E897}"/>
              </a:ext>
            </a:extLst>
          </p:cNvPr>
          <p:cNvSpPr txBox="1">
            <a:spLocks/>
          </p:cNvSpPr>
          <p:nvPr/>
        </p:nvSpPr>
        <p:spPr>
          <a:xfrm>
            <a:off x="1199637" y="1495081"/>
            <a:ext cx="10417346" cy="47380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b="1" dirty="0" err="1" smtClean="0"/>
              <a:t>realloc</a:t>
            </a:r>
            <a:r>
              <a:rPr lang="en-US" altLang="ko-KR" sz="2400" b="1" dirty="0" smtClean="0"/>
              <a:t> </a:t>
            </a:r>
            <a:r>
              <a:rPr lang="ko-KR" altLang="en-US" sz="2400" b="1" dirty="0" smtClean="0"/>
              <a:t>함수</a:t>
            </a:r>
            <a:endParaRPr lang="en-US" altLang="ko-KR" sz="2400" b="1" dirty="0" smtClean="0"/>
          </a:p>
          <a:p>
            <a:pPr lvl="1"/>
            <a:r>
              <a:rPr lang="ko-KR" altLang="en-US" b="1" dirty="0" smtClean="0"/>
              <a:t>이미 할당되어 있는 메모리 블록의 크기 변경</a:t>
            </a:r>
            <a:endParaRPr lang="en-US" altLang="ko-KR" b="1" dirty="0" smtClean="0"/>
          </a:p>
          <a:p>
            <a:pPr lvl="1"/>
            <a:endParaRPr lang="en-US" altLang="ko-KR" b="1" dirty="0"/>
          </a:p>
          <a:p>
            <a:pPr lvl="1"/>
            <a:r>
              <a:rPr lang="en-US" altLang="ko-KR" b="1" dirty="0" smtClean="0"/>
              <a:t>ex) score = </a:t>
            </a:r>
            <a:r>
              <a:rPr lang="en-US" altLang="ko-KR" b="1" dirty="0" err="1" smtClean="0"/>
              <a:t>realloc</a:t>
            </a:r>
            <a:r>
              <a:rPr lang="en-US" altLang="ko-KR" b="1" dirty="0" smtClean="0"/>
              <a:t>(score, 7 * </a:t>
            </a:r>
            <a:r>
              <a:rPr lang="en-US" altLang="ko-KR" b="1" dirty="0" err="1" smtClean="0"/>
              <a:t>sizeof</a:t>
            </a:r>
            <a:r>
              <a:rPr lang="en-US" altLang="ko-KR" b="1" dirty="0" smtClean="0"/>
              <a:t>(</a:t>
            </a:r>
            <a:r>
              <a:rPr lang="en-US" altLang="ko-KR" b="1" dirty="0" err="1" smtClean="0"/>
              <a:t>int</a:t>
            </a:r>
            <a:r>
              <a:rPr lang="en-US" altLang="ko-KR" b="1" dirty="0" smtClean="0"/>
              <a:t>));</a:t>
            </a:r>
            <a:endParaRPr lang="en-US" altLang="ko-KR" b="1" dirty="0"/>
          </a:p>
        </p:txBody>
      </p:sp>
      <p:grpSp>
        <p:nvGrpSpPr>
          <p:cNvPr id="3" name="그룹 2"/>
          <p:cNvGrpSpPr/>
          <p:nvPr/>
        </p:nvGrpSpPr>
        <p:grpSpPr>
          <a:xfrm>
            <a:off x="1771329" y="4957526"/>
            <a:ext cx="5950347" cy="1843642"/>
            <a:chOff x="1771329" y="4957526"/>
            <a:chExt cx="5950347" cy="1843642"/>
          </a:xfrm>
        </p:grpSpPr>
        <p:sp>
          <p:nvSpPr>
            <p:cNvPr id="63" name="정육면체 62"/>
            <p:cNvSpPr/>
            <p:nvPr/>
          </p:nvSpPr>
          <p:spPr>
            <a:xfrm flipH="1">
              <a:off x="6886282" y="5947962"/>
              <a:ext cx="835394" cy="853206"/>
            </a:xfrm>
            <a:prstGeom prst="cube">
              <a:avLst>
                <a:gd name="adj" fmla="val 31105"/>
              </a:avLst>
            </a:prstGeom>
            <a:solidFill>
              <a:srgbClr val="FFC000"/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kern="0">
                <a:solidFill>
                  <a:sysClr val="window" lastClr="FFFFFF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64" name="정육면체 63"/>
            <p:cNvSpPr/>
            <p:nvPr/>
          </p:nvSpPr>
          <p:spPr>
            <a:xfrm flipH="1">
              <a:off x="1771329" y="5947962"/>
              <a:ext cx="835393" cy="853206"/>
            </a:xfrm>
            <a:prstGeom prst="cube">
              <a:avLst>
                <a:gd name="adj" fmla="val 31105"/>
              </a:avLst>
            </a:prstGeom>
            <a:solidFill>
              <a:srgbClr val="4BACC6">
                <a:lumMod val="40000"/>
                <a:lumOff val="60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1400" kern="0" dirty="0">
                  <a:solidFill>
                    <a:sysClr val="windowText" lastClr="000000"/>
                  </a:solidFill>
                  <a:latin typeface="Lucida Calligraphy" pitchFamily="66" charset="0"/>
                  <a:ea typeface="맑은 고딕"/>
                </a:rPr>
                <a:t>p</a:t>
              </a:r>
              <a:endParaRPr kumimoji="0" lang="ko-KR" altLang="en-US" sz="1400" kern="0" dirty="0">
                <a:solidFill>
                  <a:sysClr val="windowText" lastClr="000000"/>
                </a:solidFill>
                <a:latin typeface="Lucida Calligraphy" pitchFamily="66" charset="0"/>
                <a:ea typeface="맑은 고딕"/>
              </a:endParaRPr>
            </a:p>
          </p:txBody>
        </p:sp>
        <p:sp>
          <p:nvSpPr>
            <p:cNvPr id="65" name="정육면체 64"/>
            <p:cNvSpPr/>
            <p:nvPr/>
          </p:nvSpPr>
          <p:spPr>
            <a:xfrm flipH="1">
              <a:off x="6203312" y="5947962"/>
              <a:ext cx="835393" cy="853206"/>
            </a:xfrm>
            <a:prstGeom prst="cube">
              <a:avLst>
                <a:gd name="adj" fmla="val 31105"/>
              </a:avLst>
            </a:prstGeom>
            <a:solidFill>
              <a:srgbClr val="FFC000"/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kern="0">
                <a:solidFill>
                  <a:sysClr val="window" lastClr="FFFFFF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66" name="정육면체 65"/>
            <p:cNvSpPr/>
            <p:nvPr/>
          </p:nvSpPr>
          <p:spPr>
            <a:xfrm flipH="1">
              <a:off x="5534997" y="5947962"/>
              <a:ext cx="835393" cy="853206"/>
            </a:xfrm>
            <a:prstGeom prst="cube">
              <a:avLst>
                <a:gd name="adj" fmla="val 31105"/>
              </a:avLst>
            </a:prstGeom>
            <a:solidFill>
              <a:srgbClr val="FFC000"/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kern="0">
                <a:solidFill>
                  <a:sysClr val="window" lastClr="FFFFFF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67" name="정육면체 66"/>
            <p:cNvSpPr/>
            <p:nvPr/>
          </p:nvSpPr>
          <p:spPr>
            <a:xfrm flipH="1">
              <a:off x="4863750" y="5947962"/>
              <a:ext cx="838325" cy="853206"/>
            </a:xfrm>
            <a:prstGeom prst="cube">
              <a:avLst>
                <a:gd name="adj" fmla="val 31105"/>
              </a:avLst>
            </a:prstGeom>
            <a:solidFill>
              <a:srgbClr val="FFC000"/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kern="0">
                <a:solidFill>
                  <a:sysClr val="window" lastClr="FFFFFF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68" name="정육면체 67"/>
            <p:cNvSpPr/>
            <p:nvPr/>
          </p:nvSpPr>
          <p:spPr>
            <a:xfrm flipH="1">
              <a:off x="4195435" y="5947962"/>
              <a:ext cx="835394" cy="853206"/>
            </a:xfrm>
            <a:prstGeom prst="cube">
              <a:avLst>
                <a:gd name="adj" fmla="val 31105"/>
              </a:avLst>
            </a:prstGeom>
            <a:solidFill>
              <a:srgbClr val="FFC000"/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kern="0">
                <a:solidFill>
                  <a:sysClr val="window" lastClr="FFFFFF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69" name="정육면체 68"/>
            <p:cNvSpPr/>
            <p:nvPr/>
          </p:nvSpPr>
          <p:spPr>
            <a:xfrm flipH="1">
              <a:off x="3527120" y="5947962"/>
              <a:ext cx="835394" cy="853206"/>
            </a:xfrm>
            <a:prstGeom prst="cube">
              <a:avLst>
                <a:gd name="adj" fmla="val 31105"/>
              </a:avLst>
            </a:prstGeom>
            <a:solidFill>
              <a:srgbClr val="FFC000"/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kern="0">
                <a:solidFill>
                  <a:sysClr val="window" lastClr="FFFFFF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70" name="정육면체 69"/>
            <p:cNvSpPr/>
            <p:nvPr/>
          </p:nvSpPr>
          <p:spPr>
            <a:xfrm flipH="1">
              <a:off x="2858805" y="5947962"/>
              <a:ext cx="835394" cy="853206"/>
            </a:xfrm>
            <a:prstGeom prst="cube">
              <a:avLst>
                <a:gd name="adj" fmla="val 31105"/>
              </a:avLst>
            </a:prstGeom>
            <a:solidFill>
              <a:srgbClr val="FFC000"/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kern="0">
                <a:solidFill>
                  <a:sysClr val="window" lastClr="FFFFFF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71" name="타원 70"/>
            <p:cNvSpPr/>
            <p:nvPr/>
          </p:nvSpPr>
          <p:spPr>
            <a:xfrm>
              <a:off x="1901631" y="5609019"/>
              <a:ext cx="576389" cy="586620"/>
            </a:xfrm>
            <a:prstGeom prst="ellipse">
              <a:avLst/>
            </a:prstGeom>
            <a:gradFill flip="none" rotWithShape="1">
              <a:gsLst>
                <a:gs pos="0">
                  <a:srgbClr val="03D4A8"/>
                </a:gs>
                <a:gs pos="25000">
                  <a:srgbClr val="21D6E0"/>
                </a:gs>
                <a:gs pos="68000">
                  <a:srgbClr val="0087E6"/>
                </a:gs>
                <a:gs pos="100000">
                  <a:srgbClr val="005CBF"/>
                </a:gs>
              </a:gsLst>
              <a:path path="circle">
                <a:fillToRect l="100000" b="100000"/>
              </a:path>
              <a:tileRect t="-100000" r="-100000"/>
            </a:gra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sz="2400" kern="0" dirty="0">
                <a:solidFill>
                  <a:sysClr val="window" lastClr="FFFFFF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72" name="원호 71"/>
            <p:cNvSpPr/>
            <p:nvPr/>
          </p:nvSpPr>
          <p:spPr>
            <a:xfrm>
              <a:off x="2167041" y="5545225"/>
              <a:ext cx="753321" cy="712993"/>
            </a:xfrm>
            <a:prstGeom prst="arc">
              <a:avLst>
                <a:gd name="adj1" fmla="val 10753995"/>
                <a:gd name="adj2" fmla="val 20166804"/>
              </a:avLst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headEnd type="oval" w="med" len="med"/>
              <a:tailEnd type="triangle" w="med" len="med"/>
            </a:ln>
            <a:effectLst/>
          </p:spPr>
          <p:txBody>
            <a:bodyPr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kern="0">
                <a:solidFill>
                  <a:sysClr val="windowText" lastClr="000000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73" name="TextBox 72"/>
            <p:cNvSpPr txBox="1">
              <a:spLocks noChangeArrowheads="1"/>
            </p:cNvSpPr>
            <p:nvPr/>
          </p:nvSpPr>
          <p:spPr bwMode="auto">
            <a:xfrm>
              <a:off x="2190490" y="4957526"/>
              <a:ext cx="1374736" cy="4916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/>
              <a:r>
                <a:rPr lang="en-US" altLang="ko-KR" sz="1100" dirty="0" err="1" smtClean="0">
                  <a:solidFill>
                    <a:srgbClr val="FF0000"/>
                  </a:solidFill>
                  <a:latin typeface="Lucida Calligraphy" pitchFamily="66" charset="0"/>
                </a:rPr>
                <a:t>realloc</a:t>
              </a:r>
              <a:r>
                <a:rPr lang="en-US" altLang="ko-KR" sz="1100" dirty="0">
                  <a:solidFill>
                    <a:srgbClr val="FF0000"/>
                  </a:solidFill>
                  <a:latin typeface="Lucida Calligraphy" pitchFamily="66" charset="0"/>
                </a:rPr>
                <a:t>()</a:t>
              </a:r>
              <a:endParaRPr lang="ko-KR" altLang="en-US" sz="1100" dirty="0">
                <a:solidFill>
                  <a:srgbClr val="FF0000"/>
                </a:solidFill>
                <a:latin typeface="Lucida Calligraphy" pitchFamily="66" charset="0"/>
              </a:endParaRPr>
            </a:p>
          </p:txBody>
        </p:sp>
        <p:sp>
          <p:nvSpPr>
            <p:cNvPr id="75" name="타원 74"/>
            <p:cNvSpPr/>
            <p:nvPr/>
          </p:nvSpPr>
          <p:spPr bwMode="auto">
            <a:xfrm>
              <a:off x="5663462" y="5609819"/>
              <a:ext cx="576387" cy="585820"/>
            </a:xfrm>
            <a:prstGeom prst="ellipse">
              <a:avLst/>
            </a:prstGeom>
            <a:gradFill flip="none" rotWithShape="1">
              <a:gsLst>
                <a:gs pos="0">
                  <a:srgbClr val="FFF200"/>
                </a:gs>
                <a:gs pos="40000">
                  <a:srgbClr val="FF7A00">
                    <a:alpha val="98000"/>
                  </a:srgbClr>
                </a:gs>
                <a:gs pos="60000">
                  <a:srgbClr val="FF0300"/>
                </a:gs>
                <a:gs pos="100000">
                  <a:srgbClr val="4D0808">
                    <a:alpha val="80000"/>
                  </a:srgbClr>
                </a:gs>
              </a:gsLst>
              <a:path path="circle">
                <a:fillToRect l="100000" b="100000"/>
              </a:path>
              <a:tileRect t="-100000" r="-100000"/>
            </a:gra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kern="0" dirty="0">
                  <a:solidFill>
                    <a:sysClr val="window" lastClr="FFFFFF"/>
                  </a:solidFill>
                  <a:latin typeface="맑은 고딕"/>
                  <a:ea typeface="맑은 고딕"/>
                </a:rPr>
                <a:t>2</a:t>
              </a:r>
              <a:endParaRPr kumimoji="0" lang="ko-KR" altLang="en-US" kern="0" dirty="0">
                <a:solidFill>
                  <a:sysClr val="window" lastClr="FFFFFF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76" name="타원 75"/>
            <p:cNvSpPr/>
            <p:nvPr/>
          </p:nvSpPr>
          <p:spPr bwMode="auto">
            <a:xfrm>
              <a:off x="4994693" y="5609819"/>
              <a:ext cx="576387" cy="585820"/>
            </a:xfrm>
            <a:prstGeom prst="ellipse">
              <a:avLst/>
            </a:prstGeom>
            <a:gradFill flip="none" rotWithShape="1">
              <a:gsLst>
                <a:gs pos="0">
                  <a:srgbClr val="FFF200"/>
                </a:gs>
                <a:gs pos="40000">
                  <a:srgbClr val="FF7A00">
                    <a:alpha val="98000"/>
                  </a:srgbClr>
                </a:gs>
                <a:gs pos="60000">
                  <a:srgbClr val="FF0300"/>
                </a:gs>
                <a:gs pos="100000">
                  <a:srgbClr val="4D0808">
                    <a:alpha val="80000"/>
                  </a:srgbClr>
                </a:gs>
              </a:gsLst>
              <a:path path="circle">
                <a:fillToRect l="100000" b="100000"/>
              </a:path>
              <a:tileRect t="-100000" r="-100000"/>
            </a:gra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kern="0" dirty="0">
                  <a:solidFill>
                    <a:sysClr val="window" lastClr="FFFFFF"/>
                  </a:solidFill>
                  <a:latin typeface="맑은 고딕"/>
                  <a:ea typeface="맑은 고딕"/>
                </a:rPr>
                <a:t>4</a:t>
              </a:r>
              <a:endParaRPr kumimoji="0" lang="ko-KR" altLang="en-US" kern="0" dirty="0">
                <a:solidFill>
                  <a:sysClr val="window" lastClr="FFFFFF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77" name="타원 76"/>
            <p:cNvSpPr/>
            <p:nvPr/>
          </p:nvSpPr>
          <p:spPr bwMode="auto">
            <a:xfrm>
              <a:off x="4325922" y="5609819"/>
              <a:ext cx="576387" cy="585820"/>
            </a:xfrm>
            <a:prstGeom prst="ellipse">
              <a:avLst/>
            </a:prstGeom>
            <a:gradFill flip="none" rotWithShape="1">
              <a:gsLst>
                <a:gs pos="0">
                  <a:srgbClr val="FFF200"/>
                </a:gs>
                <a:gs pos="40000">
                  <a:srgbClr val="FF7A00">
                    <a:alpha val="98000"/>
                  </a:srgbClr>
                </a:gs>
                <a:gs pos="60000">
                  <a:srgbClr val="FF0300"/>
                </a:gs>
                <a:gs pos="100000">
                  <a:srgbClr val="4D0808">
                    <a:alpha val="80000"/>
                  </a:srgbClr>
                </a:gs>
              </a:gsLst>
              <a:path path="circle">
                <a:fillToRect l="100000" b="100000"/>
              </a:path>
              <a:tileRect t="-100000" r="-100000"/>
            </a:gra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kern="0" dirty="0">
                  <a:solidFill>
                    <a:sysClr val="window" lastClr="FFFFFF"/>
                  </a:solidFill>
                  <a:latin typeface="맑은 고딕"/>
                  <a:ea typeface="맑은 고딕"/>
                </a:rPr>
                <a:t>7</a:t>
              </a:r>
              <a:endParaRPr kumimoji="0" lang="ko-KR" altLang="en-US" sz="2400" kern="0" dirty="0">
                <a:solidFill>
                  <a:sysClr val="window" lastClr="FFFFFF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78" name="타원 77"/>
            <p:cNvSpPr/>
            <p:nvPr/>
          </p:nvSpPr>
          <p:spPr bwMode="auto">
            <a:xfrm>
              <a:off x="3657153" y="5609819"/>
              <a:ext cx="576387" cy="585820"/>
            </a:xfrm>
            <a:prstGeom prst="ellipse">
              <a:avLst/>
            </a:prstGeom>
            <a:gradFill flip="none" rotWithShape="1">
              <a:gsLst>
                <a:gs pos="0">
                  <a:srgbClr val="FFF200"/>
                </a:gs>
                <a:gs pos="40000">
                  <a:srgbClr val="FF7A00">
                    <a:alpha val="98000"/>
                  </a:srgbClr>
                </a:gs>
                <a:gs pos="60000">
                  <a:srgbClr val="FF0300"/>
                </a:gs>
                <a:gs pos="100000">
                  <a:srgbClr val="4D0808">
                    <a:alpha val="80000"/>
                  </a:srgbClr>
                </a:gs>
              </a:gsLst>
              <a:path path="circle">
                <a:fillToRect l="100000" b="100000"/>
              </a:path>
              <a:tileRect t="-100000" r="-100000"/>
            </a:gra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kern="0" dirty="0">
                  <a:solidFill>
                    <a:sysClr val="window" lastClr="FFFFFF"/>
                  </a:solidFill>
                  <a:latin typeface="맑은 고딕"/>
                  <a:ea typeface="맑은 고딕"/>
                </a:rPr>
                <a:t>5</a:t>
              </a:r>
              <a:endParaRPr kumimoji="0" lang="ko-KR" altLang="en-US" kern="0" dirty="0">
                <a:solidFill>
                  <a:sysClr val="window" lastClr="FFFFFF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79" name="타원 78"/>
            <p:cNvSpPr/>
            <p:nvPr/>
          </p:nvSpPr>
          <p:spPr bwMode="auto">
            <a:xfrm>
              <a:off x="2988386" y="5609819"/>
              <a:ext cx="576387" cy="585820"/>
            </a:xfrm>
            <a:prstGeom prst="ellipse">
              <a:avLst/>
            </a:prstGeom>
            <a:gradFill flip="none" rotWithShape="1">
              <a:gsLst>
                <a:gs pos="0">
                  <a:srgbClr val="FFF200"/>
                </a:gs>
                <a:gs pos="40000">
                  <a:srgbClr val="FF7A00">
                    <a:alpha val="98000"/>
                  </a:srgbClr>
                </a:gs>
                <a:gs pos="60000">
                  <a:srgbClr val="FF0300"/>
                </a:gs>
                <a:gs pos="100000">
                  <a:srgbClr val="4D0808">
                    <a:alpha val="80000"/>
                  </a:srgbClr>
                </a:gs>
              </a:gsLst>
              <a:path path="circle">
                <a:fillToRect l="100000" b="100000"/>
              </a:path>
              <a:tileRect t="-100000" r="-100000"/>
            </a:gra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kern="0" dirty="0">
                  <a:solidFill>
                    <a:sysClr val="window" lastClr="FFFFFF"/>
                  </a:solidFill>
                  <a:latin typeface="맑은 고딕"/>
                  <a:ea typeface="맑은 고딕"/>
                </a:rPr>
                <a:t>1</a:t>
              </a:r>
              <a:endParaRPr kumimoji="0" lang="ko-KR" altLang="en-US" kern="0" dirty="0">
                <a:solidFill>
                  <a:sysClr val="window" lastClr="FFFFFF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80" name="타원 79"/>
            <p:cNvSpPr/>
            <p:nvPr/>
          </p:nvSpPr>
          <p:spPr>
            <a:xfrm>
              <a:off x="7034168" y="5609819"/>
              <a:ext cx="576389" cy="586620"/>
            </a:xfrm>
            <a:prstGeom prst="ellipse">
              <a:avLst/>
            </a:prstGeom>
            <a:gradFill flip="none" rotWithShape="1">
              <a:gsLst>
                <a:gs pos="0">
                  <a:sysClr val="window" lastClr="FFFFFF"/>
                </a:gs>
                <a:gs pos="25000">
                  <a:sysClr val="window" lastClr="FFFFFF">
                    <a:lumMod val="85000"/>
                  </a:sysClr>
                </a:gs>
                <a:gs pos="68000">
                  <a:sysClr val="window" lastClr="FFFFFF">
                    <a:lumMod val="50000"/>
                  </a:sysClr>
                </a:gs>
                <a:gs pos="100000">
                  <a:sysClr val="windowText" lastClr="000000">
                    <a:lumMod val="75000"/>
                    <a:lumOff val="25000"/>
                  </a:sysClr>
                </a:gs>
              </a:gsLst>
              <a:path path="circle">
                <a:fillToRect l="100000" b="100000"/>
              </a:path>
              <a:tileRect t="-100000" r="-100000"/>
            </a:gra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kern="0" dirty="0">
                  <a:solidFill>
                    <a:sysClr val="windowText" lastClr="000000"/>
                  </a:solidFill>
                  <a:latin typeface="맑은 고딕"/>
                  <a:ea typeface="맑은 고딕"/>
                </a:rPr>
                <a:t>?</a:t>
              </a:r>
              <a:endParaRPr kumimoji="0" lang="ko-KR" altLang="en-US" sz="2400" kern="0" dirty="0">
                <a:solidFill>
                  <a:sysClr val="windowText" lastClr="000000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81" name="타원 80"/>
            <p:cNvSpPr/>
            <p:nvPr/>
          </p:nvSpPr>
          <p:spPr>
            <a:xfrm>
              <a:off x="6365397" y="5609819"/>
              <a:ext cx="576389" cy="586620"/>
            </a:xfrm>
            <a:prstGeom prst="ellipse">
              <a:avLst/>
            </a:prstGeom>
            <a:gradFill flip="none" rotWithShape="1">
              <a:gsLst>
                <a:gs pos="0">
                  <a:sysClr val="window" lastClr="FFFFFF"/>
                </a:gs>
                <a:gs pos="25000">
                  <a:sysClr val="window" lastClr="FFFFFF">
                    <a:lumMod val="85000"/>
                  </a:sysClr>
                </a:gs>
                <a:gs pos="68000">
                  <a:sysClr val="window" lastClr="FFFFFF">
                    <a:lumMod val="50000"/>
                  </a:sysClr>
                </a:gs>
                <a:gs pos="100000">
                  <a:sysClr val="windowText" lastClr="000000">
                    <a:lumMod val="75000"/>
                    <a:lumOff val="25000"/>
                  </a:sysClr>
                </a:gs>
              </a:gsLst>
              <a:path path="circle">
                <a:fillToRect l="100000" b="100000"/>
              </a:path>
              <a:tileRect t="-100000" r="-100000"/>
            </a:gra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kern="0" dirty="0">
                  <a:solidFill>
                    <a:sysClr val="windowText" lastClr="000000"/>
                  </a:solidFill>
                  <a:latin typeface="맑은 고딕"/>
                  <a:ea typeface="맑은 고딕"/>
                </a:rPr>
                <a:t>?</a:t>
              </a:r>
              <a:endParaRPr kumimoji="0" lang="ko-KR" altLang="en-US" sz="2400" kern="0" dirty="0">
                <a:solidFill>
                  <a:sysClr val="windowText" lastClr="000000"/>
                </a:solidFill>
                <a:latin typeface="맑은 고딕"/>
                <a:ea typeface="맑은 고딕"/>
              </a:endParaRPr>
            </a:p>
          </p:txBody>
        </p:sp>
      </p:grpSp>
      <p:grpSp>
        <p:nvGrpSpPr>
          <p:cNvPr id="2" name="그룹 1"/>
          <p:cNvGrpSpPr/>
          <p:nvPr/>
        </p:nvGrpSpPr>
        <p:grpSpPr>
          <a:xfrm>
            <a:off x="1771329" y="3136557"/>
            <a:ext cx="4599060" cy="1840660"/>
            <a:chOff x="1771329" y="3136557"/>
            <a:chExt cx="4599060" cy="1840660"/>
          </a:xfrm>
        </p:grpSpPr>
        <p:sp>
          <p:nvSpPr>
            <p:cNvPr id="83" name="정육면체 82"/>
            <p:cNvSpPr/>
            <p:nvPr/>
          </p:nvSpPr>
          <p:spPr bwMode="auto">
            <a:xfrm flipH="1">
              <a:off x="1771329" y="4126993"/>
              <a:ext cx="835392" cy="850224"/>
            </a:xfrm>
            <a:prstGeom prst="cube">
              <a:avLst>
                <a:gd name="adj" fmla="val 31105"/>
              </a:avLst>
            </a:prstGeom>
            <a:solidFill>
              <a:srgbClr val="4BACC6">
                <a:lumMod val="40000"/>
                <a:lumOff val="60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1400" kern="0" dirty="0">
                  <a:solidFill>
                    <a:sysClr val="windowText" lastClr="000000"/>
                  </a:solidFill>
                  <a:latin typeface="Lucida Calligraphy" pitchFamily="66" charset="0"/>
                  <a:ea typeface="맑은 고딕"/>
                </a:rPr>
                <a:t>p</a:t>
              </a:r>
              <a:endParaRPr kumimoji="0" lang="ko-KR" altLang="en-US" sz="1400" kern="0" dirty="0">
                <a:solidFill>
                  <a:sysClr val="windowText" lastClr="000000"/>
                </a:solidFill>
                <a:latin typeface="Lucida Calligraphy" pitchFamily="66" charset="0"/>
                <a:ea typeface="맑은 고딕"/>
              </a:endParaRPr>
            </a:p>
          </p:txBody>
        </p:sp>
        <p:sp>
          <p:nvSpPr>
            <p:cNvPr id="85" name="정육면체 84"/>
            <p:cNvSpPr/>
            <p:nvPr/>
          </p:nvSpPr>
          <p:spPr bwMode="auto">
            <a:xfrm flipH="1">
              <a:off x="5534997" y="4126993"/>
              <a:ext cx="835392" cy="850224"/>
            </a:xfrm>
            <a:prstGeom prst="cube">
              <a:avLst>
                <a:gd name="adj" fmla="val 31105"/>
              </a:avLst>
            </a:prstGeom>
            <a:solidFill>
              <a:srgbClr val="FFC000"/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kern="0">
                <a:solidFill>
                  <a:sysClr val="window" lastClr="FFFFFF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86" name="정육면체 85"/>
            <p:cNvSpPr/>
            <p:nvPr/>
          </p:nvSpPr>
          <p:spPr bwMode="auto">
            <a:xfrm flipH="1">
              <a:off x="4863749" y="4126993"/>
              <a:ext cx="838325" cy="850224"/>
            </a:xfrm>
            <a:prstGeom prst="cube">
              <a:avLst>
                <a:gd name="adj" fmla="val 31105"/>
              </a:avLst>
            </a:prstGeom>
            <a:solidFill>
              <a:srgbClr val="FFC000"/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kern="0">
                <a:solidFill>
                  <a:sysClr val="window" lastClr="FFFFFF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87" name="정육면체 86"/>
            <p:cNvSpPr/>
            <p:nvPr/>
          </p:nvSpPr>
          <p:spPr bwMode="auto">
            <a:xfrm flipH="1">
              <a:off x="4195435" y="4126993"/>
              <a:ext cx="835394" cy="850224"/>
            </a:xfrm>
            <a:prstGeom prst="cube">
              <a:avLst>
                <a:gd name="adj" fmla="val 31105"/>
              </a:avLst>
            </a:prstGeom>
            <a:solidFill>
              <a:srgbClr val="FFC000"/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kern="0">
                <a:solidFill>
                  <a:sysClr val="window" lastClr="FFFFFF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88" name="정육면체 87"/>
            <p:cNvSpPr/>
            <p:nvPr/>
          </p:nvSpPr>
          <p:spPr bwMode="auto">
            <a:xfrm flipH="1">
              <a:off x="3527120" y="4126993"/>
              <a:ext cx="835394" cy="850224"/>
            </a:xfrm>
            <a:prstGeom prst="cube">
              <a:avLst>
                <a:gd name="adj" fmla="val 31105"/>
              </a:avLst>
            </a:prstGeom>
            <a:solidFill>
              <a:srgbClr val="FFC000"/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kern="0">
                <a:solidFill>
                  <a:sysClr val="window" lastClr="FFFFFF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89" name="정육면체 88"/>
            <p:cNvSpPr/>
            <p:nvPr/>
          </p:nvSpPr>
          <p:spPr bwMode="auto">
            <a:xfrm flipH="1">
              <a:off x="2858805" y="4126993"/>
              <a:ext cx="835394" cy="850224"/>
            </a:xfrm>
            <a:prstGeom prst="cube">
              <a:avLst>
                <a:gd name="adj" fmla="val 31105"/>
              </a:avLst>
            </a:prstGeom>
            <a:solidFill>
              <a:srgbClr val="FFC000"/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kern="0">
                <a:solidFill>
                  <a:sysClr val="window" lastClr="FFFFFF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90" name="타원 89"/>
            <p:cNvSpPr/>
            <p:nvPr/>
          </p:nvSpPr>
          <p:spPr bwMode="auto">
            <a:xfrm>
              <a:off x="1901135" y="3786906"/>
              <a:ext cx="576478" cy="586220"/>
            </a:xfrm>
            <a:prstGeom prst="ellipse">
              <a:avLst/>
            </a:prstGeom>
            <a:gradFill flip="none" rotWithShape="1">
              <a:gsLst>
                <a:gs pos="0">
                  <a:srgbClr val="03D4A8"/>
                </a:gs>
                <a:gs pos="25000">
                  <a:srgbClr val="21D6E0"/>
                </a:gs>
                <a:gs pos="68000">
                  <a:srgbClr val="0087E6"/>
                </a:gs>
                <a:gs pos="100000">
                  <a:srgbClr val="005CBF"/>
                </a:gs>
              </a:gsLst>
              <a:path path="circle">
                <a:fillToRect l="100000" b="100000"/>
              </a:path>
              <a:tileRect t="-100000" r="-100000"/>
            </a:gra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sz="2400" kern="0" dirty="0">
                <a:solidFill>
                  <a:sysClr val="window" lastClr="FFFFFF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91" name="원호 90"/>
            <p:cNvSpPr/>
            <p:nvPr/>
          </p:nvSpPr>
          <p:spPr bwMode="auto">
            <a:xfrm>
              <a:off x="2167041" y="3721273"/>
              <a:ext cx="753321" cy="715977"/>
            </a:xfrm>
            <a:prstGeom prst="arc">
              <a:avLst>
                <a:gd name="adj1" fmla="val 10753995"/>
                <a:gd name="adj2" fmla="val 20166804"/>
              </a:avLst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headEnd type="oval" w="med" len="med"/>
              <a:tailEnd type="triangle" w="med" len="med"/>
            </a:ln>
            <a:effectLst/>
          </p:spPr>
          <p:txBody>
            <a:bodyPr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kern="0">
                <a:solidFill>
                  <a:sysClr val="windowText" lastClr="000000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92" name="TextBox 176"/>
            <p:cNvSpPr txBox="1">
              <a:spLocks noChangeArrowheads="1"/>
            </p:cNvSpPr>
            <p:nvPr/>
          </p:nvSpPr>
          <p:spPr bwMode="auto">
            <a:xfrm>
              <a:off x="2189375" y="3136557"/>
              <a:ext cx="1375157" cy="4912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/>
              <a:r>
                <a:rPr lang="en-US" altLang="ko-KR" sz="1100">
                  <a:latin typeface="Lucida Calligraphy" pitchFamily="66" charset="0"/>
                </a:rPr>
                <a:t>malloc()</a:t>
              </a:r>
              <a:endParaRPr lang="ko-KR" altLang="en-US" sz="1100">
                <a:latin typeface="Lucida Calligraphy" pitchFamily="66" charset="0"/>
              </a:endParaRPr>
            </a:p>
          </p:txBody>
        </p:sp>
        <p:sp>
          <p:nvSpPr>
            <p:cNvPr id="94" name="타원 93"/>
            <p:cNvSpPr/>
            <p:nvPr/>
          </p:nvSpPr>
          <p:spPr bwMode="auto">
            <a:xfrm>
              <a:off x="5663547" y="3764983"/>
              <a:ext cx="576476" cy="585420"/>
            </a:xfrm>
            <a:prstGeom prst="ellipse">
              <a:avLst/>
            </a:prstGeom>
            <a:gradFill flip="none" rotWithShape="1">
              <a:gsLst>
                <a:gs pos="0">
                  <a:srgbClr val="FFF200"/>
                </a:gs>
                <a:gs pos="40000">
                  <a:srgbClr val="FF7A00">
                    <a:alpha val="98000"/>
                  </a:srgbClr>
                </a:gs>
                <a:gs pos="60000">
                  <a:srgbClr val="FF0300"/>
                </a:gs>
                <a:gs pos="100000">
                  <a:srgbClr val="4D0808">
                    <a:alpha val="80000"/>
                  </a:srgbClr>
                </a:gs>
              </a:gsLst>
              <a:path path="circle">
                <a:fillToRect l="100000" b="100000"/>
              </a:path>
              <a:tileRect t="-100000" r="-100000"/>
            </a:gra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kern="0" dirty="0">
                  <a:solidFill>
                    <a:sysClr val="window" lastClr="FFFFFF"/>
                  </a:solidFill>
                  <a:latin typeface="맑은 고딕"/>
                  <a:ea typeface="맑은 고딕"/>
                </a:rPr>
                <a:t>2</a:t>
              </a:r>
              <a:endParaRPr kumimoji="0" lang="ko-KR" altLang="en-US" kern="0" dirty="0">
                <a:solidFill>
                  <a:sysClr val="window" lastClr="FFFFFF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95" name="타원 94"/>
            <p:cNvSpPr/>
            <p:nvPr/>
          </p:nvSpPr>
          <p:spPr bwMode="auto">
            <a:xfrm>
              <a:off x="4994674" y="3764983"/>
              <a:ext cx="576476" cy="585420"/>
            </a:xfrm>
            <a:prstGeom prst="ellipse">
              <a:avLst/>
            </a:prstGeom>
            <a:gradFill flip="none" rotWithShape="1">
              <a:gsLst>
                <a:gs pos="0">
                  <a:srgbClr val="FFF200"/>
                </a:gs>
                <a:gs pos="40000">
                  <a:srgbClr val="FF7A00">
                    <a:alpha val="98000"/>
                  </a:srgbClr>
                </a:gs>
                <a:gs pos="60000">
                  <a:srgbClr val="FF0300"/>
                </a:gs>
                <a:gs pos="100000">
                  <a:srgbClr val="4D0808">
                    <a:alpha val="80000"/>
                  </a:srgbClr>
                </a:gs>
              </a:gsLst>
              <a:path path="circle">
                <a:fillToRect l="100000" b="100000"/>
              </a:path>
              <a:tileRect t="-100000" r="-100000"/>
            </a:gra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kern="0" dirty="0">
                  <a:solidFill>
                    <a:sysClr val="window" lastClr="FFFFFF"/>
                  </a:solidFill>
                  <a:latin typeface="맑은 고딕"/>
                  <a:ea typeface="맑은 고딕"/>
                </a:rPr>
                <a:t>4</a:t>
              </a:r>
              <a:endParaRPr kumimoji="0" lang="ko-KR" altLang="en-US" kern="0" dirty="0">
                <a:solidFill>
                  <a:sysClr val="window" lastClr="FFFFFF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96" name="타원 95"/>
            <p:cNvSpPr/>
            <p:nvPr/>
          </p:nvSpPr>
          <p:spPr bwMode="auto">
            <a:xfrm>
              <a:off x="4325800" y="3764983"/>
              <a:ext cx="576476" cy="585420"/>
            </a:xfrm>
            <a:prstGeom prst="ellipse">
              <a:avLst/>
            </a:prstGeom>
            <a:gradFill flip="none" rotWithShape="1">
              <a:gsLst>
                <a:gs pos="0">
                  <a:srgbClr val="FFF200"/>
                </a:gs>
                <a:gs pos="40000">
                  <a:srgbClr val="FF7A00">
                    <a:alpha val="98000"/>
                  </a:srgbClr>
                </a:gs>
                <a:gs pos="60000">
                  <a:srgbClr val="FF0300"/>
                </a:gs>
                <a:gs pos="100000">
                  <a:srgbClr val="4D0808">
                    <a:alpha val="80000"/>
                  </a:srgbClr>
                </a:gs>
              </a:gsLst>
              <a:path path="circle">
                <a:fillToRect l="100000" b="100000"/>
              </a:path>
              <a:tileRect t="-100000" r="-100000"/>
            </a:gra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kern="0" dirty="0">
                  <a:solidFill>
                    <a:sysClr val="window" lastClr="FFFFFF"/>
                  </a:solidFill>
                  <a:latin typeface="맑은 고딕"/>
                  <a:ea typeface="맑은 고딕"/>
                </a:rPr>
                <a:t>7</a:t>
              </a:r>
              <a:endParaRPr kumimoji="0" lang="ko-KR" altLang="en-US" sz="2400" kern="0" dirty="0">
                <a:solidFill>
                  <a:sysClr val="window" lastClr="FFFFFF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97" name="타원 96"/>
            <p:cNvSpPr/>
            <p:nvPr/>
          </p:nvSpPr>
          <p:spPr bwMode="auto">
            <a:xfrm>
              <a:off x="3656927" y="3764983"/>
              <a:ext cx="576476" cy="585420"/>
            </a:xfrm>
            <a:prstGeom prst="ellipse">
              <a:avLst/>
            </a:prstGeom>
            <a:gradFill flip="none" rotWithShape="1">
              <a:gsLst>
                <a:gs pos="0">
                  <a:srgbClr val="FFF200"/>
                </a:gs>
                <a:gs pos="40000">
                  <a:srgbClr val="FF7A00">
                    <a:alpha val="98000"/>
                  </a:srgbClr>
                </a:gs>
                <a:gs pos="60000">
                  <a:srgbClr val="FF0300"/>
                </a:gs>
                <a:gs pos="100000">
                  <a:srgbClr val="4D0808">
                    <a:alpha val="80000"/>
                  </a:srgbClr>
                </a:gs>
              </a:gsLst>
              <a:path path="circle">
                <a:fillToRect l="100000" b="100000"/>
              </a:path>
              <a:tileRect t="-100000" r="-100000"/>
            </a:gra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kern="0" dirty="0">
                  <a:solidFill>
                    <a:sysClr val="window" lastClr="FFFFFF"/>
                  </a:solidFill>
                  <a:latin typeface="맑은 고딕"/>
                  <a:ea typeface="맑은 고딕"/>
                </a:rPr>
                <a:t>5</a:t>
              </a:r>
              <a:endParaRPr kumimoji="0" lang="ko-KR" altLang="en-US" kern="0" dirty="0">
                <a:solidFill>
                  <a:sysClr val="window" lastClr="FFFFFF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98" name="타원 97"/>
            <p:cNvSpPr/>
            <p:nvPr/>
          </p:nvSpPr>
          <p:spPr bwMode="auto">
            <a:xfrm>
              <a:off x="2988057" y="3764983"/>
              <a:ext cx="576476" cy="585420"/>
            </a:xfrm>
            <a:prstGeom prst="ellipse">
              <a:avLst/>
            </a:prstGeom>
            <a:gradFill flip="none" rotWithShape="1">
              <a:gsLst>
                <a:gs pos="0">
                  <a:srgbClr val="FFF200"/>
                </a:gs>
                <a:gs pos="40000">
                  <a:srgbClr val="FF7A00">
                    <a:alpha val="98000"/>
                  </a:srgbClr>
                </a:gs>
                <a:gs pos="60000">
                  <a:srgbClr val="FF0300"/>
                </a:gs>
                <a:gs pos="100000">
                  <a:srgbClr val="4D0808">
                    <a:alpha val="80000"/>
                  </a:srgbClr>
                </a:gs>
              </a:gsLst>
              <a:path path="circle">
                <a:fillToRect l="100000" b="100000"/>
              </a:path>
              <a:tileRect t="-100000" r="-100000"/>
            </a:gra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kern="0" dirty="0">
                  <a:solidFill>
                    <a:sysClr val="window" lastClr="FFFFFF"/>
                  </a:solidFill>
                  <a:latin typeface="맑은 고딕"/>
                  <a:ea typeface="맑은 고딕"/>
                </a:rPr>
                <a:t>1</a:t>
              </a:r>
              <a:endParaRPr kumimoji="0" lang="ko-KR" altLang="en-US" kern="0" dirty="0">
                <a:solidFill>
                  <a:sysClr val="window" lastClr="FFFFFF"/>
                </a:solidFill>
                <a:latin typeface="맑은 고딕"/>
                <a:ea typeface="맑은 고딕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852647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122004" y="-155968"/>
            <a:ext cx="10515600" cy="1325563"/>
          </a:xfrm>
        </p:spPr>
        <p:txBody>
          <a:bodyPr/>
          <a:lstStyle/>
          <a:p>
            <a:r>
              <a:rPr lang="ko-KR" altLang="en-US" dirty="0" smtClean="0">
                <a:latin typeface="휴먼매직체" panose="02030504000101010101" pitchFamily="18" charset="-127"/>
                <a:ea typeface="휴먼매직체" panose="02030504000101010101" pitchFamily="18" charset="-127"/>
              </a:rPr>
              <a:t>구조체</a:t>
            </a:r>
            <a:endParaRPr lang="ko-KR" altLang="en-US" dirty="0">
              <a:latin typeface="휴먼매직체" panose="02030504000101010101" pitchFamily="18" charset="-127"/>
              <a:ea typeface="휴먼매직체" panose="02030504000101010101" pitchFamily="18" charset="-127"/>
            </a:endParaRPr>
          </a:p>
        </p:txBody>
      </p:sp>
      <p:grpSp>
        <p:nvGrpSpPr>
          <p:cNvPr id="14" name="그룹 13"/>
          <p:cNvGrpSpPr/>
          <p:nvPr/>
        </p:nvGrpSpPr>
        <p:grpSpPr>
          <a:xfrm>
            <a:off x="0" y="12166"/>
            <a:ext cx="12268200" cy="2411413"/>
            <a:chOff x="0" y="-95250"/>
            <a:chExt cx="12268200" cy="2411413"/>
          </a:xfrm>
          <a:solidFill>
            <a:srgbClr val="99CC00">
              <a:alpha val="30196"/>
            </a:srgbClr>
          </a:solidFill>
        </p:grpSpPr>
        <p:sp>
          <p:nvSpPr>
            <p:cNvPr id="17" name="직사각형 16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8" name="직사각형 17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이등변 삼각형 18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직사각형 19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직사각형 20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직사각형 21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타원 22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타원 23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타원 24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46" name="그룹 45"/>
          <p:cNvGrpSpPr/>
          <p:nvPr/>
        </p:nvGrpSpPr>
        <p:grpSpPr>
          <a:xfrm>
            <a:off x="1180040" y="1337729"/>
            <a:ext cx="9818964" cy="5073084"/>
            <a:chOff x="1180040" y="1337729"/>
            <a:chExt cx="9818964" cy="5073084"/>
          </a:xfrm>
        </p:grpSpPr>
        <p:sp>
          <p:nvSpPr>
            <p:cNvPr id="26" name="TextBox 25"/>
            <p:cNvSpPr txBox="1"/>
            <p:nvPr/>
          </p:nvSpPr>
          <p:spPr>
            <a:xfrm>
              <a:off x="4550207" y="1337729"/>
              <a:ext cx="2592376" cy="461666"/>
            </a:xfrm>
            <a:prstGeom prst="rect">
              <a:avLst/>
            </a:prstGeom>
            <a:solidFill>
              <a:srgbClr val="B9FFB9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2400" dirty="0" err="1" smtClean="0">
                  <a:latin typeface="휴먼매직체" panose="02030504000101010101" pitchFamily="18" charset="-127"/>
                  <a:ea typeface="휴먼매직체" panose="02030504000101010101" pitchFamily="18" charset="-127"/>
                </a:rPr>
                <a:t>자료형</a:t>
              </a:r>
              <a:r>
                <a:rPr lang="en-US" altLang="ko-KR" sz="2400" dirty="0" smtClean="0">
                  <a:latin typeface="휴먼매직체" panose="02030504000101010101" pitchFamily="18" charset="-127"/>
                  <a:ea typeface="휴먼매직체" panose="02030504000101010101" pitchFamily="18" charset="-127"/>
                </a:rPr>
                <a:t> </a:t>
              </a:r>
              <a:r>
                <a:rPr lang="en-US" altLang="ko-KR" sz="2400" dirty="0" smtClean="0">
                  <a:latin typeface="Trebuchet MS" pitchFamily="34" charset="0"/>
                </a:rPr>
                <a:t>(data type)</a:t>
              </a:r>
              <a:endParaRPr lang="ko-KR" altLang="en-US" sz="2400" dirty="0">
                <a:latin typeface="Trebuchet MS" pitchFamily="34" charset="0"/>
              </a:endParaRP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1542537" y="2973927"/>
              <a:ext cx="1486304" cy="461666"/>
            </a:xfrm>
            <a:prstGeom prst="rect">
              <a:avLst/>
            </a:prstGeom>
            <a:solidFill>
              <a:srgbClr val="CCECFF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2400" dirty="0" smtClean="0">
                  <a:latin typeface="휴먼매직체" panose="02030504000101010101" pitchFamily="18" charset="-127"/>
                  <a:ea typeface="휴먼매직체" panose="02030504000101010101" pitchFamily="18" charset="-127"/>
                </a:rPr>
                <a:t>기초</a:t>
              </a:r>
              <a:r>
                <a:rPr lang="en-US" altLang="ko-KR" sz="2400" dirty="0" smtClean="0">
                  <a:latin typeface="휴먼매직체" panose="02030504000101010101" pitchFamily="18" charset="-127"/>
                  <a:ea typeface="휴먼매직체" panose="02030504000101010101" pitchFamily="18" charset="-127"/>
                </a:rPr>
                <a:t> </a:t>
              </a:r>
              <a:r>
                <a:rPr lang="ko-KR" altLang="en-US" sz="2400" dirty="0" err="1" smtClean="0">
                  <a:latin typeface="휴먼매직체" panose="02030504000101010101" pitchFamily="18" charset="-127"/>
                  <a:ea typeface="휴먼매직체" panose="02030504000101010101" pitchFamily="18" charset="-127"/>
                </a:rPr>
                <a:t>자료형</a:t>
              </a:r>
              <a:endParaRPr lang="ko-KR" altLang="en-US" sz="2400" dirty="0">
                <a:latin typeface="휴먼매직체" panose="02030504000101010101" pitchFamily="18" charset="-127"/>
                <a:ea typeface="휴먼매직체" panose="02030504000101010101" pitchFamily="18" charset="-127"/>
              </a:endParaRP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5050343" y="2973927"/>
              <a:ext cx="1592103" cy="461666"/>
            </a:xfrm>
            <a:prstGeom prst="rect">
              <a:avLst/>
            </a:prstGeom>
            <a:solidFill>
              <a:srgbClr val="CCECFF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2400" dirty="0" smtClean="0">
                  <a:latin typeface="휴먼매직체" panose="02030504000101010101" pitchFamily="18" charset="-127"/>
                  <a:ea typeface="휴먼매직체" panose="02030504000101010101" pitchFamily="18" charset="-127"/>
                </a:rPr>
                <a:t>파생 </a:t>
              </a:r>
              <a:r>
                <a:rPr lang="ko-KR" altLang="en-US" sz="2400" dirty="0" err="1" smtClean="0">
                  <a:latin typeface="휴먼매직체" panose="02030504000101010101" pitchFamily="18" charset="-127"/>
                  <a:ea typeface="휴먼매직체" panose="02030504000101010101" pitchFamily="18" charset="-127"/>
                </a:rPr>
                <a:t>자료형</a:t>
              </a:r>
              <a:endParaRPr lang="ko-KR" altLang="en-US" sz="2400" dirty="0">
                <a:latin typeface="휴먼매직체" panose="02030504000101010101" pitchFamily="18" charset="-127"/>
                <a:ea typeface="휴먼매직체" panose="02030504000101010101" pitchFamily="18" charset="-127"/>
              </a:endParaRP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8590974" y="2973927"/>
              <a:ext cx="2408030" cy="461666"/>
            </a:xfrm>
            <a:prstGeom prst="rect">
              <a:avLst/>
            </a:prstGeom>
            <a:solidFill>
              <a:srgbClr val="CCECFF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2400" dirty="0" smtClean="0">
                  <a:latin typeface="휴먼매직체" panose="02030504000101010101" pitchFamily="18" charset="-127"/>
                  <a:ea typeface="휴먼매직체" panose="02030504000101010101" pitchFamily="18" charset="-127"/>
                </a:rPr>
                <a:t>사용자 정의 </a:t>
              </a:r>
              <a:r>
                <a:rPr lang="ko-KR" altLang="en-US" sz="2400" dirty="0" err="1" smtClean="0">
                  <a:latin typeface="휴먼매직체" panose="02030504000101010101" pitchFamily="18" charset="-127"/>
                  <a:ea typeface="휴먼매직체" panose="02030504000101010101" pitchFamily="18" charset="-127"/>
                </a:rPr>
                <a:t>자료형</a:t>
              </a:r>
              <a:endParaRPr lang="ko-KR" altLang="en-US" sz="2400" dirty="0">
                <a:latin typeface="휴먼매직체" panose="02030504000101010101" pitchFamily="18" charset="-127"/>
                <a:ea typeface="휴먼매직체" panose="02030504000101010101" pitchFamily="18" charset="-127"/>
              </a:endParaRP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1180040" y="4238701"/>
              <a:ext cx="2211300" cy="214286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normAutofit lnSpcReduction="10000"/>
            </a:bodyPr>
            <a:lstStyle/>
            <a:p>
              <a:pPr algn="ctr"/>
              <a:r>
                <a:rPr lang="en-US" altLang="ko-KR" sz="2800" dirty="0" smtClean="0">
                  <a:latin typeface="Trebuchet MS" pitchFamily="34" charset="0"/>
                </a:rPr>
                <a:t>char</a:t>
              </a:r>
            </a:p>
            <a:p>
              <a:pPr algn="ctr"/>
              <a:r>
                <a:rPr lang="en-US" altLang="ko-KR" sz="2800" dirty="0" err="1" smtClean="0">
                  <a:latin typeface="Trebuchet MS" pitchFamily="34" charset="0"/>
                </a:rPr>
                <a:t>int</a:t>
              </a:r>
              <a:endParaRPr lang="en-US" altLang="ko-KR" sz="2800" dirty="0" smtClean="0">
                <a:latin typeface="Trebuchet MS" pitchFamily="34" charset="0"/>
              </a:endParaRPr>
            </a:p>
            <a:p>
              <a:pPr algn="ctr"/>
              <a:r>
                <a:rPr lang="en-US" altLang="ko-KR" sz="2800" dirty="0" smtClean="0">
                  <a:latin typeface="Trebuchet MS" pitchFamily="34" charset="0"/>
                </a:rPr>
                <a:t>float</a:t>
              </a:r>
            </a:p>
            <a:p>
              <a:pPr algn="ctr"/>
              <a:r>
                <a:rPr lang="en-US" altLang="ko-KR" sz="2800" dirty="0" smtClean="0">
                  <a:latin typeface="Trebuchet MS" pitchFamily="34" charset="0"/>
                </a:rPr>
                <a:t>double</a:t>
              </a:r>
            </a:p>
            <a:p>
              <a:pPr algn="ctr"/>
              <a:r>
                <a:rPr lang="en-US" altLang="ko-KR" sz="2800" dirty="0" smtClean="0">
                  <a:latin typeface="Trebuchet MS" pitchFamily="34" charset="0"/>
                </a:rPr>
                <a:t>void</a:t>
              </a:r>
              <a:endParaRPr lang="ko-KR" altLang="en-US" sz="2800" dirty="0">
                <a:latin typeface="Trebuchet MS" pitchFamily="34" charset="0"/>
              </a:endParaRP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4744446" y="4307599"/>
              <a:ext cx="2203895" cy="2103214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normAutofit/>
            </a:bodyPr>
            <a:lstStyle/>
            <a:p>
              <a:pPr algn="ctr"/>
              <a:r>
                <a:rPr lang="ko-KR" altLang="en-US" sz="2800" dirty="0" smtClean="0">
                  <a:latin typeface="휴먼매직체" panose="02030504000101010101" pitchFamily="18" charset="-127"/>
                  <a:ea typeface="휴먼매직체" panose="02030504000101010101" pitchFamily="18" charset="-127"/>
                </a:rPr>
                <a:t>배열</a:t>
              </a:r>
              <a:r>
                <a:rPr lang="en-US" altLang="ko-KR" sz="2800" dirty="0" smtClean="0">
                  <a:latin typeface="휴먼매직체" panose="02030504000101010101" pitchFamily="18" charset="-127"/>
                  <a:ea typeface="휴먼매직체" panose="02030504000101010101" pitchFamily="18" charset="-127"/>
                </a:rPr>
                <a:t> </a:t>
              </a:r>
            </a:p>
            <a:p>
              <a:pPr algn="ctr"/>
              <a:r>
                <a:rPr lang="ko-KR" altLang="en-US" sz="2800" dirty="0" smtClean="0">
                  <a:latin typeface="휴먼매직체" panose="02030504000101010101" pitchFamily="18" charset="-127"/>
                  <a:ea typeface="휴먼매직체" panose="02030504000101010101" pitchFamily="18" charset="-127"/>
                </a:rPr>
                <a:t>포인터</a:t>
              </a:r>
              <a:endParaRPr lang="en-US" altLang="ko-KR" sz="2800" dirty="0" smtClean="0">
                <a:latin typeface="휴먼매직체" panose="02030504000101010101" pitchFamily="18" charset="-127"/>
                <a:ea typeface="휴먼매직체" panose="02030504000101010101" pitchFamily="18" charset="-127"/>
              </a:endParaRPr>
            </a:p>
            <a:p>
              <a:pPr algn="ctr"/>
              <a:r>
                <a:rPr lang="ko-KR" altLang="en-US" sz="2800" dirty="0" smtClean="0">
                  <a:latin typeface="휴먼매직체" panose="02030504000101010101" pitchFamily="18" charset="-127"/>
                  <a:ea typeface="휴먼매직체" panose="02030504000101010101" pitchFamily="18" charset="-127"/>
                </a:rPr>
                <a:t>구조체</a:t>
              </a:r>
              <a:endParaRPr lang="en-US" altLang="ko-KR" sz="2800" dirty="0" smtClean="0">
                <a:latin typeface="휴먼매직체" panose="02030504000101010101" pitchFamily="18" charset="-127"/>
                <a:ea typeface="휴먼매직체" panose="02030504000101010101" pitchFamily="18" charset="-127"/>
              </a:endParaRPr>
            </a:p>
            <a:p>
              <a:pPr algn="ctr"/>
              <a:r>
                <a:rPr lang="ko-KR" altLang="en-US" sz="2800" dirty="0" err="1" smtClean="0">
                  <a:latin typeface="휴먼매직체" panose="02030504000101010101" pitchFamily="18" charset="-127"/>
                  <a:ea typeface="휴먼매직체" panose="02030504000101010101" pitchFamily="18" charset="-127"/>
                </a:rPr>
                <a:t>공용체</a:t>
              </a:r>
              <a:endParaRPr lang="ko-KR" altLang="en-US" sz="2800" dirty="0">
                <a:latin typeface="휴먼매직체" panose="02030504000101010101" pitchFamily="18" charset="-127"/>
                <a:ea typeface="휴먼매직체" panose="02030504000101010101" pitchFamily="18" charset="-127"/>
              </a:endParaRP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8620236" y="4238700"/>
              <a:ext cx="2349506" cy="214286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normAutofit/>
            </a:bodyPr>
            <a:lstStyle/>
            <a:p>
              <a:pPr algn="ctr"/>
              <a:r>
                <a:rPr lang="en-US" altLang="ko-KR" sz="2800" dirty="0" err="1" smtClean="0">
                  <a:latin typeface="Trebuchet MS" pitchFamily="34" charset="0"/>
                </a:rPr>
                <a:t>typedef</a:t>
              </a:r>
              <a:endParaRPr lang="en-US" altLang="ko-KR" sz="2800" dirty="0" smtClean="0">
                <a:latin typeface="Trebuchet MS" pitchFamily="34" charset="0"/>
              </a:endParaRPr>
            </a:p>
            <a:p>
              <a:pPr algn="ctr"/>
              <a:r>
                <a:rPr lang="en-US" altLang="ko-KR" sz="2800" dirty="0" err="1" smtClean="0">
                  <a:latin typeface="Trebuchet MS" pitchFamily="34" charset="0"/>
                </a:rPr>
                <a:t>enum</a:t>
              </a:r>
              <a:endParaRPr lang="ko-KR" altLang="en-US" sz="2800" dirty="0">
                <a:latin typeface="Trebuchet MS" pitchFamily="34" charset="0"/>
              </a:endParaRPr>
            </a:p>
          </p:txBody>
        </p:sp>
        <p:cxnSp>
          <p:nvCxnSpPr>
            <p:cNvPr id="33" name="꺾인 연결선 32"/>
            <p:cNvCxnSpPr>
              <a:stCxn id="26" idx="2"/>
              <a:endCxn id="27" idx="0"/>
            </p:cNvCxnSpPr>
            <p:nvPr/>
          </p:nvCxnSpPr>
          <p:spPr>
            <a:xfrm rot="5400000">
              <a:off x="3478776" y="606308"/>
              <a:ext cx="1174532" cy="3560706"/>
            </a:xfrm>
            <a:prstGeom prst="bentConnector3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꺾인 연결선 34"/>
            <p:cNvCxnSpPr>
              <a:stCxn id="26" idx="2"/>
              <a:endCxn id="29" idx="0"/>
            </p:cNvCxnSpPr>
            <p:nvPr/>
          </p:nvCxnSpPr>
          <p:spPr>
            <a:xfrm rot="16200000" flipH="1">
              <a:off x="7233426" y="412364"/>
              <a:ext cx="1174532" cy="3948594"/>
            </a:xfrm>
            <a:prstGeom prst="bentConnector3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직선 연결선 35"/>
            <p:cNvCxnSpPr>
              <a:stCxn id="29" idx="2"/>
              <a:endCxn id="32" idx="0"/>
            </p:cNvCxnSpPr>
            <p:nvPr/>
          </p:nvCxnSpPr>
          <p:spPr>
            <a:xfrm>
              <a:off x="9794989" y="3435593"/>
              <a:ext cx="0" cy="803107"/>
            </a:xfrm>
            <a:prstGeom prst="line">
              <a:avLst/>
            </a:prstGeom>
            <a:ln w="381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직선 연결선 36"/>
            <p:cNvCxnSpPr>
              <a:stCxn id="28" idx="2"/>
              <a:endCxn id="31" idx="0"/>
            </p:cNvCxnSpPr>
            <p:nvPr/>
          </p:nvCxnSpPr>
          <p:spPr>
            <a:xfrm flipH="1">
              <a:off x="5846394" y="3435593"/>
              <a:ext cx="1" cy="872006"/>
            </a:xfrm>
            <a:prstGeom prst="line">
              <a:avLst/>
            </a:prstGeom>
            <a:ln w="381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직선 연결선 37"/>
            <p:cNvCxnSpPr/>
            <p:nvPr/>
          </p:nvCxnSpPr>
          <p:spPr>
            <a:xfrm>
              <a:off x="2285690" y="3465539"/>
              <a:ext cx="0" cy="842060"/>
            </a:xfrm>
            <a:prstGeom prst="line">
              <a:avLst/>
            </a:prstGeom>
            <a:ln w="381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직선 연결선 39"/>
            <p:cNvCxnSpPr>
              <a:stCxn id="26" idx="2"/>
              <a:endCxn id="28" idx="0"/>
            </p:cNvCxnSpPr>
            <p:nvPr/>
          </p:nvCxnSpPr>
          <p:spPr>
            <a:xfrm>
              <a:off x="5846395" y="1799395"/>
              <a:ext cx="0" cy="1174532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5054498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122004" y="-155968"/>
            <a:ext cx="10515600" cy="1325563"/>
          </a:xfrm>
        </p:spPr>
        <p:txBody>
          <a:bodyPr/>
          <a:lstStyle/>
          <a:p>
            <a:r>
              <a:rPr lang="ko-KR" altLang="en-US" dirty="0" smtClean="0">
                <a:latin typeface="휴먼매직체" panose="02030504000101010101" pitchFamily="18" charset="-127"/>
                <a:ea typeface="휴먼매직체" panose="02030504000101010101" pitchFamily="18" charset="-127"/>
              </a:rPr>
              <a:t>구조체</a:t>
            </a:r>
            <a:endParaRPr lang="ko-KR" altLang="en-US" dirty="0">
              <a:latin typeface="휴먼매직체" panose="02030504000101010101" pitchFamily="18" charset="-127"/>
              <a:ea typeface="휴먼매직체" panose="02030504000101010101" pitchFamily="18" charset="-127"/>
            </a:endParaRPr>
          </a:p>
        </p:txBody>
      </p:sp>
      <p:grpSp>
        <p:nvGrpSpPr>
          <p:cNvPr id="14" name="그룹 13"/>
          <p:cNvGrpSpPr/>
          <p:nvPr/>
        </p:nvGrpSpPr>
        <p:grpSpPr>
          <a:xfrm>
            <a:off x="0" y="12166"/>
            <a:ext cx="12268200" cy="2411413"/>
            <a:chOff x="0" y="-95250"/>
            <a:chExt cx="12268200" cy="2411413"/>
          </a:xfrm>
          <a:solidFill>
            <a:srgbClr val="99CC00">
              <a:alpha val="30196"/>
            </a:srgbClr>
          </a:solidFill>
        </p:grpSpPr>
        <p:sp>
          <p:nvSpPr>
            <p:cNvPr id="17" name="직사각형 16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8" name="직사각형 17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이등변 삼각형 18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직사각형 19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직사각형 20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직사각형 21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타원 22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타원 23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타원 24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4" name="내용 개체 틀 15">
            <a:extLst>
              <a:ext uri="{FF2B5EF4-FFF2-40B4-BE49-F238E27FC236}">
                <a16:creationId xmlns:a16="http://schemas.microsoft.com/office/drawing/2014/main" id="{0E2CF507-ED0B-4D43-A90C-762FD993E897}"/>
              </a:ext>
            </a:extLst>
          </p:cNvPr>
          <p:cNvSpPr txBox="1">
            <a:spLocks/>
          </p:cNvSpPr>
          <p:nvPr/>
        </p:nvSpPr>
        <p:spPr>
          <a:xfrm>
            <a:off x="1199637" y="1495081"/>
            <a:ext cx="10417346" cy="47380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2400" b="1" dirty="0" smtClean="0"/>
              <a:t>학생에 대한 데이터를 표현하려면</a:t>
            </a:r>
            <a:r>
              <a:rPr lang="en-US" altLang="ko-KR" sz="2400" b="1" dirty="0" smtClean="0"/>
              <a:t>?</a:t>
            </a:r>
          </a:p>
          <a:p>
            <a:pPr lvl="1"/>
            <a:r>
              <a:rPr lang="ko-KR" altLang="en-US" b="1" dirty="0" smtClean="0"/>
              <a:t>학번</a:t>
            </a:r>
            <a:r>
              <a:rPr lang="en-US" altLang="ko-KR" b="1" dirty="0" smtClean="0"/>
              <a:t>, </a:t>
            </a:r>
            <a:r>
              <a:rPr lang="ko-KR" altLang="en-US" b="1" dirty="0" smtClean="0"/>
              <a:t>이름</a:t>
            </a:r>
            <a:r>
              <a:rPr lang="en-US" altLang="ko-KR" b="1" dirty="0" smtClean="0"/>
              <a:t>, </a:t>
            </a:r>
            <a:r>
              <a:rPr lang="ko-KR" altLang="en-US" b="1" dirty="0" smtClean="0"/>
              <a:t>학점 등의 여러 개의 데이터 필요</a:t>
            </a:r>
            <a:endParaRPr lang="en-US" altLang="ko-KR" b="1" dirty="0" smtClean="0"/>
          </a:p>
          <a:p>
            <a:pPr lvl="1"/>
            <a:endParaRPr lang="en-US" altLang="ko-KR" b="1" dirty="0"/>
          </a:p>
          <a:p>
            <a:pPr lvl="1"/>
            <a:r>
              <a:rPr lang="en-US" altLang="ko-KR" b="1" dirty="0" err="1" smtClean="0"/>
              <a:t>int</a:t>
            </a:r>
            <a:r>
              <a:rPr lang="en-US" altLang="ko-KR" b="1" dirty="0" smtClean="0"/>
              <a:t> number;</a:t>
            </a:r>
          </a:p>
          <a:p>
            <a:pPr lvl="1"/>
            <a:r>
              <a:rPr lang="en-US" altLang="ko-KR" b="1" dirty="0" smtClean="0"/>
              <a:t>char name[10];</a:t>
            </a:r>
          </a:p>
          <a:p>
            <a:pPr lvl="1"/>
            <a:r>
              <a:rPr lang="en-US" altLang="ko-KR" b="1" dirty="0" smtClean="0"/>
              <a:t>double grade;</a:t>
            </a:r>
          </a:p>
          <a:p>
            <a:pPr lvl="1"/>
            <a:r>
              <a:rPr lang="en-US" altLang="ko-KR" b="1" dirty="0" smtClean="0"/>
              <a:t>…</a:t>
            </a:r>
          </a:p>
          <a:p>
            <a:pPr lvl="1"/>
            <a:endParaRPr lang="en-US" altLang="ko-KR" b="1" dirty="0"/>
          </a:p>
          <a:p>
            <a:pPr lvl="1"/>
            <a:r>
              <a:rPr lang="ko-KR" altLang="en-US" b="1" dirty="0" smtClean="0"/>
              <a:t>이러한 정보를 묶어서 표시할 수 없을까 </a:t>
            </a:r>
            <a:r>
              <a:rPr lang="en-US" altLang="ko-KR" b="1" dirty="0" smtClean="0"/>
              <a:t>-&gt; </a:t>
            </a:r>
            <a:r>
              <a:rPr lang="ko-KR" altLang="en-US" b="1" dirty="0" smtClean="0"/>
              <a:t>구조체</a:t>
            </a:r>
            <a:endParaRPr lang="en-US" altLang="ko-KR" b="1" dirty="0"/>
          </a:p>
        </p:txBody>
      </p:sp>
    </p:spTree>
    <p:extLst>
      <p:ext uri="{BB962C8B-B14F-4D97-AF65-F5344CB8AC3E}">
        <p14:creationId xmlns:p14="http://schemas.microsoft.com/office/powerpoint/2010/main" val="16986810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122004" y="-155968"/>
            <a:ext cx="10515600" cy="1325563"/>
          </a:xfrm>
        </p:spPr>
        <p:txBody>
          <a:bodyPr/>
          <a:lstStyle/>
          <a:p>
            <a:r>
              <a:rPr lang="ko-KR" altLang="en-US" dirty="0" smtClean="0">
                <a:latin typeface="휴먼매직체" panose="02030504000101010101" pitchFamily="18" charset="-127"/>
                <a:ea typeface="휴먼매직체" panose="02030504000101010101" pitchFamily="18" charset="-127"/>
              </a:rPr>
              <a:t>구조체</a:t>
            </a:r>
            <a:endParaRPr lang="ko-KR" altLang="en-US" dirty="0">
              <a:latin typeface="휴먼매직체" panose="02030504000101010101" pitchFamily="18" charset="-127"/>
              <a:ea typeface="휴먼매직체" panose="02030504000101010101" pitchFamily="18" charset="-127"/>
            </a:endParaRPr>
          </a:p>
        </p:txBody>
      </p:sp>
      <p:grpSp>
        <p:nvGrpSpPr>
          <p:cNvPr id="14" name="그룹 13"/>
          <p:cNvGrpSpPr/>
          <p:nvPr/>
        </p:nvGrpSpPr>
        <p:grpSpPr>
          <a:xfrm>
            <a:off x="0" y="12166"/>
            <a:ext cx="12268200" cy="2411413"/>
            <a:chOff x="0" y="-95250"/>
            <a:chExt cx="12268200" cy="2411413"/>
          </a:xfrm>
          <a:solidFill>
            <a:srgbClr val="99CC00">
              <a:alpha val="30196"/>
            </a:srgbClr>
          </a:solidFill>
        </p:grpSpPr>
        <p:sp>
          <p:nvSpPr>
            <p:cNvPr id="17" name="직사각형 16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8" name="직사각형 17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이등변 삼각형 18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직사각형 19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직사각형 20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직사각형 21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타원 22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타원 23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타원 24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15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3440" y="3488534"/>
            <a:ext cx="5545137" cy="2335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아래쪽 화살표 15"/>
          <p:cNvSpPr/>
          <p:nvPr/>
        </p:nvSpPr>
        <p:spPr>
          <a:xfrm>
            <a:off x="5432590" y="2767809"/>
            <a:ext cx="684212" cy="576263"/>
          </a:xfrm>
          <a:prstGeom prst="downArrow">
            <a:avLst>
              <a:gd name="adj1" fmla="val 21049"/>
              <a:gd name="adj2" fmla="val 50000"/>
            </a:avLst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6" name="TextBox 4"/>
          <p:cNvSpPr txBox="1">
            <a:spLocks noChangeArrowheads="1"/>
          </p:cNvSpPr>
          <p:nvPr/>
        </p:nvSpPr>
        <p:spPr bwMode="auto">
          <a:xfrm>
            <a:off x="4478502" y="1400972"/>
            <a:ext cx="2592388" cy="1125537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marL="2540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lnSpc>
                <a:spcPct val="140000"/>
              </a:lnSpc>
            </a:pPr>
            <a:r>
              <a:rPr lang="en-US" altLang="ko-KR" sz="1600" dirty="0" err="1">
                <a:solidFill>
                  <a:srgbClr val="0000FF"/>
                </a:solidFill>
                <a:latin typeface="Trebuchet MS" pitchFamily="34" charset="0"/>
                <a:ea typeface="휴먼명조" pitchFamily="2" charset="-127"/>
              </a:rPr>
              <a:t>int</a:t>
            </a:r>
            <a:r>
              <a:rPr lang="en-US" altLang="ko-KR" sz="1600" dirty="0">
                <a:solidFill>
                  <a:srgbClr val="000000"/>
                </a:solidFill>
                <a:latin typeface="Trebuchet MS" pitchFamily="34" charset="0"/>
                <a:ea typeface="휴먼명조" pitchFamily="2" charset="-127"/>
              </a:rPr>
              <a:t> number;</a:t>
            </a:r>
          </a:p>
          <a:p>
            <a:pPr eaLnBrk="1" hangingPunct="1">
              <a:lnSpc>
                <a:spcPct val="140000"/>
              </a:lnSpc>
            </a:pPr>
            <a:r>
              <a:rPr lang="en-US" altLang="ko-KR" sz="1600" dirty="0">
                <a:solidFill>
                  <a:srgbClr val="0000FF"/>
                </a:solidFill>
                <a:latin typeface="Trebuchet MS" pitchFamily="34" charset="0"/>
                <a:ea typeface="휴먼명조" pitchFamily="2" charset="-127"/>
              </a:rPr>
              <a:t>char</a:t>
            </a:r>
            <a:r>
              <a:rPr lang="en-US" altLang="ko-KR" sz="1600" dirty="0">
                <a:solidFill>
                  <a:srgbClr val="000000"/>
                </a:solidFill>
                <a:latin typeface="Trebuchet MS" pitchFamily="34" charset="0"/>
                <a:ea typeface="휴먼명조" pitchFamily="2" charset="-127"/>
              </a:rPr>
              <a:t> name[10];</a:t>
            </a:r>
          </a:p>
          <a:p>
            <a:pPr eaLnBrk="1" hangingPunct="1">
              <a:lnSpc>
                <a:spcPct val="140000"/>
              </a:lnSpc>
            </a:pPr>
            <a:r>
              <a:rPr lang="en-US" altLang="ko-KR" sz="1600" dirty="0">
                <a:solidFill>
                  <a:srgbClr val="0000FF"/>
                </a:solidFill>
                <a:latin typeface="Trebuchet MS" pitchFamily="34" charset="0"/>
                <a:ea typeface="휴먼명조" pitchFamily="2" charset="-127"/>
              </a:rPr>
              <a:t>double</a:t>
            </a:r>
            <a:r>
              <a:rPr lang="en-US" altLang="ko-KR" sz="1600" dirty="0">
                <a:solidFill>
                  <a:srgbClr val="000000"/>
                </a:solidFill>
                <a:latin typeface="Trebuchet MS" pitchFamily="34" charset="0"/>
                <a:ea typeface="휴먼명조" pitchFamily="2" charset="-127"/>
              </a:rPr>
              <a:t> grade;</a:t>
            </a:r>
            <a:endParaRPr lang="ko-KR" altLang="en-US" sz="1600" dirty="0">
              <a:solidFill>
                <a:srgbClr val="000000"/>
              </a:solidFill>
              <a:latin typeface="Trebuchet MS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14346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122004" y="-155968"/>
            <a:ext cx="10515600" cy="1325563"/>
          </a:xfrm>
        </p:spPr>
        <p:txBody>
          <a:bodyPr/>
          <a:lstStyle/>
          <a:p>
            <a:r>
              <a:rPr lang="ko-KR" altLang="en-US" dirty="0" smtClean="0">
                <a:latin typeface="휴먼매직체" panose="02030504000101010101" pitchFamily="18" charset="-127"/>
                <a:ea typeface="휴먼매직체" panose="02030504000101010101" pitchFamily="18" charset="-127"/>
              </a:rPr>
              <a:t>구조체</a:t>
            </a:r>
            <a:endParaRPr lang="ko-KR" altLang="en-US" dirty="0">
              <a:latin typeface="휴먼매직체" panose="02030504000101010101" pitchFamily="18" charset="-127"/>
              <a:ea typeface="휴먼매직체" panose="02030504000101010101" pitchFamily="18" charset="-127"/>
            </a:endParaRPr>
          </a:p>
        </p:txBody>
      </p:sp>
      <p:grpSp>
        <p:nvGrpSpPr>
          <p:cNvPr id="14" name="그룹 13"/>
          <p:cNvGrpSpPr/>
          <p:nvPr/>
        </p:nvGrpSpPr>
        <p:grpSpPr>
          <a:xfrm>
            <a:off x="0" y="12166"/>
            <a:ext cx="12268200" cy="2411413"/>
            <a:chOff x="0" y="-95250"/>
            <a:chExt cx="12268200" cy="2411413"/>
          </a:xfrm>
          <a:solidFill>
            <a:srgbClr val="99CC00">
              <a:alpha val="30196"/>
            </a:srgbClr>
          </a:solidFill>
        </p:grpSpPr>
        <p:sp>
          <p:nvSpPr>
            <p:cNvPr id="17" name="직사각형 16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8" name="직사각형 17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이등변 삼각형 18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직사각형 19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직사각형 20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직사각형 21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타원 22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타원 23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타원 24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27" name="Picture 400"/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3602"/>
          <a:stretch/>
        </p:blipFill>
        <p:spPr bwMode="auto">
          <a:xfrm>
            <a:off x="6599333" y="1495081"/>
            <a:ext cx="2572078" cy="2505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" name="Picture 400"/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076"/>
          <a:stretch/>
        </p:blipFill>
        <p:spPr bwMode="auto">
          <a:xfrm>
            <a:off x="6599333" y="4319680"/>
            <a:ext cx="2545803" cy="2505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" name="내용 개체 틀 15">
            <a:extLst>
              <a:ext uri="{FF2B5EF4-FFF2-40B4-BE49-F238E27FC236}">
                <a16:creationId xmlns:a16="http://schemas.microsoft.com/office/drawing/2014/main" id="{0E2CF507-ED0B-4D43-A90C-762FD993E897}"/>
              </a:ext>
            </a:extLst>
          </p:cNvPr>
          <p:cNvSpPr txBox="1">
            <a:spLocks/>
          </p:cNvSpPr>
          <p:nvPr/>
        </p:nvSpPr>
        <p:spPr>
          <a:xfrm>
            <a:off x="1199637" y="1495081"/>
            <a:ext cx="10417346" cy="47380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2400" b="1" dirty="0" smtClean="0"/>
              <a:t>배열 </a:t>
            </a:r>
            <a:r>
              <a:rPr lang="en-US" altLang="ko-KR" sz="2400" b="1" dirty="0" smtClean="0"/>
              <a:t>vs </a:t>
            </a:r>
            <a:r>
              <a:rPr lang="ko-KR" altLang="en-US" sz="2400" b="1" dirty="0" smtClean="0"/>
              <a:t>구조체</a:t>
            </a:r>
            <a:endParaRPr lang="en-US" altLang="ko-KR" sz="2400" b="1" dirty="0" smtClean="0"/>
          </a:p>
          <a:p>
            <a:endParaRPr lang="en-US" altLang="ko-KR" sz="2400" b="1" dirty="0"/>
          </a:p>
          <a:p>
            <a:pPr lvl="1"/>
            <a:r>
              <a:rPr lang="ko-KR" altLang="en-US" b="1" dirty="0" smtClean="0"/>
              <a:t>배열 </a:t>
            </a:r>
            <a:r>
              <a:rPr lang="en-US" altLang="ko-KR" b="1" dirty="0" smtClean="0"/>
              <a:t>: </a:t>
            </a:r>
            <a:r>
              <a:rPr lang="ko-KR" altLang="en-US" b="1" dirty="0" smtClean="0"/>
              <a:t>같은 </a:t>
            </a:r>
            <a:r>
              <a:rPr lang="ko-KR" altLang="en-US" b="1" dirty="0" err="1" smtClean="0"/>
              <a:t>자료형의</a:t>
            </a:r>
            <a:r>
              <a:rPr lang="ko-KR" altLang="en-US" b="1" dirty="0" smtClean="0"/>
              <a:t> 집합</a:t>
            </a:r>
            <a:endParaRPr lang="en-US" altLang="ko-KR" b="1" dirty="0" smtClean="0"/>
          </a:p>
          <a:p>
            <a:pPr lvl="1"/>
            <a:endParaRPr lang="en-US" altLang="ko-KR" b="1" dirty="0"/>
          </a:p>
          <a:p>
            <a:pPr lvl="1"/>
            <a:endParaRPr lang="en-US" altLang="ko-KR" b="1" dirty="0" smtClean="0"/>
          </a:p>
          <a:p>
            <a:pPr lvl="1"/>
            <a:endParaRPr lang="en-US" altLang="ko-KR" b="1" dirty="0"/>
          </a:p>
          <a:p>
            <a:pPr lvl="1"/>
            <a:endParaRPr lang="en-US" altLang="ko-KR" b="1" dirty="0" smtClean="0"/>
          </a:p>
          <a:p>
            <a:pPr lvl="1"/>
            <a:endParaRPr lang="en-US" altLang="ko-KR" b="1" dirty="0"/>
          </a:p>
          <a:p>
            <a:pPr lvl="1"/>
            <a:r>
              <a:rPr lang="ko-KR" altLang="en-US" b="1" dirty="0" smtClean="0"/>
              <a:t>구조체 </a:t>
            </a:r>
            <a:r>
              <a:rPr lang="en-US" altLang="ko-KR" b="1" dirty="0" smtClean="0"/>
              <a:t>: </a:t>
            </a:r>
            <a:r>
              <a:rPr lang="ko-KR" altLang="en-US" b="1" dirty="0" smtClean="0"/>
              <a:t>다른 </a:t>
            </a:r>
            <a:r>
              <a:rPr lang="ko-KR" altLang="en-US" b="1" dirty="0" err="1" smtClean="0"/>
              <a:t>자료형의</a:t>
            </a:r>
            <a:r>
              <a:rPr lang="ko-KR" altLang="en-US" b="1" dirty="0" smtClean="0"/>
              <a:t> 집합</a:t>
            </a:r>
            <a:endParaRPr lang="en-US" altLang="ko-KR" b="1" dirty="0" smtClean="0"/>
          </a:p>
        </p:txBody>
      </p:sp>
    </p:spTree>
    <p:extLst>
      <p:ext uri="{BB962C8B-B14F-4D97-AF65-F5344CB8AC3E}">
        <p14:creationId xmlns:p14="http://schemas.microsoft.com/office/powerpoint/2010/main" val="26152269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122004" y="-155968"/>
            <a:ext cx="10515600" cy="1325563"/>
          </a:xfrm>
        </p:spPr>
        <p:txBody>
          <a:bodyPr/>
          <a:lstStyle/>
          <a:p>
            <a:r>
              <a:rPr lang="ko-KR" altLang="en-US" dirty="0" smtClean="0">
                <a:latin typeface="휴먼매직체" panose="02030504000101010101" pitchFamily="18" charset="-127"/>
                <a:ea typeface="휴먼매직체" panose="02030504000101010101" pitchFamily="18" charset="-127"/>
              </a:rPr>
              <a:t>구조체</a:t>
            </a:r>
            <a:endParaRPr lang="ko-KR" altLang="en-US" dirty="0">
              <a:latin typeface="휴먼매직체" panose="02030504000101010101" pitchFamily="18" charset="-127"/>
              <a:ea typeface="휴먼매직체" panose="02030504000101010101" pitchFamily="18" charset="-127"/>
            </a:endParaRPr>
          </a:p>
        </p:txBody>
      </p:sp>
      <p:grpSp>
        <p:nvGrpSpPr>
          <p:cNvPr id="14" name="그룹 13"/>
          <p:cNvGrpSpPr/>
          <p:nvPr/>
        </p:nvGrpSpPr>
        <p:grpSpPr>
          <a:xfrm>
            <a:off x="-14176" y="0"/>
            <a:ext cx="12268200" cy="2411413"/>
            <a:chOff x="0" y="-95250"/>
            <a:chExt cx="12268200" cy="2411413"/>
          </a:xfrm>
          <a:solidFill>
            <a:srgbClr val="99CC00">
              <a:alpha val="30196"/>
            </a:srgbClr>
          </a:solidFill>
        </p:grpSpPr>
        <p:sp>
          <p:nvSpPr>
            <p:cNvPr id="17" name="직사각형 16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8" name="직사각형 17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이등변 삼각형 18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직사각형 19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직사각형 20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직사각형 21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타원 22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타원 23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타원 24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6" name="내용 개체 틀 15">
            <a:extLst>
              <a:ext uri="{FF2B5EF4-FFF2-40B4-BE49-F238E27FC236}">
                <a16:creationId xmlns:a16="http://schemas.microsoft.com/office/drawing/2014/main" id="{0E2CF507-ED0B-4D43-A90C-762FD993E897}"/>
              </a:ext>
            </a:extLst>
          </p:cNvPr>
          <p:cNvSpPr txBox="1">
            <a:spLocks/>
          </p:cNvSpPr>
          <p:nvPr/>
        </p:nvSpPr>
        <p:spPr>
          <a:xfrm>
            <a:off x="1199637" y="1495081"/>
            <a:ext cx="10417346" cy="47380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2400" b="1" dirty="0" smtClean="0"/>
              <a:t>구조체 선언 형식</a:t>
            </a:r>
            <a:endParaRPr lang="en-US" altLang="ko-KR" sz="2400" b="1" dirty="0" smtClean="0"/>
          </a:p>
          <a:p>
            <a:pPr lvl="1"/>
            <a:endParaRPr lang="en-US" altLang="ko-KR" b="1" dirty="0" smtClean="0"/>
          </a:p>
          <a:p>
            <a:pPr marL="457200" lvl="1" indent="0">
              <a:buNone/>
            </a:pPr>
            <a:r>
              <a:rPr lang="en-US" altLang="ko-KR" b="1" dirty="0" err="1" smtClean="0"/>
              <a:t>struct</a:t>
            </a:r>
            <a:r>
              <a:rPr lang="en-US" altLang="ko-KR" b="1" dirty="0"/>
              <a:t> </a:t>
            </a:r>
            <a:r>
              <a:rPr lang="ko-KR" altLang="en-US" b="1" dirty="0" smtClean="0"/>
              <a:t>태그</a:t>
            </a:r>
            <a:endParaRPr lang="en-US" altLang="ko-KR" b="1" dirty="0" smtClean="0"/>
          </a:p>
          <a:p>
            <a:pPr marL="457200" lvl="1" indent="0">
              <a:buNone/>
            </a:pPr>
            <a:r>
              <a:rPr lang="en-US" altLang="ko-KR" b="1" dirty="0" smtClean="0"/>
              <a:t>{</a:t>
            </a:r>
          </a:p>
          <a:p>
            <a:pPr marL="457200" lvl="1" indent="0">
              <a:buNone/>
            </a:pPr>
            <a:r>
              <a:rPr lang="en-US" altLang="ko-KR" b="1" dirty="0" smtClean="0"/>
              <a:t>	</a:t>
            </a:r>
            <a:r>
              <a:rPr lang="ko-KR" altLang="en-US" b="1" dirty="0" err="1" smtClean="0"/>
              <a:t>자료형</a:t>
            </a:r>
            <a:r>
              <a:rPr lang="ko-KR" altLang="en-US" b="1" dirty="0" smtClean="0"/>
              <a:t> 멤버</a:t>
            </a:r>
            <a:r>
              <a:rPr lang="en-US" altLang="ko-KR" b="1" dirty="0" smtClean="0"/>
              <a:t>1;</a:t>
            </a:r>
          </a:p>
          <a:p>
            <a:pPr marL="457200" lvl="1" indent="0">
              <a:buNone/>
            </a:pPr>
            <a:r>
              <a:rPr lang="en-US" altLang="ko-KR" b="1" dirty="0"/>
              <a:t>	</a:t>
            </a:r>
            <a:r>
              <a:rPr lang="ko-KR" altLang="en-US" b="1" dirty="0" err="1" smtClean="0"/>
              <a:t>자료형</a:t>
            </a:r>
            <a:r>
              <a:rPr lang="ko-KR" altLang="en-US" b="1" dirty="0" smtClean="0"/>
              <a:t> 멤버</a:t>
            </a:r>
            <a:r>
              <a:rPr lang="en-US" altLang="ko-KR" b="1" dirty="0" smtClean="0"/>
              <a:t>2;</a:t>
            </a:r>
          </a:p>
          <a:p>
            <a:pPr marL="457200" lvl="1" indent="0">
              <a:buNone/>
            </a:pPr>
            <a:r>
              <a:rPr lang="en-US" altLang="ko-KR" b="1" dirty="0"/>
              <a:t>	</a:t>
            </a:r>
            <a:r>
              <a:rPr lang="en-US" altLang="ko-KR" b="1" dirty="0" smtClean="0"/>
              <a:t>…</a:t>
            </a:r>
          </a:p>
          <a:p>
            <a:pPr marL="457200" lvl="1" indent="0">
              <a:buNone/>
            </a:pPr>
            <a:r>
              <a:rPr lang="en-US" altLang="ko-KR" b="1" dirty="0" smtClean="0"/>
              <a:t>};	</a:t>
            </a:r>
            <a:r>
              <a:rPr lang="en-US" altLang="ko-KR" b="1" dirty="0" smtClean="0">
                <a:solidFill>
                  <a:schemeClr val="accent6"/>
                </a:solidFill>
              </a:rPr>
              <a:t>//</a:t>
            </a:r>
            <a:r>
              <a:rPr lang="ko-KR" altLang="en-US" b="1" dirty="0" smtClean="0">
                <a:solidFill>
                  <a:schemeClr val="accent6"/>
                </a:solidFill>
              </a:rPr>
              <a:t>세미콜론 주의</a:t>
            </a:r>
            <a:endParaRPr lang="en-US" altLang="ko-KR" b="1" dirty="0">
              <a:solidFill>
                <a:schemeClr val="accent6"/>
              </a:solidFill>
            </a:endParaRPr>
          </a:p>
        </p:txBody>
      </p:sp>
      <p:pic>
        <p:nvPicPr>
          <p:cNvPr id="26" name="Picture 51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1185" y="1495081"/>
            <a:ext cx="6569374" cy="39440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722574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122004" y="-155968"/>
            <a:ext cx="10515600" cy="1325563"/>
          </a:xfrm>
        </p:spPr>
        <p:txBody>
          <a:bodyPr/>
          <a:lstStyle/>
          <a:p>
            <a:r>
              <a:rPr lang="ko-KR" altLang="en-US" dirty="0" smtClean="0">
                <a:latin typeface="휴먼매직체" panose="02030504000101010101" pitchFamily="18" charset="-127"/>
                <a:ea typeface="휴먼매직체" panose="02030504000101010101" pitchFamily="18" charset="-127"/>
              </a:rPr>
              <a:t>구조체 변수 선언</a:t>
            </a:r>
            <a:endParaRPr lang="ko-KR" altLang="en-US" dirty="0">
              <a:latin typeface="휴먼매직체" panose="02030504000101010101" pitchFamily="18" charset="-127"/>
              <a:ea typeface="휴먼매직체" panose="02030504000101010101" pitchFamily="18" charset="-127"/>
            </a:endParaRPr>
          </a:p>
        </p:txBody>
      </p:sp>
      <p:grpSp>
        <p:nvGrpSpPr>
          <p:cNvPr id="14" name="그룹 13"/>
          <p:cNvGrpSpPr/>
          <p:nvPr/>
        </p:nvGrpSpPr>
        <p:grpSpPr>
          <a:xfrm>
            <a:off x="-14176" y="0"/>
            <a:ext cx="12268200" cy="2411413"/>
            <a:chOff x="0" y="-95250"/>
            <a:chExt cx="12268200" cy="2411413"/>
          </a:xfrm>
          <a:solidFill>
            <a:srgbClr val="99CC00">
              <a:alpha val="30196"/>
            </a:srgbClr>
          </a:solidFill>
        </p:grpSpPr>
        <p:sp>
          <p:nvSpPr>
            <p:cNvPr id="17" name="직사각형 16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8" name="직사각형 17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이등변 삼각형 18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직사각형 19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직사각형 20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직사각형 21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타원 22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타원 23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타원 24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6" name="내용 개체 틀 15">
            <a:extLst>
              <a:ext uri="{FF2B5EF4-FFF2-40B4-BE49-F238E27FC236}">
                <a16:creationId xmlns:a16="http://schemas.microsoft.com/office/drawing/2014/main" id="{0E2CF507-ED0B-4D43-A90C-762FD993E897}"/>
              </a:ext>
            </a:extLst>
          </p:cNvPr>
          <p:cNvSpPr txBox="1">
            <a:spLocks/>
          </p:cNvSpPr>
          <p:nvPr/>
        </p:nvSpPr>
        <p:spPr>
          <a:xfrm>
            <a:off x="1199637" y="1495081"/>
            <a:ext cx="10417346" cy="47380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2400" b="1" dirty="0" smtClean="0"/>
              <a:t>구조체 선언과 구조체 변수 선언은 다름</a:t>
            </a:r>
            <a:endParaRPr lang="en-US" altLang="ko-KR" sz="2400" b="1" dirty="0" smtClean="0"/>
          </a:p>
          <a:p>
            <a:pPr lvl="1"/>
            <a:r>
              <a:rPr lang="ko-KR" altLang="en-US" b="1" dirty="0" smtClean="0"/>
              <a:t>구조체 선언은 틀 선언</a:t>
            </a:r>
            <a:r>
              <a:rPr lang="en-US" altLang="ko-KR" b="1" dirty="0" smtClean="0"/>
              <a:t>, </a:t>
            </a:r>
            <a:r>
              <a:rPr lang="ko-KR" altLang="en-US" b="1" dirty="0" smtClean="0"/>
              <a:t>구조체 변수 선언은 실제 사용</a:t>
            </a:r>
            <a:endParaRPr lang="en-US" altLang="ko-KR" b="1" dirty="0"/>
          </a:p>
        </p:txBody>
      </p:sp>
      <p:sp>
        <p:nvSpPr>
          <p:cNvPr id="15" name="TextBox 14"/>
          <p:cNvSpPr txBox="1"/>
          <p:nvPr/>
        </p:nvSpPr>
        <p:spPr>
          <a:xfrm>
            <a:off x="165359" y="2864357"/>
            <a:ext cx="4554452" cy="267765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marL="800100" lvl="2" indent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2000" dirty="0" err="1" smtClean="0">
                <a:solidFill>
                  <a:srgbClr val="3333FF"/>
                </a:solidFill>
                <a:latin typeface="Trebuchet MS" pitchFamily="34" charset="0"/>
              </a:rPr>
              <a:t>struct</a:t>
            </a:r>
            <a:r>
              <a:rPr lang="en-US" altLang="ko-KR" sz="2000" dirty="0" smtClean="0">
                <a:solidFill>
                  <a:srgbClr val="000000"/>
                </a:solidFill>
                <a:latin typeface="Trebuchet MS" pitchFamily="34" charset="0"/>
              </a:rPr>
              <a:t> student {</a:t>
            </a:r>
          </a:p>
          <a:p>
            <a:pPr marL="800100" lvl="2" indent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2000" dirty="0">
                <a:solidFill>
                  <a:srgbClr val="000000"/>
                </a:solidFill>
                <a:latin typeface="Trebuchet MS" pitchFamily="34" charset="0"/>
              </a:rPr>
              <a:t>	</a:t>
            </a:r>
            <a:r>
              <a:rPr lang="en-US" altLang="ko-KR" sz="2000" dirty="0" smtClean="0">
                <a:solidFill>
                  <a:srgbClr val="000000"/>
                </a:solidFill>
                <a:latin typeface="Trebuchet MS" pitchFamily="34" charset="0"/>
              </a:rPr>
              <a:t>	</a:t>
            </a:r>
            <a:r>
              <a:rPr lang="en-US" altLang="ko-KR" sz="2000" dirty="0" err="1" smtClean="0">
                <a:solidFill>
                  <a:srgbClr val="3333FF"/>
                </a:solidFill>
                <a:latin typeface="Trebuchet MS" pitchFamily="34" charset="0"/>
              </a:rPr>
              <a:t>int</a:t>
            </a:r>
            <a:r>
              <a:rPr lang="en-US" altLang="ko-KR" sz="2000" dirty="0" smtClean="0">
                <a:solidFill>
                  <a:srgbClr val="000000"/>
                </a:solidFill>
                <a:latin typeface="Trebuchet MS" pitchFamily="34" charset="0"/>
              </a:rPr>
              <a:t> number;</a:t>
            </a:r>
          </a:p>
          <a:p>
            <a:pPr marL="800100" lvl="2" indent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2000" dirty="0">
                <a:solidFill>
                  <a:srgbClr val="000000"/>
                </a:solidFill>
                <a:latin typeface="Trebuchet MS" pitchFamily="34" charset="0"/>
              </a:rPr>
              <a:t>	</a:t>
            </a:r>
            <a:r>
              <a:rPr lang="en-US" altLang="ko-KR" sz="2000" dirty="0" smtClean="0">
                <a:solidFill>
                  <a:srgbClr val="000000"/>
                </a:solidFill>
                <a:latin typeface="Trebuchet MS" pitchFamily="34" charset="0"/>
              </a:rPr>
              <a:t>	</a:t>
            </a:r>
            <a:r>
              <a:rPr lang="en-US" altLang="ko-KR" sz="2000" dirty="0" smtClean="0">
                <a:solidFill>
                  <a:srgbClr val="3333FF"/>
                </a:solidFill>
                <a:latin typeface="Trebuchet MS" pitchFamily="34" charset="0"/>
              </a:rPr>
              <a:t>char</a:t>
            </a:r>
            <a:r>
              <a:rPr lang="en-US" altLang="ko-KR" sz="2000" dirty="0" smtClean="0">
                <a:solidFill>
                  <a:srgbClr val="000000"/>
                </a:solidFill>
                <a:latin typeface="Trebuchet MS" pitchFamily="34" charset="0"/>
              </a:rPr>
              <a:t> name[10];</a:t>
            </a:r>
          </a:p>
          <a:p>
            <a:pPr marL="800100" lvl="2" indent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2000" dirty="0">
                <a:solidFill>
                  <a:srgbClr val="000000"/>
                </a:solidFill>
                <a:latin typeface="Trebuchet MS" pitchFamily="34" charset="0"/>
              </a:rPr>
              <a:t>	</a:t>
            </a:r>
            <a:r>
              <a:rPr lang="en-US" altLang="ko-KR" sz="2000" dirty="0" smtClean="0">
                <a:solidFill>
                  <a:srgbClr val="000000"/>
                </a:solidFill>
                <a:latin typeface="Trebuchet MS" pitchFamily="34" charset="0"/>
              </a:rPr>
              <a:t>	</a:t>
            </a:r>
            <a:r>
              <a:rPr lang="en-US" altLang="ko-KR" sz="2000" dirty="0" smtClean="0">
                <a:solidFill>
                  <a:srgbClr val="3333FF"/>
                </a:solidFill>
                <a:latin typeface="Trebuchet MS" pitchFamily="34" charset="0"/>
              </a:rPr>
              <a:t>double</a:t>
            </a:r>
            <a:r>
              <a:rPr lang="en-US" altLang="ko-KR" sz="2000" dirty="0" smtClean="0">
                <a:solidFill>
                  <a:srgbClr val="000000"/>
                </a:solidFill>
                <a:latin typeface="Trebuchet MS" pitchFamily="34" charset="0"/>
              </a:rPr>
              <a:t> grade;</a:t>
            </a:r>
            <a:endParaRPr lang="en-US" altLang="ko-KR" sz="2000" dirty="0">
              <a:solidFill>
                <a:srgbClr val="000000"/>
              </a:solidFill>
              <a:latin typeface="Trebuchet MS" pitchFamily="34" charset="0"/>
            </a:endParaRPr>
          </a:p>
          <a:p>
            <a:pPr marL="800100" lvl="2" indent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2000" dirty="0" smtClean="0">
                <a:solidFill>
                  <a:srgbClr val="000000"/>
                </a:solidFill>
                <a:latin typeface="Trebuchet MS" pitchFamily="34" charset="0"/>
              </a:rPr>
              <a:t>};  </a:t>
            </a:r>
            <a:r>
              <a:rPr lang="en-US" altLang="ko-KR" sz="2000" dirty="0" smtClean="0">
                <a:solidFill>
                  <a:schemeClr val="accent6"/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//</a:t>
            </a:r>
            <a:r>
              <a:rPr lang="ko-KR" altLang="en-US" sz="2000" dirty="0" smtClean="0">
                <a:solidFill>
                  <a:schemeClr val="accent6"/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구조체 선언은 </a:t>
            </a:r>
            <a:r>
              <a:rPr lang="ko-KR" altLang="en-US" sz="2000" dirty="0" err="1" smtClean="0">
                <a:solidFill>
                  <a:schemeClr val="accent6"/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메인함수</a:t>
            </a:r>
            <a:r>
              <a:rPr lang="ko-KR" altLang="en-US" sz="2000" dirty="0" smtClean="0">
                <a:solidFill>
                  <a:schemeClr val="accent6"/>
                </a:solidFill>
                <a:latin typeface="휴먼매직체" panose="02030504000101010101" pitchFamily="18" charset="-127"/>
                <a:ea typeface="휴먼매직체" panose="02030504000101010101" pitchFamily="18" charset="-127"/>
              </a:rPr>
              <a:t> 밖에서</a:t>
            </a:r>
            <a:endParaRPr lang="en-US" altLang="ko-KR" sz="2000" dirty="0" smtClean="0">
              <a:solidFill>
                <a:schemeClr val="accent6"/>
              </a:solidFill>
              <a:latin typeface="휴먼매직체" panose="02030504000101010101" pitchFamily="18" charset="-127"/>
              <a:ea typeface="휴먼매직체" panose="02030504000101010101" pitchFamily="18" charset="-127"/>
            </a:endParaRPr>
          </a:p>
          <a:p>
            <a:pPr marL="800100" lvl="2" indent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2000" dirty="0" smtClean="0">
                <a:solidFill>
                  <a:srgbClr val="000000"/>
                </a:solidFill>
                <a:latin typeface="Trebuchet MS" pitchFamily="34" charset="0"/>
              </a:rPr>
              <a:t>…</a:t>
            </a:r>
            <a:endParaRPr lang="en-US" altLang="ko-KR" sz="2000" dirty="0">
              <a:solidFill>
                <a:srgbClr val="000000"/>
              </a:solidFill>
              <a:latin typeface="Trebuchet MS" pitchFamily="34" charset="0"/>
            </a:endParaRPr>
          </a:p>
          <a:p>
            <a:pPr marL="800100" lvl="2" indent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2000" dirty="0" smtClean="0">
                <a:solidFill>
                  <a:srgbClr val="000000"/>
                </a:solidFill>
                <a:latin typeface="Trebuchet MS" pitchFamily="34" charset="0"/>
              </a:rPr>
              <a:t>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09835" y="2864357"/>
            <a:ext cx="6207148" cy="230832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marL="800100" lvl="2" indent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2000" dirty="0" err="1" smtClean="0">
                <a:solidFill>
                  <a:srgbClr val="3333FF"/>
                </a:solidFill>
                <a:latin typeface="Trebuchet MS" pitchFamily="34" charset="0"/>
              </a:rPr>
              <a:t>int</a:t>
            </a:r>
            <a:r>
              <a:rPr lang="ko-KR" altLang="en-US" sz="2000" dirty="0" smtClean="0">
                <a:solidFill>
                  <a:srgbClr val="3333FF"/>
                </a:solidFill>
                <a:latin typeface="Trebuchet MS" pitchFamily="34" charset="0"/>
              </a:rPr>
              <a:t> </a:t>
            </a:r>
            <a:r>
              <a:rPr lang="en-US" altLang="ko-KR" sz="2000" dirty="0" smtClean="0">
                <a:solidFill>
                  <a:srgbClr val="000000"/>
                </a:solidFill>
                <a:latin typeface="Trebuchet MS" pitchFamily="34" charset="0"/>
              </a:rPr>
              <a:t>main(</a:t>
            </a:r>
            <a:r>
              <a:rPr lang="en-US" altLang="ko-KR" sz="2000" dirty="0" smtClean="0">
                <a:solidFill>
                  <a:srgbClr val="3333FF"/>
                </a:solidFill>
                <a:latin typeface="Trebuchet MS" pitchFamily="34" charset="0"/>
              </a:rPr>
              <a:t>void</a:t>
            </a:r>
            <a:r>
              <a:rPr lang="en-US" altLang="ko-KR" sz="2000" dirty="0" smtClean="0">
                <a:solidFill>
                  <a:srgbClr val="000000"/>
                </a:solidFill>
                <a:latin typeface="Trebuchet MS" pitchFamily="34" charset="0"/>
              </a:rPr>
              <a:t>)</a:t>
            </a:r>
          </a:p>
          <a:p>
            <a:pPr marL="800100" lvl="2" indent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2000" dirty="0" smtClean="0">
                <a:solidFill>
                  <a:srgbClr val="000000"/>
                </a:solidFill>
                <a:latin typeface="Trebuchet MS" pitchFamily="34" charset="0"/>
              </a:rPr>
              <a:t>{</a:t>
            </a:r>
            <a:br>
              <a:rPr lang="en-US" altLang="ko-KR" sz="2000" dirty="0" smtClean="0">
                <a:solidFill>
                  <a:srgbClr val="000000"/>
                </a:solidFill>
                <a:latin typeface="Trebuchet MS" pitchFamily="34" charset="0"/>
              </a:rPr>
            </a:br>
            <a:r>
              <a:rPr lang="en-US" altLang="ko-KR" sz="2000" dirty="0" smtClean="0">
                <a:solidFill>
                  <a:srgbClr val="000000"/>
                </a:solidFill>
                <a:latin typeface="Trebuchet MS" pitchFamily="34" charset="0"/>
              </a:rPr>
              <a:t>		</a:t>
            </a:r>
            <a:r>
              <a:rPr lang="en-US" altLang="ko-KR" sz="2000" dirty="0" err="1" smtClean="0">
                <a:solidFill>
                  <a:srgbClr val="3333FF"/>
                </a:solidFill>
                <a:latin typeface="Trebuchet MS" pitchFamily="34" charset="0"/>
              </a:rPr>
              <a:t>struct</a:t>
            </a:r>
            <a:r>
              <a:rPr lang="en-US" altLang="ko-KR" sz="2000" dirty="0" smtClean="0">
                <a:solidFill>
                  <a:srgbClr val="000000"/>
                </a:solidFill>
                <a:latin typeface="Trebuchet MS" pitchFamily="34" charset="0"/>
              </a:rPr>
              <a:t> student s1;</a:t>
            </a:r>
          </a:p>
          <a:p>
            <a:pPr marL="800100" lvl="2" indent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ko-KR" sz="2000" dirty="0">
              <a:solidFill>
                <a:srgbClr val="000000"/>
              </a:solidFill>
              <a:latin typeface="Trebuchet MS" pitchFamily="34" charset="0"/>
            </a:endParaRPr>
          </a:p>
          <a:p>
            <a:pPr marL="800100" lvl="2" indent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2000" dirty="0" smtClean="0">
                <a:solidFill>
                  <a:srgbClr val="000000"/>
                </a:solidFill>
                <a:latin typeface="Trebuchet MS" pitchFamily="34" charset="0"/>
              </a:rPr>
              <a:t>		</a:t>
            </a:r>
            <a:r>
              <a:rPr lang="en-US" altLang="ko-KR" sz="2000" dirty="0" err="1" smtClean="0">
                <a:solidFill>
                  <a:srgbClr val="3333FF"/>
                </a:solidFill>
                <a:latin typeface="Trebuchet MS" pitchFamily="34" charset="0"/>
              </a:rPr>
              <a:t>struct</a:t>
            </a:r>
            <a:r>
              <a:rPr lang="en-US" altLang="ko-KR" sz="2000" dirty="0" smtClean="0">
                <a:solidFill>
                  <a:srgbClr val="000000"/>
                </a:solidFill>
                <a:latin typeface="Trebuchet MS" pitchFamily="34" charset="0"/>
              </a:rPr>
              <a:t> student s2 = {24, “Kim”, 4.3};</a:t>
            </a:r>
          </a:p>
          <a:p>
            <a:pPr marL="800100" lvl="2" indent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2000" dirty="0" smtClean="0">
                <a:solidFill>
                  <a:srgbClr val="000000"/>
                </a:solidFill>
                <a:latin typeface="Trebuchet MS" pitchFamily="34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7291835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122004" y="-155968"/>
            <a:ext cx="10515600" cy="1325563"/>
          </a:xfrm>
        </p:spPr>
        <p:txBody>
          <a:bodyPr/>
          <a:lstStyle/>
          <a:p>
            <a:r>
              <a:rPr lang="ko-KR" altLang="en-US" dirty="0" smtClean="0">
                <a:latin typeface="휴먼매직체" panose="02030504000101010101" pitchFamily="18" charset="-127"/>
                <a:ea typeface="휴먼매직체" panose="02030504000101010101" pitchFamily="18" charset="-127"/>
              </a:rPr>
              <a:t>구조체</a:t>
            </a:r>
            <a:endParaRPr lang="ko-KR" altLang="en-US" dirty="0">
              <a:latin typeface="휴먼매직체" panose="02030504000101010101" pitchFamily="18" charset="-127"/>
              <a:ea typeface="휴먼매직체" panose="02030504000101010101" pitchFamily="18" charset="-127"/>
            </a:endParaRPr>
          </a:p>
        </p:txBody>
      </p:sp>
      <p:grpSp>
        <p:nvGrpSpPr>
          <p:cNvPr id="14" name="그룹 13"/>
          <p:cNvGrpSpPr/>
          <p:nvPr/>
        </p:nvGrpSpPr>
        <p:grpSpPr>
          <a:xfrm>
            <a:off x="-14176" y="0"/>
            <a:ext cx="12268200" cy="2411413"/>
            <a:chOff x="0" y="-95250"/>
            <a:chExt cx="12268200" cy="2411413"/>
          </a:xfrm>
          <a:solidFill>
            <a:srgbClr val="99CC00">
              <a:alpha val="30196"/>
            </a:srgbClr>
          </a:solidFill>
        </p:grpSpPr>
        <p:sp>
          <p:nvSpPr>
            <p:cNvPr id="17" name="직사각형 16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8" name="직사각형 17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이등변 삼각형 18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직사각형 19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직사각형 20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직사각형 21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타원 22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타원 23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타원 24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rcRect l="4303" t="14318" r="45639" b="32616"/>
          <a:stretch/>
        </p:blipFill>
        <p:spPr>
          <a:xfrm>
            <a:off x="578375" y="1517903"/>
            <a:ext cx="8486797" cy="5060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46558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122004" y="-155968"/>
            <a:ext cx="10515600" cy="1325563"/>
          </a:xfrm>
        </p:spPr>
        <p:txBody>
          <a:bodyPr/>
          <a:lstStyle/>
          <a:p>
            <a:r>
              <a:rPr lang="ko-KR" altLang="en-US" dirty="0" smtClean="0">
                <a:latin typeface="휴먼매직체" panose="02030504000101010101" pitchFamily="18" charset="-127"/>
                <a:ea typeface="휴먼매직체" panose="02030504000101010101" pitchFamily="18" charset="-127"/>
              </a:rPr>
              <a:t>구조체</a:t>
            </a:r>
            <a:endParaRPr lang="ko-KR" altLang="en-US" dirty="0">
              <a:latin typeface="휴먼매직체" panose="02030504000101010101" pitchFamily="18" charset="-127"/>
              <a:ea typeface="휴먼매직체" panose="02030504000101010101" pitchFamily="18" charset="-127"/>
            </a:endParaRPr>
          </a:p>
        </p:txBody>
      </p:sp>
      <p:grpSp>
        <p:nvGrpSpPr>
          <p:cNvPr id="14" name="그룹 13"/>
          <p:cNvGrpSpPr/>
          <p:nvPr/>
        </p:nvGrpSpPr>
        <p:grpSpPr>
          <a:xfrm>
            <a:off x="-14176" y="0"/>
            <a:ext cx="12268200" cy="2411413"/>
            <a:chOff x="0" y="-95250"/>
            <a:chExt cx="12268200" cy="2411413"/>
          </a:xfrm>
          <a:solidFill>
            <a:srgbClr val="99CC00">
              <a:alpha val="30196"/>
            </a:srgbClr>
          </a:solidFill>
        </p:grpSpPr>
        <p:sp>
          <p:nvSpPr>
            <p:cNvPr id="17" name="직사각형 16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8" name="직사각형 17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이등변 삼각형 18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직사각형 19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직사각형 20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직사각형 21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타원 22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타원 23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타원 24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2"/>
          <a:srcRect l="4740" t="13754" r="43324" b="22530"/>
          <a:stretch/>
        </p:blipFill>
        <p:spPr>
          <a:xfrm>
            <a:off x="458512" y="1240705"/>
            <a:ext cx="7897212" cy="5449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8806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122004" y="-155968"/>
            <a:ext cx="10515600" cy="1325563"/>
          </a:xfrm>
        </p:spPr>
        <p:txBody>
          <a:bodyPr/>
          <a:lstStyle/>
          <a:p>
            <a:r>
              <a:rPr lang="ko-KR" altLang="en-US" dirty="0" smtClean="0">
                <a:latin typeface="휴먼매직체" panose="02030504000101010101" pitchFamily="18" charset="-127"/>
                <a:ea typeface="휴먼매직체" panose="02030504000101010101" pitchFamily="18" charset="-127"/>
              </a:rPr>
              <a:t>구조체를 멤버로 갖는 구조체</a:t>
            </a:r>
            <a:endParaRPr lang="ko-KR" altLang="en-US" dirty="0">
              <a:latin typeface="휴먼매직체" panose="02030504000101010101" pitchFamily="18" charset="-127"/>
              <a:ea typeface="휴먼매직체" panose="02030504000101010101" pitchFamily="18" charset="-127"/>
            </a:endParaRPr>
          </a:p>
        </p:txBody>
      </p:sp>
      <p:grpSp>
        <p:nvGrpSpPr>
          <p:cNvPr id="14" name="그룹 13"/>
          <p:cNvGrpSpPr/>
          <p:nvPr/>
        </p:nvGrpSpPr>
        <p:grpSpPr>
          <a:xfrm>
            <a:off x="-14176" y="0"/>
            <a:ext cx="12268200" cy="2411413"/>
            <a:chOff x="0" y="-95250"/>
            <a:chExt cx="12268200" cy="2411413"/>
          </a:xfrm>
          <a:solidFill>
            <a:srgbClr val="99CC00">
              <a:alpha val="30196"/>
            </a:srgbClr>
          </a:solidFill>
        </p:grpSpPr>
        <p:sp>
          <p:nvSpPr>
            <p:cNvPr id="17" name="직사각형 16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8" name="직사각형 17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이등변 삼각형 18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직사각형 19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직사각형 20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직사각형 21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타원 22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타원 23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타원 24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rcRect l="4557" t="21521" r="25841" b="19096"/>
          <a:stretch/>
        </p:blipFill>
        <p:spPr>
          <a:xfrm>
            <a:off x="468170" y="1264845"/>
            <a:ext cx="11403264" cy="5472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1147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122004" y="-155968"/>
            <a:ext cx="10515600" cy="1325563"/>
          </a:xfrm>
        </p:spPr>
        <p:txBody>
          <a:bodyPr/>
          <a:lstStyle/>
          <a:p>
            <a:r>
              <a:rPr lang="ko-KR" altLang="en-US" dirty="0" smtClean="0">
                <a:latin typeface="휴먼매직체" panose="02030504000101010101" pitchFamily="18" charset="-127"/>
                <a:ea typeface="휴먼매직체" panose="02030504000101010101" pitchFamily="18" charset="-127"/>
              </a:rPr>
              <a:t>구조체 배열</a:t>
            </a:r>
            <a:endParaRPr lang="ko-KR" altLang="en-US" dirty="0">
              <a:latin typeface="휴먼매직체" panose="02030504000101010101" pitchFamily="18" charset="-127"/>
              <a:ea typeface="휴먼매직체" panose="02030504000101010101" pitchFamily="18" charset="-127"/>
            </a:endParaRPr>
          </a:p>
        </p:txBody>
      </p:sp>
      <p:grpSp>
        <p:nvGrpSpPr>
          <p:cNvPr id="14" name="그룹 13"/>
          <p:cNvGrpSpPr/>
          <p:nvPr/>
        </p:nvGrpSpPr>
        <p:grpSpPr>
          <a:xfrm>
            <a:off x="-14176" y="0"/>
            <a:ext cx="12268200" cy="2411413"/>
            <a:chOff x="0" y="-95250"/>
            <a:chExt cx="12268200" cy="2411413"/>
          </a:xfrm>
          <a:solidFill>
            <a:srgbClr val="99CC00">
              <a:alpha val="30196"/>
            </a:srgbClr>
          </a:solidFill>
        </p:grpSpPr>
        <p:sp>
          <p:nvSpPr>
            <p:cNvPr id="17" name="직사각형 16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8" name="직사각형 17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이등변 삼각형 18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직사각형 19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직사각형 20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직사각형 21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타원 22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타원 23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타원 24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2"/>
          <a:srcRect l="54106" t="23975" r="21324" b="32615"/>
          <a:stretch/>
        </p:blipFill>
        <p:spPr>
          <a:xfrm>
            <a:off x="788494" y="1426905"/>
            <a:ext cx="5249699" cy="5217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1135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122004" y="-155968"/>
            <a:ext cx="10515600" cy="1325563"/>
          </a:xfrm>
        </p:spPr>
        <p:txBody>
          <a:bodyPr/>
          <a:lstStyle/>
          <a:p>
            <a:r>
              <a:rPr lang="ko-KR" altLang="en-US" dirty="0" smtClean="0">
                <a:latin typeface="휴먼매직체" panose="02030504000101010101" pitchFamily="18" charset="-127"/>
                <a:ea typeface="휴먼매직체" panose="02030504000101010101" pitchFamily="18" charset="-127"/>
              </a:rPr>
              <a:t>구조체 배열</a:t>
            </a:r>
            <a:endParaRPr lang="ko-KR" altLang="en-US" dirty="0">
              <a:latin typeface="휴먼매직체" panose="02030504000101010101" pitchFamily="18" charset="-127"/>
              <a:ea typeface="휴먼매직체" panose="02030504000101010101" pitchFamily="18" charset="-127"/>
            </a:endParaRPr>
          </a:p>
        </p:txBody>
      </p:sp>
      <p:grpSp>
        <p:nvGrpSpPr>
          <p:cNvPr id="14" name="그룹 13"/>
          <p:cNvGrpSpPr/>
          <p:nvPr/>
        </p:nvGrpSpPr>
        <p:grpSpPr>
          <a:xfrm>
            <a:off x="-14176" y="0"/>
            <a:ext cx="12268200" cy="2411413"/>
            <a:chOff x="0" y="-95250"/>
            <a:chExt cx="12268200" cy="2411413"/>
          </a:xfrm>
          <a:solidFill>
            <a:srgbClr val="99CC00">
              <a:alpha val="30196"/>
            </a:srgbClr>
          </a:solidFill>
        </p:grpSpPr>
        <p:sp>
          <p:nvSpPr>
            <p:cNvPr id="17" name="직사각형 16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8" name="직사각형 17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이등변 삼각형 18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직사각형 19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직사각형 20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직사각형 21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타원 22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타원 23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타원 24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rcRect l="4838" t="20742" r="45028" b="16995"/>
          <a:stretch/>
        </p:blipFill>
        <p:spPr>
          <a:xfrm>
            <a:off x="578375" y="1235345"/>
            <a:ext cx="7824646" cy="5466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89146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122004" y="-155968"/>
            <a:ext cx="10515600" cy="1325563"/>
          </a:xfrm>
        </p:spPr>
        <p:txBody>
          <a:bodyPr/>
          <a:lstStyle/>
          <a:p>
            <a:r>
              <a:rPr lang="ko-KR" altLang="en-US" dirty="0" smtClean="0">
                <a:latin typeface="휴먼매직체" panose="02030504000101010101" pitchFamily="18" charset="-127"/>
                <a:ea typeface="휴먼매직체" panose="02030504000101010101" pitchFamily="18" charset="-127"/>
              </a:rPr>
              <a:t>구조체와 함수</a:t>
            </a:r>
            <a:endParaRPr lang="ko-KR" altLang="en-US" dirty="0">
              <a:latin typeface="휴먼매직체" panose="02030504000101010101" pitchFamily="18" charset="-127"/>
              <a:ea typeface="휴먼매직체" panose="02030504000101010101" pitchFamily="18" charset="-127"/>
            </a:endParaRPr>
          </a:p>
        </p:txBody>
      </p:sp>
      <p:grpSp>
        <p:nvGrpSpPr>
          <p:cNvPr id="14" name="그룹 13"/>
          <p:cNvGrpSpPr/>
          <p:nvPr/>
        </p:nvGrpSpPr>
        <p:grpSpPr>
          <a:xfrm>
            <a:off x="-14176" y="0"/>
            <a:ext cx="12268200" cy="2411413"/>
            <a:chOff x="0" y="-95250"/>
            <a:chExt cx="12268200" cy="2411413"/>
          </a:xfrm>
          <a:solidFill>
            <a:srgbClr val="99CC00">
              <a:alpha val="30196"/>
            </a:srgbClr>
          </a:solidFill>
        </p:grpSpPr>
        <p:sp>
          <p:nvSpPr>
            <p:cNvPr id="17" name="직사각형 16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8" name="직사각형 17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이등변 삼각형 18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직사각형 19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직사각형 20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직사각형 21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타원 22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타원 23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타원 24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2"/>
          <a:srcRect l="4646" t="14448" r="61843" b="36662"/>
          <a:stretch/>
        </p:blipFill>
        <p:spPr>
          <a:xfrm>
            <a:off x="281978" y="1146731"/>
            <a:ext cx="5328705" cy="4373015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3"/>
          <a:srcRect l="4491" t="18919" r="64763" b="48237"/>
          <a:stretch/>
        </p:blipFill>
        <p:spPr>
          <a:xfrm>
            <a:off x="5379804" y="2291839"/>
            <a:ext cx="6806941" cy="4090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29333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122004" y="-155968"/>
            <a:ext cx="10515600" cy="1325563"/>
          </a:xfrm>
        </p:spPr>
        <p:txBody>
          <a:bodyPr/>
          <a:lstStyle/>
          <a:p>
            <a:r>
              <a:rPr lang="ko-KR" altLang="en-US" dirty="0" smtClean="0">
                <a:latin typeface="휴먼매직체" panose="02030504000101010101" pitchFamily="18" charset="-127"/>
                <a:ea typeface="휴먼매직체" panose="02030504000101010101" pitchFamily="18" charset="-127"/>
              </a:rPr>
              <a:t>구조체 포인터</a:t>
            </a:r>
            <a:endParaRPr lang="ko-KR" altLang="en-US" dirty="0">
              <a:latin typeface="휴먼매직체" panose="02030504000101010101" pitchFamily="18" charset="-127"/>
              <a:ea typeface="휴먼매직체" panose="02030504000101010101" pitchFamily="18" charset="-127"/>
            </a:endParaRPr>
          </a:p>
        </p:txBody>
      </p:sp>
      <p:grpSp>
        <p:nvGrpSpPr>
          <p:cNvPr id="14" name="그룹 13"/>
          <p:cNvGrpSpPr/>
          <p:nvPr/>
        </p:nvGrpSpPr>
        <p:grpSpPr>
          <a:xfrm>
            <a:off x="-14176" y="0"/>
            <a:ext cx="12268200" cy="2411413"/>
            <a:chOff x="0" y="-95250"/>
            <a:chExt cx="12268200" cy="2411413"/>
          </a:xfrm>
          <a:solidFill>
            <a:srgbClr val="99CC00">
              <a:alpha val="30196"/>
            </a:srgbClr>
          </a:solidFill>
        </p:grpSpPr>
        <p:sp>
          <p:nvSpPr>
            <p:cNvPr id="17" name="직사각형 16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8" name="직사각형 17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이등변 삼각형 18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직사각형 19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직사각형 20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직사각형 21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타원 22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타원 23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타원 24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2"/>
          <a:srcRect l="4937" t="21980" r="52890" b="33730"/>
          <a:stretch/>
        </p:blipFill>
        <p:spPr>
          <a:xfrm>
            <a:off x="406672" y="2043953"/>
            <a:ext cx="7535410" cy="4451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29619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122004" y="-155968"/>
            <a:ext cx="10515600" cy="1325563"/>
          </a:xfrm>
        </p:spPr>
        <p:txBody>
          <a:bodyPr/>
          <a:lstStyle/>
          <a:p>
            <a:r>
              <a:rPr lang="ko-KR" altLang="en-US" dirty="0" smtClean="0">
                <a:latin typeface="휴먼매직체" panose="02030504000101010101" pitchFamily="18" charset="-127"/>
                <a:ea typeface="휴먼매직체" panose="02030504000101010101" pitchFamily="18" charset="-127"/>
              </a:rPr>
              <a:t>구조체 포인터</a:t>
            </a:r>
            <a:endParaRPr lang="ko-KR" altLang="en-US" dirty="0">
              <a:latin typeface="휴먼매직체" panose="02030504000101010101" pitchFamily="18" charset="-127"/>
              <a:ea typeface="휴먼매직체" panose="02030504000101010101" pitchFamily="18" charset="-127"/>
            </a:endParaRPr>
          </a:p>
        </p:txBody>
      </p:sp>
      <p:grpSp>
        <p:nvGrpSpPr>
          <p:cNvPr id="14" name="그룹 13"/>
          <p:cNvGrpSpPr/>
          <p:nvPr/>
        </p:nvGrpSpPr>
        <p:grpSpPr>
          <a:xfrm>
            <a:off x="-14176" y="0"/>
            <a:ext cx="12268200" cy="2411413"/>
            <a:chOff x="0" y="-95250"/>
            <a:chExt cx="12268200" cy="2411413"/>
          </a:xfrm>
          <a:solidFill>
            <a:srgbClr val="99CC00">
              <a:alpha val="30196"/>
            </a:srgbClr>
          </a:solidFill>
        </p:grpSpPr>
        <p:sp>
          <p:nvSpPr>
            <p:cNvPr id="17" name="직사각형 16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8" name="직사각형 17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이등변 삼각형 18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직사각형 19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직사각형 20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직사각형 21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타원 22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타원 23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타원 24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rcRect l="4233" t="22290" r="57036" b="32860"/>
          <a:stretch/>
        </p:blipFill>
        <p:spPr>
          <a:xfrm>
            <a:off x="205746" y="2088775"/>
            <a:ext cx="6951025" cy="452761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97158" y="2822028"/>
            <a:ext cx="4719562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800" dirty="0" smtClean="0">
                <a:latin typeface="Consolas" panose="020B0609020204030204" pitchFamily="49" charset="0"/>
              </a:rPr>
              <a:t>(*p).number   p-&gt;number</a:t>
            </a:r>
          </a:p>
          <a:p>
            <a:pPr algn="ctr"/>
            <a:endParaRPr lang="en-US" altLang="ko-KR" sz="2800" dirty="0">
              <a:latin typeface="Consolas" panose="020B0609020204030204" pitchFamily="49" charset="0"/>
            </a:endParaRPr>
          </a:p>
          <a:p>
            <a:pPr algn="ctr"/>
            <a:r>
              <a:rPr lang="ko-KR" altLang="en-US" sz="2800" dirty="0" smtClean="0">
                <a:latin typeface="휴먼매직체" panose="02030504000101010101" pitchFamily="18" charset="-127"/>
                <a:ea typeface="휴먼매직체" panose="02030504000101010101" pitchFamily="18" charset="-127"/>
              </a:rPr>
              <a:t>둘은 같은 표현</a:t>
            </a:r>
            <a:endParaRPr lang="ko-KR" altLang="en-US" sz="2800" dirty="0">
              <a:latin typeface="휴먼매직체" panose="02030504000101010101" pitchFamily="18" charset="-127"/>
              <a:ea typeface="휴먼매직체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542442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122004" y="-155968"/>
            <a:ext cx="10515600" cy="1325563"/>
          </a:xfrm>
        </p:spPr>
        <p:txBody>
          <a:bodyPr/>
          <a:lstStyle/>
          <a:p>
            <a:r>
              <a:rPr lang="ko-KR" altLang="en-US" dirty="0" smtClean="0">
                <a:latin typeface="휴먼매직체" panose="02030504000101010101" pitchFamily="18" charset="-127"/>
                <a:ea typeface="휴먼매직체" panose="02030504000101010101" pitchFamily="18" charset="-127"/>
              </a:rPr>
              <a:t>구조체 </a:t>
            </a:r>
            <a:r>
              <a:rPr lang="ko-KR" altLang="en-US" dirty="0" err="1" smtClean="0">
                <a:latin typeface="휴먼매직체" panose="02030504000101010101" pitchFamily="18" charset="-127"/>
                <a:ea typeface="휴먼매직체" panose="02030504000101010101" pitchFamily="18" charset="-127"/>
              </a:rPr>
              <a:t>동적할당</a:t>
            </a:r>
            <a:endParaRPr lang="ko-KR" altLang="en-US" dirty="0">
              <a:latin typeface="휴먼매직체" panose="02030504000101010101" pitchFamily="18" charset="-127"/>
              <a:ea typeface="휴먼매직체" panose="02030504000101010101" pitchFamily="18" charset="-127"/>
            </a:endParaRPr>
          </a:p>
        </p:txBody>
      </p:sp>
      <p:grpSp>
        <p:nvGrpSpPr>
          <p:cNvPr id="14" name="그룹 13"/>
          <p:cNvGrpSpPr/>
          <p:nvPr/>
        </p:nvGrpSpPr>
        <p:grpSpPr>
          <a:xfrm>
            <a:off x="-14176" y="0"/>
            <a:ext cx="12268200" cy="2411413"/>
            <a:chOff x="0" y="-95250"/>
            <a:chExt cx="12268200" cy="2411413"/>
          </a:xfrm>
          <a:solidFill>
            <a:srgbClr val="99CC00">
              <a:alpha val="30196"/>
            </a:srgbClr>
          </a:solidFill>
        </p:grpSpPr>
        <p:sp>
          <p:nvSpPr>
            <p:cNvPr id="17" name="직사각형 16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8" name="직사각형 17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이등변 삼각형 18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직사각형 19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직사각형 20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직사각형 21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타원 22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타원 23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타원 24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2"/>
          <a:srcRect l="5147" t="14052" r="46275" b="33986"/>
          <a:stretch/>
        </p:blipFill>
        <p:spPr>
          <a:xfrm>
            <a:off x="855219" y="1325563"/>
            <a:ext cx="8884022" cy="5345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61669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122004" y="-155968"/>
            <a:ext cx="10515600" cy="1325563"/>
          </a:xfrm>
        </p:spPr>
        <p:txBody>
          <a:bodyPr/>
          <a:lstStyle/>
          <a:p>
            <a:r>
              <a:rPr lang="en-US" altLang="ko-KR" dirty="0" err="1" smtClean="0">
                <a:latin typeface="휴먼매직체" panose="02030504000101010101" pitchFamily="18" charset="-127"/>
                <a:ea typeface="휴먼매직체" panose="02030504000101010101" pitchFamily="18" charset="-127"/>
              </a:rPr>
              <a:t>typedef</a:t>
            </a:r>
            <a:endParaRPr lang="ko-KR" altLang="en-US" dirty="0">
              <a:latin typeface="휴먼매직체" panose="02030504000101010101" pitchFamily="18" charset="-127"/>
              <a:ea typeface="휴먼매직체" panose="02030504000101010101" pitchFamily="18" charset="-127"/>
            </a:endParaRPr>
          </a:p>
        </p:txBody>
      </p:sp>
      <p:grpSp>
        <p:nvGrpSpPr>
          <p:cNvPr id="14" name="그룹 13"/>
          <p:cNvGrpSpPr/>
          <p:nvPr/>
        </p:nvGrpSpPr>
        <p:grpSpPr>
          <a:xfrm>
            <a:off x="-14176" y="0"/>
            <a:ext cx="12268200" cy="2411413"/>
            <a:chOff x="0" y="-95250"/>
            <a:chExt cx="12268200" cy="2411413"/>
          </a:xfrm>
          <a:solidFill>
            <a:srgbClr val="99CC00">
              <a:alpha val="30196"/>
            </a:srgbClr>
          </a:solidFill>
        </p:grpSpPr>
        <p:sp>
          <p:nvSpPr>
            <p:cNvPr id="17" name="직사각형 16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8" name="직사각형 17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이등변 삼각형 18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직사각형 19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직사각형 20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직사각형 21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타원 22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타원 23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타원 24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rcRect l="7775" t="16910" r="57441" b="34360"/>
          <a:stretch/>
        </p:blipFill>
        <p:spPr>
          <a:xfrm>
            <a:off x="698238" y="1325562"/>
            <a:ext cx="6889524" cy="5429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24816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그룹 14"/>
          <p:cNvGrpSpPr/>
          <p:nvPr/>
        </p:nvGrpSpPr>
        <p:grpSpPr>
          <a:xfrm>
            <a:off x="0" y="-95250"/>
            <a:ext cx="12268200" cy="2411413"/>
            <a:chOff x="0" y="-95250"/>
            <a:chExt cx="12268200" cy="2411413"/>
          </a:xfrm>
        </p:grpSpPr>
        <p:sp>
          <p:nvSpPr>
            <p:cNvPr id="4" name="직사각형 3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직사각형 4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이등변 삼각형 5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직사각형 7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타원 10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타원 11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타원 12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4" name="내용 개체 틀 1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>
              <a:solidFill>
                <a:srgbClr val="FF0000"/>
              </a:solidFill>
            </a:endParaRPr>
          </a:p>
          <a:p>
            <a:endParaRPr lang="en-US" altLang="ko-KR" dirty="0">
              <a:solidFill>
                <a:srgbClr val="FF0000"/>
              </a:solidFill>
            </a:endParaRPr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3111950" y="3339574"/>
            <a:ext cx="5314275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8000" b="1" dirty="0"/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41120253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4204</TotalTime>
  <Words>389</Words>
  <Application>Microsoft Office PowerPoint</Application>
  <PresentationFormat>와이드스크린</PresentationFormat>
  <Paragraphs>183</Paragraphs>
  <Slides>27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27</vt:i4>
      </vt:variant>
    </vt:vector>
  </HeadingPairs>
  <TitlesOfParts>
    <vt:vector size="36" baseType="lpstr">
      <vt:lpstr>굴림</vt:lpstr>
      <vt:lpstr>맑은 고딕</vt:lpstr>
      <vt:lpstr>휴먼매직체</vt:lpstr>
      <vt:lpstr>휴먼명조</vt:lpstr>
      <vt:lpstr>Arial</vt:lpstr>
      <vt:lpstr>Consolas</vt:lpstr>
      <vt:lpstr>Lucida Calligraphy</vt:lpstr>
      <vt:lpstr>Trebuchet MS</vt:lpstr>
      <vt:lpstr>Office 테마</vt:lpstr>
      <vt:lpstr>C 언어 스터디 7주차 </vt:lpstr>
      <vt:lpstr>메모리 할당</vt:lpstr>
      <vt:lpstr>메모리 할당</vt:lpstr>
      <vt:lpstr>메모리 할당</vt:lpstr>
      <vt:lpstr>동적 할당</vt:lpstr>
      <vt:lpstr>동적 할당</vt:lpstr>
      <vt:lpstr>동적 할당</vt:lpstr>
      <vt:lpstr>동적 할당</vt:lpstr>
      <vt:lpstr>동적 할당</vt:lpstr>
      <vt:lpstr>동적 할당</vt:lpstr>
      <vt:lpstr>구조체</vt:lpstr>
      <vt:lpstr>구조체</vt:lpstr>
      <vt:lpstr>구조체</vt:lpstr>
      <vt:lpstr>구조체</vt:lpstr>
      <vt:lpstr>구조체</vt:lpstr>
      <vt:lpstr>구조체 변수 선언</vt:lpstr>
      <vt:lpstr>구조체</vt:lpstr>
      <vt:lpstr>구조체</vt:lpstr>
      <vt:lpstr>구조체를 멤버로 갖는 구조체</vt:lpstr>
      <vt:lpstr>구조체 배열</vt:lpstr>
      <vt:lpstr>구조체 배열</vt:lpstr>
      <vt:lpstr>구조체와 함수</vt:lpstr>
      <vt:lpstr>구조체 포인터</vt:lpstr>
      <vt:lpstr>구조체 포인터</vt:lpstr>
      <vt:lpstr>구조체 동적할당</vt:lpstr>
      <vt:lpstr>typedef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sera</dc:creator>
  <cp:lastModifiedBy>이우열</cp:lastModifiedBy>
  <cp:revision>316</cp:revision>
  <dcterms:created xsi:type="dcterms:W3CDTF">2016-06-26T11:40:01Z</dcterms:created>
  <dcterms:modified xsi:type="dcterms:W3CDTF">2019-08-04T14:03:39Z</dcterms:modified>
</cp:coreProperties>
</file>