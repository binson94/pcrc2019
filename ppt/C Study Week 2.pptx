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sldIdLst>
    <p:sldId id="260" r:id="rId2"/>
    <p:sldId id="322" r:id="rId3"/>
    <p:sldId id="258" r:id="rId4"/>
    <p:sldId id="257" r:id="rId5"/>
    <p:sldId id="313" r:id="rId6"/>
    <p:sldId id="261" r:id="rId7"/>
    <p:sldId id="310" r:id="rId8"/>
    <p:sldId id="316" r:id="rId9"/>
    <p:sldId id="314" r:id="rId10"/>
    <p:sldId id="317" r:id="rId11"/>
    <p:sldId id="318" r:id="rId12"/>
    <p:sldId id="311" r:id="rId13"/>
    <p:sldId id="312" r:id="rId14"/>
    <p:sldId id="315" r:id="rId15"/>
    <p:sldId id="281" r:id="rId16"/>
    <p:sldId id="308" r:id="rId17"/>
    <p:sldId id="332" r:id="rId18"/>
    <p:sldId id="319" r:id="rId19"/>
    <p:sldId id="333" r:id="rId20"/>
    <p:sldId id="321" r:id="rId21"/>
    <p:sldId id="323" r:id="rId22"/>
    <p:sldId id="325" r:id="rId23"/>
    <p:sldId id="324" r:id="rId24"/>
    <p:sldId id="326" r:id="rId25"/>
    <p:sldId id="327" r:id="rId26"/>
    <p:sldId id="328" r:id="rId27"/>
    <p:sldId id="329" r:id="rId28"/>
    <p:sldId id="334" r:id="rId29"/>
    <p:sldId id="331" r:id="rId30"/>
    <p:sldId id="335" r:id="rId31"/>
    <p:sldId id="292" r:id="rId32"/>
    <p:sldId id="293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340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425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52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2060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417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15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385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497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961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970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148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FD9F2-3F14-4585-A92A-001A16360462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5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838200" y="1407049"/>
            <a:ext cx="10515600" cy="5026025"/>
          </a:xfrm>
        </p:spPr>
        <p:txBody>
          <a:bodyPr>
            <a:normAutofit/>
          </a:bodyPr>
          <a:lstStyle/>
          <a:p>
            <a:pPr algn="ctr"/>
            <a:r>
              <a:rPr lang="en-US" altLang="ko-KR" sz="6600" dirty="0" smtClean="0">
                <a:latin typeface="Consolas" panose="020B0609020204030204" pitchFamily="49" charset="0"/>
                <a:ea typeface="한컴 윤체 B" panose="02020603020101020101" pitchFamily="18" charset="-127"/>
              </a:rPr>
              <a:t>C</a:t>
            </a:r>
            <a:r>
              <a:rPr lang="ko-KR" altLang="en-US" sz="6600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언어 </a:t>
            </a:r>
            <a:r>
              <a:rPr lang="ko-KR" altLang="en-US" sz="66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스터디 </a:t>
            </a:r>
            <a:r>
              <a:rPr lang="en-US" altLang="ko-KR" sz="6600" dirty="0">
                <a:latin typeface="Consolas" panose="020B0609020204030204" pitchFamily="49" charset="0"/>
                <a:ea typeface="휴먼매직체" panose="02030504000101010101" pitchFamily="18" charset="-127"/>
              </a:rPr>
              <a:t>2</a:t>
            </a:r>
            <a:r>
              <a:rPr lang="ko-KR" altLang="en-US" sz="66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주차 </a:t>
            </a:r>
          </a:p>
        </p:txBody>
      </p:sp>
    </p:spTree>
    <p:extLst>
      <p:ext uri="{BB962C8B-B14F-4D97-AF65-F5344CB8AC3E}">
        <p14:creationId xmlns:p14="http://schemas.microsoft.com/office/powerpoint/2010/main" val="2906675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복습</a:t>
            </a: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1315649" y="2696984"/>
            <a:ext cx="9137958" cy="1875016"/>
          </a:xfrm>
        </p:spPr>
        <p:txBody>
          <a:bodyPr>
            <a:normAutofit/>
          </a:bodyPr>
          <a:lstStyle/>
          <a:p>
            <a:r>
              <a:rPr lang="en-US" altLang="ko-KR" sz="2400" b="1" dirty="0" err="1"/>
              <a:t>Printf</a:t>
            </a:r>
            <a:r>
              <a:rPr lang="en-US" altLang="ko-KR" sz="2400" b="1" dirty="0"/>
              <a:t>()</a:t>
            </a:r>
            <a:r>
              <a:rPr lang="ko-KR" altLang="en-US" sz="2400" b="1" dirty="0"/>
              <a:t>함수에서 정수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실수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문자 각각의 형식제어문자는</a:t>
            </a:r>
            <a:r>
              <a:rPr lang="en-US" altLang="ko-KR" sz="2400" b="1" dirty="0"/>
              <a:t>?</a:t>
            </a:r>
          </a:p>
          <a:p>
            <a:endParaRPr lang="en-US" altLang="ko-KR" sz="2400" b="1" dirty="0"/>
          </a:p>
          <a:p>
            <a:r>
              <a:rPr lang="en-US" altLang="ko-KR" sz="2400" b="1" dirty="0" err="1"/>
              <a:t>Scanf</a:t>
            </a:r>
            <a:r>
              <a:rPr lang="en-US" altLang="ko-KR" sz="2400" b="1" dirty="0"/>
              <a:t>(“%d”, x); </a:t>
            </a:r>
            <a:r>
              <a:rPr lang="ko-KR" altLang="en-US" sz="2400" b="1" dirty="0"/>
              <a:t>을 바르게 고치고 이 함수가 의미하는 바는</a:t>
            </a:r>
            <a:r>
              <a:rPr lang="en-US" altLang="ko-KR" sz="2400" b="1" dirty="0"/>
              <a:t>?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2112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변수와 상수</a:t>
            </a: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1284652" y="1720591"/>
            <a:ext cx="10515600" cy="4351338"/>
          </a:xfrm>
        </p:spPr>
        <p:txBody>
          <a:bodyPr>
            <a:normAutofit/>
          </a:bodyPr>
          <a:lstStyle/>
          <a:p>
            <a:r>
              <a:rPr lang="ko-KR" altLang="en-US" sz="2400" b="1" dirty="0"/>
              <a:t>변수 </a:t>
            </a:r>
            <a:r>
              <a:rPr lang="en-US" altLang="ko-KR" sz="2400" b="1" dirty="0"/>
              <a:t>: </a:t>
            </a:r>
            <a:r>
              <a:rPr lang="ko-KR" altLang="en-US" sz="2400" b="1" dirty="0"/>
              <a:t>메인 메모리에 생성되며 값을 언제든지 </a:t>
            </a:r>
            <a:r>
              <a:rPr lang="ko-KR" altLang="en-US" sz="2400" b="1" dirty="0">
                <a:solidFill>
                  <a:srgbClr val="FF0000"/>
                </a:solidFill>
              </a:rPr>
              <a:t>변경이 가능</a:t>
            </a:r>
            <a:r>
              <a:rPr lang="ko-KR" altLang="en-US" sz="2400" b="1" dirty="0"/>
              <a:t>한 공간</a:t>
            </a: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ko-KR" altLang="en-US" sz="2400" b="1" dirty="0"/>
              <a:t>상수 </a:t>
            </a:r>
            <a:r>
              <a:rPr lang="en-US" altLang="ko-KR" sz="2400" b="1" dirty="0"/>
              <a:t>: </a:t>
            </a:r>
            <a:r>
              <a:rPr lang="ko-KR" altLang="en-US" sz="2400" b="1" dirty="0"/>
              <a:t>저장된 값이 변경이 </a:t>
            </a:r>
            <a:r>
              <a:rPr lang="ko-KR" altLang="en-US" sz="2400" b="1" dirty="0">
                <a:solidFill>
                  <a:srgbClr val="FF0000"/>
                </a:solidFill>
              </a:rPr>
              <a:t>불가능</a:t>
            </a:r>
            <a:r>
              <a:rPr lang="ko-KR" altLang="en-US" sz="2400" b="1" dirty="0"/>
              <a:t>한 공간</a:t>
            </a:r>
            <a:r>
              <a:rPr lang="en-US" altLang="ko-KR" sz="2400" b="1" dirty="0"/>
              <a:t> (</a:t>
            </a:r>
            <a:r>
              <a:rPr lang="ko-KR" altLang="en-US" sz="2400" b="1" dirty="0"/>
              <a:t>숫자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문자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문자열 모두 상수가 될 수 있음</a:t>
            </a:r>
            <a:r>
              <a:rPr lang="en-US" altLang="ko-KR" sz="2400" b="1" dirty="0"/>
              <a:t>. </a:t>
            </a:r>
            <a:r>
              <a:rPr lang="en-US" altLang="ko-KR" sz="2400" b="1" dirty="0">
                <a:latin typeface="Consolas" panose="020B0609020204030204" pitchFamily="49" charset="0"/>
              </a:rPr>
              <a:t>‘A’,</a:t>
            </a:r>
            <a:r>
              <a:rPr lang="ko-KR" altLang="en-US" sz="2400" b="1" dirty="0">
                <a:latin typeface="Consolas" panose="020B0609020204030204" pitchFamily="49" charset="0"/>
              </a:rPr>
              <a:t> </a:t>
            </a:r>
            <a:r>
              <a:rPr lang="en-US" altLang="ko-KR" sz="2400" b="1" dirty="0">
                <a:latin typeface="Consolas" panose="020B0609020204030204" pitchFamily="49" charset="0"/>
              </a:rPr>
              <a:t>“Hello”, 3.14 </a:t>
            </a:r>
            <a:r>
              <a:rPr lang="ko-KR" altLang="en-US" sz="2400" b="1" dirty="0"/>
              <a:t>등등</a:t>
            </a:r>
            <a:r>
              <a:rPr lang="en-US" altLang="ko-KR" sz="2400" b="1" dirty="0"/>
              <a:t>)</a:t>
            </a:r>
            <a:endParaRPr lang="ko-KR" altLang="en-US" sz="24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D4DEF2-5EEE-498A-8F12-AC96B75B5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6103" y="3605052"/>
            <a:ext cx="6007881" cy="299030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346655E-4826-4F97-85C9-C6815685C5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14" y="3772029"/>
            <a:ext cx="5287304" cy="282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799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상수 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기호상수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1353521" y="194049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1. </a:t>
            </a:r>
            <a:r>
              <a:rPr lang="en-US" altLang="ko-KR" b="1" dirty="0">
                <a:latin typeface="Consolas" panose="020B0609020204030204" pitchFamily="49" charset="0"/>
              </a:rPr>
              <a:t>#define</a:t>
            </a:r>
            <a:r>
              <a:rPr lang="ko-KR" altLang="en-US" b="1" dirty="0">
                <a:latin typeface="Consolas" panose="020B0609020204030204" pitchFamily="49" charset="0"/>
              </a:rPr>
              <a:t> </a:t>
            </a:r>
            <a:r>
              <a:rPr lang="ko-KR" altLang="en-US" b="1" dirty="0"/>
              <a:t>문장 사용  </a:t>
            </a:r>
            <a:r>
              <a:rPr lang="en-US" altLang="ko-KR" b="1" dirty="0"/>
              <a:t>ex) </a:t>
            </a:r>
            <a:r>
              <a:rPr lang="en-US" altLang="ko-KR" b="1" dirty="0">
                <a:latin typeface="Consolas" panose="020B0609020204030204" pitchFamily="49" charset="0"/>
              </a:rPr>
              <a:t>#define PI 3.141592</a:t>
            </a:r>
          </a:p>
          <a:p>
            <a:pPr marL="0" indent="0">
              <a:buNone/>
            </a:pPr>
            <a:r>
              <a:rPr lang="en-US" altLang="ko-KR" b="1" dirty="0"/>
              <a:t>  : </a:t>
            </a:r>
            <a:r>
              <a:rPr lang="ko-KR" altLang="en-US" sz="2400" b="1" dirty="0"/>
              <a:t>전처리기에 문장을 추가해서 </a:t>
            </a:r>
            <a:r>
              <a:rPr lang="en-US" altLang="ko-KR" sz="2400" b="1" dirty="0">
                <a:latin typeface="Consolas" panose="020B0609020204030204" pitchFamily="49" charset="0"/>
              </a:rPr>
              <a:t>PI</a:t>
            </a:r>
            <a:r>
              <a:rPr lang="ko-KR" altLang="en-US" sz="2400" b="1" dirty="0">
                <a:latin typeface="Consolas" panose="020B0609020204030204" pitchFamily="49" charset="0"/>
              </a:rPr>
              <a:t>라는 기호를 </a:t>
            </a:r>
            <a:r>
              <a:rPr lang="en-US" altLang="ko-KR" sz="2400" b="1" dirty="0">
                <a:latin typeface="Consolas" panose="020B0609020204030204" pitchFamily="49" charset="0"/>
              </a:rPr>
              <a:t>3.141592</a:t>
            </a:r>
            <a:r>
              <a:rPr lang="ko-KR" altLang="en-US" sz="2400" b="1" dirty="0"/>
              <a:t>로 정의한다는</a:t>
            </a:r>
            <a:endParaRPr lang="en-US" altLang="ko-KR" sz="2400" b="1" dirty="0"/>
          </a:p>
          <a:p>
            <a:pPr marL="0" indent="0">
              <a:buNone/>
            </a:pPr>
            <a:r>
              <a:rPr lang="en-US" altLang="ko-KR" sz="2400" b="1" dirty="0"/>
              <a:t>     </a:t>
            </a:r>
            <a:r>
              <a:rPr lang="ko-KR" altLang="en-US" sz="2400" b="1" dirty="0"/>
              <a:t>의미</a:t>
            </a:r>
            <a:r>
              <a:rPr lang="en-US" altLang="ko-KR" sz="2400" b="1" dirty="0"/>
              <a:t>. </a:t>
            </a:r>
            <a:r>
              <a:rPr lang="ko-KR" altLang="en-US" sz="2400" b="1" dirty="0"/>
              <a:t>컴파일러가 동작하기 전에 기호를 찾아서 모두 숫자로 바꿈</a:t>
            </a:r>
            <a:r>
              <a:rPr lang="en-US" altLang="ko-KR" sz="2400" b="1" dirty="0"/>
              <a:t>.</a:t>
            </a:r>
          </a:p>
          <a:p>
            <a:pPr marL="0" indent="0">
              <a:buNone/>
            </a:pPr>
            <a:r>
              <a:rPr lang="en-US" altLang="ko-KR" sz="2400" b="1" dirty="0"/>
              <a:t>     </a:t>
            </a:r>
            <a:r>
              <a:rPr lang="ko-KR" altLang="en-US" sz="2400" b="1" dirty="0">
                <a:solidFill>
                  <a:srgbClr val="FF0000"/>
                </a:solidFill>
              </a:rPr>
              <a:t>주의</a:t>
            </a:r>
            <a:r>
              <a:rPr lang="en-US" altLang="ko-KR" sz="2400" b="1" dirty="0">
                <a:solidFill>
                  <a:srgbClr val="FF0000"/>
                </a:solidFill>
              </a:rPr>
              <a:t>) </a:t>
            </a:r>
            <a:r>
              <a:rPr lang="ko-KR" altLang="en-US" sz="2400" b="1" dirty="0">
                <a:solidFill>
                  <a:srgbClr val="FF0000"/>
                </a:solidFill>
              </a:rPr>
              <a:t>문장 뒤에 세미콜론이 붙지 않음</a:t>
            </a:r>
            <a:r>
              <a:rPr lang="en-US" altLang="ko-KR" sz="2400" b="1" dirty="0">
                <a:solidFill>
                  <a:srgbClr val="FF0000"/>
                </a:solidFill>
              </a:rPr>
              <a:t>!!</a:t>
            </a:r>
          </a:p>
          <a:p>
            <a:pPr marL="0" indent="0">
              <a:buNone/>
            </a:pPr>
            <a:r>
              <a:rPr lang="en-US" altLang="ko-KR" sz="2400" b="1" dirty="0"/>
              <a:t> </a:t>
            </a:r>
          </a:p>
          <a:p>
            <a:pPr marL="0" indent="0">
              <a:buNone/>
            </a:pPr>
            <a:r>
              <a:rPr lang="en-US" altLang="ko-KR" sz="2400" b="1" dirty="0"/>
              <a:t> 2. </a:t>
            </a:r>
            <a:r>
              <a:rPr lang="en-US" altLang="ko-KR" sz="2400" b="1" dirty="0" err="1">
                <a:latin typeface="Consolas" panose="020B0609020204030204" pitchFamily="49" charset="0"/>
              </a:rPr>
              <a:t>const</a:t>
            </a:r>
            <a:r>
              <a:rPr lang="en-US" altLang="ko-KR" sz="2400" b="1" dirty="0">
                <a:latin typeface="Consolas" panose="020B0609020204030204" pitchFamily="49" charset="0"/>
              </a:rPr>
              <a:t> </a:t>
            </a:r>
            <a:r>
              <a:rPr lang="ko-KR" altLang="en-US" sz="2400" b="1" dirty="0">
                <a:latin typeface="Consolas" panose="020B0609020204030204" pitchFamily="49" charset="0"/>
              </a:rPr>
              <a:t>키워드 사용    </a:t>
            </a:r>
            <a:r>
              <a:rPr lang="en-US" altLang="ko-KR" sz="2400" b="1" dirty="0">
                <a:latin typeface="Consolas" panose="020B0609020204030204" pitchFamily="49" charset="0"/>
              </a:rPr>
              <a:t>ex) </a:t>
            </a:r>
            <a:r>
              <a:rPr lang="en-US" altLang="ko-KR" sz="2400" b="1" dirty="0" err="1">
                <a:latin typeface="Consolas" panose="020B0609020204030204" pitchFamily="49" charset="0"/>
              </a:rPr>
              <a:t>const</a:t>
            </a:r>
            <a:r>
              <a:rPr lang="en-US" altLang="ko-KR" sz="2400" b="1" dirty="0">
                <a:latin typeface="Consolas" panose="020B0609020204030204" pitchFamily="49" charset="0"/>
              </a:rPr>
              <a:t> double PI = 3.141592;</a:t>
            </a:r>
          </a:p>
          <a:p>
            <a:pPr marL="0" indent="0">
              <a:buNone/>
            </a:pPr>
            <a:r>
              <a:rPr lang="en-US" altLang="ko-KR" sz="2400" b="1" dirty="0"/>
              <a:t>   : </a:t>
            </a:r>
            <a:r>
              <a:rPr lang="ko-KR" altLang="en-US" sz="2000" b="1" dirty="0"/>
              <a:t>변수 선언 앞에 </a:t>
            </a:r>
            <a:r>
              <a:rPr lang="en-US" altLang="ko-KR" sz="2000" b="1" dirty="0" err="1">
                <a:solidFill>
                  <a:srgbClr val="FF0000"/>
                </a:solidFill>
              </a:rPr>
              <a:t>const</a:t>
            </a:r>
            <a:r>
              <a:rPr lang="ko-KR" altLang="en-US" sz="2000" b="1" dirty="0"/>
              <a:t>를 추가해주면 상수가 됨</a:t>
            </a:r>
            <a:r>
              <a:rPr lang="en-US" altLang="ko-KR" sz="2000" b="1" dirty="0"/>
              <a:t>. </a:t>
            </a:r>
            <a:r>
              <a:rPr lang="ko-KR" altLang="en-US" sz="2000" b="1" dirty="0"/>
              <a:t>초기화 이후 값 </a:t>
            </a:r>
            <a:r>
              <a:rPr lang="ko-KR" altLang="en-US" sz="2000" b="1" dirty="0">
                <a:solidFill>
                  <a:srgbClr val="FF0000"/>
                </a:solidFill>
              </a:rPr>
              <a:t>변경 불가</a:t>
            </a:r>
            <a:r>
              <a:rPr lang="en-US" altLang="ko-KR" sz="2000" b="1" dirty="0"/>
              <a:t>.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796392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상수 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기호상수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30C7BD9D-C8D0-428A-85F8-37E93B6EE8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053" t="8687" r="55543" b="48572"/>
          <a:stretch/>
        </p:blipFill>
        <p:spPr>
          <a:xfrm>
            <a:off x="723753" y="1310100"/>
            <a:ext cx="7272578" cy="480831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005E6BA-EEBB-4D6A-B9F4-948BFD605F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5958" b="74841"/>
          <a:stretch/>
        </p:blipFill>
        <p:spPr>
          <a:xfrm>
            <a:off x="5241342" y="1007191"/>
            <a:ext cx="6807465" cy="263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725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-9942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17765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변수의 자료형 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–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정수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,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실수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97B7BA21-EDAF-4689-BA55-ECE8212978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957" y="3318225"/>
            <a:ext cx="8183117" cy="2896004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63B684-B3DE-46FF-B28F-244D5FC52A36}"/>
              </a:ext>
            </a:extLst>
          </p:cNvPr>
          <p:cNvSpPr txBox="1"/>
          <p:nvPr/>
        </p:nvSpPr>
        <p:spPr>
          <a:xfrm>
            <a:off x="1166747" y="1325563"/>
            <a:ext cx="109495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Consolas" panose="020B0609020204030204" pitchFamily="49" charset="0"/>
              </a:rPr>
              <a:t>정수형 </a:t>
            </a:r>
            <a:r>
              <a:rPr lang="en-US" altLang="ko-KR" sz="2000" b="1" dirty="0">
                <a:latin typeface="Consolas" panose="020B0609020204030204" pitchFamily="49" charset="0"/>
              </a:rPr>
              <a:t>: char, short, </a:t>
            </a:r>
            <a:r>
              <a:rPr lang="en-US" altLang="ko-KR" sz="2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2000" b="1" dirty="0">
                <a:latin typeface="Consolas" panose="020B0609020204030204" pitchFamily="49" charset="0"/>
              </a:rPr>
              <a:t>, long </a:t>
            </a:r>
            <a:r>
              <a:rPr lang="ko-KR" altLang="en-US" sz="2000" b="1" dirty="0">
                <a:latin typeface="Consolas" panose="020B0609020204030204" pitchFamily="49" charset="0"/>
              </a:rPr>
              <a:t>이 있음</a:t>
            </a:r>
            <a:r>
              <a:rPr lang="en-US" altLang="ko-KR" sz="2000" b="1" dirty="0">
                <a:latin typeface="Consolas" panose="020B0609020204030204" pitchFamily="49" charset="0"/>
              </a:rPr>
              <a:t>. 3, 4, 10, 392 </a:t>
            </a:r>
            <a:r>
              <a:rPr lang="ko-KR" altLang="en-US" sz="2000" b="1" dirty="0">
                <a:latin typeface="Consolas" panose="020B0609020204030204" pitchFamily="49" charset="0"/>
              </a:rPr>
              <a:t>와</a:t>
            </a:r>
            <a:r>
              <a:rPr lang="en-US" altLang="ko-KR" sz="2000" b="1" dirty="0">
                <a:latin typeface="Consolas" panose="020B0609020204030204" pitchFamily="49" charset="0"/>
              </a:rPr>
              <a:t> </a:t>
            </a:r>
            <a:r>
              <a:rPr lang="ko-KR" altLang="en-US" sz="2000" b="1" dirty="0">
                <a:latin typeface="Consolas" panose="020B0609020204030204" pitchFamily="49" charset="0"/>
              </a:rPr>
              <a:t>같은 정수를 담음</a:t>
            </a:r>
            <a:r>
              <a:rPr lang="en-US" altLang="ko-KR" sz="2000" b="1" dirty="0">
                <a:latin typeface="Consolas" panose="020B0609020204030204" pitchFamily="49" charset="0"/>
              </a:rPr>
              <a:t>.</a:t>
            </a:r>
          </a:p>
          <a:p>
            <a:r>
              <a:rPr lang="ko-KR" altLang="en-US" sz="2000" b="1" dirty="0">
                <a:latin typeface="Consolas" panose="020B0609020204030204" pitchFamily="49" charset="0"/>
              </a:rPr>
              <a:t>실수형 </a:t>
            </a:r>
            <a:r>
              <a:rPr lang="en-US" altLang="ko-KR" sz="2000" b="1" dirty="0">
                <a:latin typeface="Consolas" panose="020B0609020204030204" pitchFamily="49" charset="0"/>
              </a:rPr>
              <a:t>: float, double, long double </a:t>
            </a:r>
            <a:r>
              <a:rPr lang="ko-KR" altLang="en-US" sz="2000" b="1" dirty="0">
                <a:latin typeface="Consolas" panose="020B0609020204030204" pitchFamily="49" charset="0"/>
              </a:rPr>
              <a:t>이 있음</a:t>
            </a:r>
            <a:r>
              <a:rPr lang="en-US" altLang="ko-KR" sz="2000" b="1" dirty="0">
                <a:latin typeface="Consolas" panose="020B0609020204030204" pitchFamily="49" charset="0"/>
              </a:rPr>
              <a:t>. 3.1, 4.123 </a:t>
            </a:r>
            <a:r>
              <a:rPr lang="ko-KR" altLang="en-US" sz="2000" b="1" dirty="0">
                <a:latin typeface="Consolas" panose="020B0609020204030204" pitchFamily="49" charset="0"/>
              </a:rPr>
              <a:t>과 같은 실수를 담음</a:t>
            </a:r>
            <a:endParaRPr lang="en-US" altLang="ko-KR" sz="2000" b="1" dirty="0">
              <a:latin typeface="Consolas" panose="020B0609020204030204" pitchFamily="49" charset="0"/>
            </a:endParaRPr>
          </a:p>
          <a:p>
            <a:endParaRPr lang="en-US" altLang="ko-KR" sz="2000" b="1" dirty="0">
              <a:latin typeface="Consolas" panose="020B0609020204030204" pitchFamily="49" charset="0"/>
            </a:endParaRPr>
          </a:p>
          <a:p>
            <a:r>
              <a:rPr lang="en-US" altLang="ko-KR" sz="2000" b="1" dirty="0">
                <a:latin typeface="Consolas" panose="020B0609020204030204" pitchFamily="49" charset="0"/>
              </a:rPr>
              <a:t>*unsigned</a:t>
            </a:r>
            <a:r>
              <a:rPr lang="ko-KR" altLang="en-US" sz="2000" b="1" dirty="0">
                <a:latin typeface="Consolas" panose="020B0609020204030204" pitchFamily="49" charset="0"/>
              </a:rPr>
              <a:t> </a:t>
            </a:r>
            <a:r>
              <a:rPr lang="en-US" altLang="ko-KR" sz="2000" b="1" dirty="0">
                <a:latin typeface="Consolas" panose="020B0609020204030204" pitchFamily="49" charset="0"/>
              </a:rPr>
              <a:t>:</a:t>
            </a:r>
            <a:r>
              <a:rPr lang="ko-KR" altLang="en-US" sz="2000" b="1" dirty="0">
                <a:latin typeface="Consolas" panose="020B0609020204030204" pitchFamily="49" charset="0"/>
              </a:rPr>
              <a:t> 부호 없는 </a:t>
            </a:r>
            <a:r>
              <a:rPr lang="ko-KR" alt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정수</a:t>
            </a:r>
            <a:r>
              <a:rPr lang="ko-KR" altLang="en-US" sz="2000" b="1" dirty="0">
                <a:latin typeface="Consolas" panose="020B0609020204030204" pitchFamily="49" charset="0"/>
              </a:rPr>
              <a:t>자료형 </a:t>
            </a:r>
            <a:r>
              <a:rPr lang="en-US" altLang="ko-KR" sz="2000" b="1" dirty="0">
                <a:latin typeface="Consolas" panose="020B0609020204030204" pitchFamily="49" charset="0"/>
              </a:rPr>
              <a:t>(unsigned </a:t>
            </a:r>
            <a:r>
              <a:rPr lang="en-US" altLang="ko-KR" sz="2000" b="1" dirty="0" err="1">
                <a:latin typeface="Consolas" panose="020B0609020204030204" pitchFamily="49" charset="0"/>
              </a:rPr>
              <a:t>int</a:t>
            </a:r>
            <a:r>
              <a:rPr lang="en-US" altLang="ko-KR" sz="2000" b="1" dirty="0">
                <a:latin typeface="Consolas" panose="020B0609020204030204" pitchFamily="49" charset="0"/>
              </a:rPr>
              <a:t>, unsigned long </a:t>
            </a:r>
            <a:r>
              <a:rPr lang="ko-KR" altLang="en-US" sz="2000" b="1" dirty="0">
                <a:latin typeface="Consolas" panose="020B0609020204030204" pitchFamily="49" charset="0"/>
              </a:rPr>
              <a:t>등</a:t>
            </a:r>
            <a:r>
              <a:rPr lang="en-US" altLang="ko-KR" sz="2000" b="1" dirty="0">
                <a:latin typeface="Consolas" panose="020B0609020204030204" pitchFamily="49" charset="0"/>
              </a:rPr>
              <a:t>)</a:t>
            </a:r>
            <a:endParaRPr lang="ko-KR" altLang="en-US" sz="2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38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17765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자료형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63B684-B3DE-46FF-B28F-244D5FC52A36}"/>
              </a:ext>
            </a:extLst>
          </p:cNvPr>
          <p:cNvSpPr txBox="1"/>
          <p:nvPr/>
        </p:nvSpPr>
        <p:spPr>
          <a:xfrm>
            <a:off x="1924050" y="1388806"/>
            <a:ext cx="76578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highlight>
                  <a:srgbClr val="FFFF00"/>
                </a:highlight>
              </a:rPr>
              <a:t>자료형은 왜 이렇게 많을까</a:t>
            </a:r>
            <a:r>
              <a:rPr lang="en-US" altLang="ko-KR" sz="2800" b="1" dirty="0">
                <a:highlight>
                  <a:srgbClr val="FFFF00"/>
                </a:highlight>
              </a:rPr>
              <a:t>?</a:t>
            </a:r>
          </a:p>
          <a:p>
            <a:endParaRPr lang="en-US" altLang="ko-KR" sz="2400" b="1" dirty="0"/>
          </a:p>
          <a:p>
            <a:r>
              <a:rPr lang="en-US" altLang="ko-KR" sz="2400" b="1" dirty="0"/>
              <a:t> 1. </a:t>
            </a:r>
            <a:r>
              <a:rPr lang="ko-KR" altLang="en-US" sz="2400" b="1" dirty="0"/>
              <a:t>정수와 실수를 표현하기 위한 자료형</a:t>
            </a:r>
            <a:endParaRPr lang="en-US" altLang="ko-KR" sz="2400" b="1" dirty="0"/>
          </a:p>
          <a:p>
            <a:r>
              <a:rPr lang="en-US" altLang="ko-KR" sz="2400" b="1" dirty="0"/>
              <a:t> 2. </a:t>
            </a:r>
            <a:r>
              <a:rPr lang="ko-KR" altLang="en-US" sz="2400" b="1" dirty="0"/>
              <a:t>메모리 공간을 적절히 사용하기 위한 자료형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5A8041C-BBAC-4F6F-B8EF-C534AA0E7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91" y="3382954"/>
            <a:ext cx="3966707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383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-4539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17765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변수 선언 </a:t>
            </a:r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규칙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597008-7E0C-41EE-9F11-44BB65A31B58}"/>
              </a:ext>
            </a:extLst>
          </p:cNvPr>
          <p:cNvSpPr txBox="1"/>
          <p:nvPr/>
        </p:nvSpPr>
        <p:spPr>
          <a:xfrm>
            <a:off x="1369508" y="1340190"/>
            <a:ext cx="9880169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/>
              <a:t>식별자는 </a:t>
            </a:r>
            <a:r>
              <a:rPr lang="ko-KR" altLang="en-US" sz="2000" b="1" dirty="0">
                <a:solidFill>
                  <a:srgbClr val="FF0000"/>
                </a:solidFill>
              </a:rPr>
              <a:t>영문</a:t>
            </a:r>
            <a:r>
              <a:rPr lang="ko-KR" altLang="en-US" sz="2000" b="1" dirty="0"/>
              <a:t>과 </a:t>
            </a:r>
            <a:r>
              <a:rPr lang="ko-KR" altLang="en-US" sz="2000" b="1" dirty="0">
                <a:solidFill>
                  <a:srgbClr val="FF0000"/>
                </a:solidFill>
              </a:rPr>
              <a:t>숫자</a:t>
            </a:r>
            <a:r>
              <a:rPr lang="en-US" altLang="ko-KR" sz="2000" b="1" dirty="0"/>
              <a:t>, </a:t>
            </a:r>
            <a:r>
              <a:rPr lang="en-US" altLang="ko-KR" sz="2000" b="1" dirty="0">
                <a:solidFill>
                  <a:srgbClr val="FF0000"/>
                </a:solidFill>
              </a:rPr>
              <a:t>_(</a:t>
            </a:r>
            <a:r>
              <a:rPr lang="ko-KR" altLang="en-US" sz="2000" b="1" dirty="0" err="1">
                <a:solidFill>
                  <a:srgbClr val="FF0000"/>
                </a:solidFill>
              </a:rPr>
              <a:t>언더바</a:t>
            </a:r>
            <a:r>
              <a:rPr lang="en-US" altLang="ko-KR" sz="2000" b="1" dirty="0">
                <a:solidFill>
                  <a:srgbClr val="FF0000"/>
                </a:solidFill>
              </a:rPr>
              <a:t>)</a:t>
            </a:r>
            <a:r>
              <a:rPr lang="ko-KR" altLang="en-US" sz="2000" b="1" dirty="0"/>
              <a:t>로 이루어진다</a:t>
            </a:r>
            <a:r>
              <a:rPr lang="en-US" altLang="ko-KR" sz="2000" b="1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/>
              <a:t>식별자 중간에는 </a:t>
            </a:r>
            <a:r>
              <a:rPr lang="ko-KR" altLang="en-US" sz="2000" b="1" dirty="0">
                <a:solidFill>
                  <a:srgbClr val="FF0000"/>
                </a:solidFill>
              </a:rPr>
              <a:t>공백</a:t>
            </a:r>
            <a:r>
              <a:rPr lang="ko-KR" altLang="en-US" sz="2000" b="1" dirty="0"/>
              <a:t>이 들어가면 </a:t>
            </a:r>
            <a:r>
              <a:rPr lang="ko-KR" altLang="en-US" sz="2000" b="1" dirty="0">
                <a:solidFill>
                  <a:srgbClr val="FF0000"/>
                </a:solidFill>
              </a:rPr>
              <a:t>안된다</a:t>
            </a:r>
            <a:r>
              <a:rPr lang="en-US" altLang="ko-KR" sz="2000" b="1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/>
              <a:t>식별자의 첫 글자는 반드시 영문자 또는 밑줄 기호 </a:t>
            </a:r>
            <a:r>
              <a:rPr lang="en-US" altLang="ko-KR" sz="2000" b="1" dirty="0"/>
              <a:t>_</a:t>
            </a:r>
            <a:r>
              <a:rPr lang="ko-KR" altLang="en-US" sz="2000" b="1" dirty="0"/>
              <a:t> 이어야 한다</a:t>
            </a:r>
            <a:r>
              <a:rPr lang="en-US" altLang="ko-KR" sz="2000" b="1" dirty="0"/>
              <a:t>. </a:t>
            </a:r>
            <a:r>
              <a:rPr lang="ko-KR" altLang="en-US" sz="2000" b="1" dirty="0"/>
              <a:t>또한 숫자로 시작할 수 없다</a:t>
            </a:r>
            <a:r>
              <a:rPr lang="en-US" altLang="ko-KR" sz="2000" b="1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/>
              <a:t>대문자와 소문자는 구분된다</a:t>
            </a:r>
            <a:r>
              <a:rPr lang="en-US" altLang="ko-KR" sz="2000" b="1" dirty="0"/>
              <a:t>. </a:t>
            </a:r>
            <a:r>
              <a:rPr lang="ko-KR" altLang="en-US" sz="2000" b="1" dirty="0"/>
              <a:t>즉</a:t>
            </a:r>
            <a:r>
              <a:rPr lang="en-US" altLang="ko-KR" sz="2000" b="1" dirty="0"/>
              <a:t>, index,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Index,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INDEX</a:t>
            </a:r>
            <a:r>
              <a:rPr lang="ko-KR" altLang="en-US" sz="2000" b="1" dirty="0"/>
              <a:t>는 모두 다른 변수이다</a:t>
            </a:r>
            <a:r>
              <a:rPr lang="en-US" altLang="ko-KR" sz="2000" b="1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C</a:t>
            </a:r>
            <a:r>
              <a:rPr lang="ko-KR" altLang="en-US" sz="2000" b="1" dirty="0"/>
              <a:t>언어의 </a:t>
            </a:r>
            <a:r>
              <a:rPr lang="ko-KR" altLang="en-US" sz="2000" b="1" dirty="0">
                <a:solidFill>
                  <a:srgbClr val="FF0000"/>
                </a:solidFill>
              </a:rPr>
              <a:t>키워드</a:t>
            </a:r>
            <a:r>
              <a:rPr lang="ko-KR" altLang="en-US" sz="2000" b="1" dirty="0"/>
              <a:t>와 똑같은 식별자는 </a:t>
            </a:r>
            <a:r>
              <a:rPr lang="ko-KR" altLang="en-US" sz="2000" b="1" dirty="0">
                <a:solidFill>
                  <a:srgbClr val="FF0000"/>
                </a:solidFill>
              </a:rPr>
              <a:t>허용되지 않는다</a:t>
            </a:r>
            <a:r>
              <a:rPr lang="en-US" altLang="ko-KR" sz="2000" b="1" dirty="0">
                <a:solidFill>
                  <a:srgbClr val="FF0000"/>
                </a:solidFill>
              </a:rPr>
              <a:t>.</a:t>
            </a:r>
          </a:p>
          <a:p>
            <a:endParaRPr lang="ko-KR" altLang="en-US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D8AF92-1B09-48E6-A509-377004C440F5}"/>
              </a:ext>
            </a:extLst>
          </p:cNvPr>
          <p:cNvSpPr txBox="1"/>
          <p:nvPr/>
        </p:nvSpPr>
        <p:spPr>
          <a:xfrm>
            <a:off x="1369507" y="4599223"/>
            <a:ext cx="988016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*</a:t>
            </a:r>
            <a:r>
              <a:rPr lang="ko-KR" altLang="en-US" sz="2400" b="1" dirty="0">
                <a:solidFill>
                  <a:srgbClr val="FF0000"/>
                </a:solidFill>
              </a:rPr>
              <a:t>키워드</a:t>
            </a:r>
            <a:r>
              <a:rPr lang="ko-KR" altLang="en-US" sz="2400" b="1" dirty="0"/>
              <a:t>란</a:t>
            </a:r>
            <a:r>
              <a:rPr lang="en-US" altLang="ko-KR" sz="2400" b="1" dirty="0"/>
              <a:t>?   </a:t>
            </a:r>
          </a:p>
          <a:p>
            <a:r>
              <a:rPr lang="en-US" altLang="ko-KR" sz="2400" b="1" dirty="0"/>
              <a:t> </a:t>
            </a:r>
            <a:r>
              <a:rPr lang="en-US" altLang="ko-KR" sz="2000" b="1" dirty="0"/>
              <a:t>if, for, </a:t>
            </a:r>
            <a:r>
              <a:rPr lang="en-US" altLang="ko-KR" sz="2000" b="1" dirty="0" err="1"/>
              <a:t>int</a:t>
            </a:r>
            <a:r>
              <a:rPr lang="en-US" altLang="ko-KR" sz="2000" b="1" dirty="0"/>
              <a:t>, return, while, else </a:t>
            </a:r>
            <a:r>
              <a:rPr lang="ko-KR" altLang="en-US" sz="2000" b="1" dirty="0"/>
              <a:t>등 </a:t>
            </a:r>
            <a:r>
              <a:rPr lang="en-US" altLang="ko-KR" sz="2000" b="1" dirty="0"/>
              <a:t>C</a:t>
            </a:r>
            <a:r>
              <a:rPr lang="ko-KR" altLang="en-US" sz="2000" b="1" dirty="0"/>
              <a:t>언어에서 고유한 의미를 가지고 있는 </a:t>
            </a:r>
            <a:r>
              <a:rPr lang="ko-KR" altLang="en-US" sz="2000" b="1" dirty="0">
                <a:solidFill>
                  <a:srgbClr val="FF0000"/>
                </a:solidFill>
              </a:rPr>
              <a:t>특별한 단어</a:t>
            </a:r>
            <a:r>
              <a:rPr lang="ko-KR" altLang="en-US" sz="2000" b="1" dirty="0"/>
              <a:t>이다</a:t>
            </a:r>
            <a:r>
              <a:rPr lang="en-US" altLang="ko-KR" sz="2000" b="1" dirty="0"/>
              <a:t>. </a:t>
            </a:r>
            <a:r>
              <a:rPr lang="ko-KR" altLang="en-US" sz="2000" b="1" dirty="0"/>
              <a:t>이를 </a:t>
            </a:r>
            <a:r>
              <a:rPr lang="ko-KR" altLang="en-US" sz="2000" b="1" dirty="0" err="1">
                <a:solidFill>
                  <a:srgbClr val="FF0000"/>
                </a:solidFill>
              </a:rPr>
              <a:t>예약어</a:t>
            </a:r>
            <a:r>
              <a:rPr lang="ko-KR" altLang="en-US" sz="2000" b="1" dirty="0" err="1"/>
              <a:t>라고도</a:t>
            </a:r>
            <a:r>
              <a:rPr lang="ko-KR" altLang="en-US" sz="2000" b="1" dirty="0"/>
              <a:t> 하며 사용자가 다시 정의하거나 사용하는 것이 </a:t>
            </a:r>
            <a:r>
              <a:rPr lang="ko-KR" altLang="en-US" sz="2000" b="1" dirty="0" err="1">
                <a:solidFill>
                  <a:srgbClr val="FF0000"/>
                </a:solidFill>
              </a:rPr>
              <a:t>금지</a:t>
            </a:r>
            <a:r>
              <a:rPr lang="ko-KR" altLang="en-US" sz="2000" b="1" dirty="0" err="1"/>
              <a:t>되어있다</a:t>
            </a:r>
            <a:r>
              <a:rPr lang="en-US" altLang="ko-KR" sz="2000" b="1" dirty="0"/>
              <a:t>.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0935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17765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변수 선언의 예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CA9EFB4-8402-4E66-94D4-940F807581E0}"/>
              </a:ext>
            </a:extLst>
          </p:cNvPr>
          <p:cNvGrpSpPr/>
          <p:nvPr/>
        </p:nvGrpSpPr>
        <p:grpSpPr>
          <a:xfrm>
            <a:off x="1814879" y="1536422"/>
            <a:ext cx="8128861" cy="3046988"/>
            <a:chOff x="1518834" y="1681566"/>
            <a:chExt cx="8128861" cy="3046988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2597008-7E0C-41EE-9F11-44BB65A31B58}"/>
                </a:ext>
              </a:extLst>
            </p:cNvPr>
            <p:cNvSpPr txBox="1"/>
            <p:nvPr/>
          </p:nvSpPr>
          <p:spPr>
            <a:xfrm>
              <a:off x="1518834" y="1681566"/>
              <a:ext cx="8128861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short money;</a:t>
              </a:r>
            </a:p>
            <a:p>
              <a:r>
                <a:rPr lang="en-US" altLang="ko-KR" sz="2400" b="1" dirty="0" err="1"/>
                <a:t>int</a:t>
              </a:r>
              <a:r>
                <a:rPr lang="en-US" altLang="ko-KR" sz="2400" b="1" dirty="0"/>
                <a:t> grade;                  </a:t>
              </a:r>
              <a:r>
                <a:rPr lang="ko-KR" altLang="en-US" sz="2400" b="1" dirty="0">
                  <a:solidFill>
                    <a:srgbClr val="FF0000"/>
                  </a:solidFill>
                </a:rPr>
                <a:t>정수형 변수</a:t>
              </a:r>
              <a:r>
                <a:rPr lang="en-US" altLang="ko-KR" sz="2400" b="1" dirty="0"/>
                <a:t>, </a:t>
              </a:r>
              <a:r>
                <a:rPr lang="ko-KR" altLang="en-US" sz="2400" b="1" dirty="0"/>
                <a:t>정수 저장가능</a:t>
              </a:r>
              <a:r>
                <a:rPr lang="en-US" altLang="ko-KR" sz="2400" b="1" dirty="0"/>
                <a:t>!</a:t>
              </a:r>
            </a:p>
            <a:p>
              <a:r>
                <a:rPr lang="en-US" altLang="ko-KR" sz="2400" b="1" dirty="0"/>
                <a:t>long average;</a:t>
              </a:r>
            </a:p>
            <a:p>
              <a:endParaRPr lang="en-US" altLang="ko-KR" sz="2400" b="1" dirty="0"/>
            </a:p>
            <a:p>
              <a:r>
                <a:rPr lang="en-US" altLang="ko-KR" sz="2400" b="1" dirty="0"/>
                <a:t>float height;</a:t>
              </a:r>
            </a:p>
            <a:p>
              <a:r>
                <a:rPr lang="en-US" altLang="ko-KR" sz="2400" b="1" dirty="0"/>
                <a:t>double weight</a:t>
              </a:r>
            </a:p>
            <a:p>
              <a:endParaRPr lang="en-US" altLang="ko-KR" sz="2400" b="1" dirty="0"/>
            </a:p>
            <a:p>
              <a:r>
                <a:rPr lang="en-US" altLang="ko-KR" sz="2400" b="1" dirty="0"/>
                <a:t>char alpha;                 </a:t>
              </a:r>
              <a:r>
                <a:rPr lang="ko-KR" altLang="en-US" sz="2400" b="1" dirty="0"/>
                <a:t>정수형</a:t>
              </a:r>
              <a:r>
                <a:rPr lang="en-US" altLang="ko-KR" sz="2400" b="1" dirty="0"/>
                <a:t>(</a:t>
              </a:r>
              <a:r>
                <a:rPr lang="ko-KR" altLang="en-US" sz="2400" b="1" dirty="0"/>
                <a:t>문자형</a:t>
              </a:r>
              <a:r>
                <a:rPr lang="en-US" altLang="ko-KR" sz="2400" b="1" dirty="0"/>
                <a:t>) </a:t>
              </a:r>
              <a:r>
                <a:rPr lang="ko-KR" altLang="en-US" sz="2400" b="1" dirty="0"/>
                <a:t>변수</a:t>
              </a:r>
            </a:p>
          </p:txBody>
        </p:sp>
        <p:sp>
          <p:nvSpPr>
            <p:cNvPr id="4" name="오른쪽 중괄호 3">
              <a:extLst>
                <a:ext uri="{FF2B5EF4-FFF2-40B4-BE49-F238E27FC236}">
                  <a16:creationId xmlns:a16="http://schemas.microsoft.com/office/drawing/2014/main" id="{70E8B993-170E-41AB-8AB5-09B73C39F011}"/>
                </a:ext>
              </a:extLst>
            </p:cNvPr>
            <p:cNvSpPr/>
            <p:nvPr/>
          </p:nvSpPr>
          <p:spPr>
            <a:xfrm>
              <a:off x="4037308" y="1728061"/>
              <a:ext cx="333214" cy="1084881"/>
            </a:xfrm>
            <a:prstGeom prst="rightBrace">
              <a:avLst>
                <a:gd name="adj1" fmla="val 8333"/>
                <a:gd name="adj2" fmla="val 51429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오른쪽 중괄호 5">
              <a:extLst>
                <a:ext uri="{FF2B5EF4-FFF2-40B4-BE49-F238E27FC236}">
                  <a16:creationId xmlns:a16="http://schemas.microsoft.com/office/drawing/2014/main" id="{8AF184C9-F27D-4DD3-93AD-9AA81A332292}"/>
                </a:ext>
              </a:extLst>
            </p:cNvPr>
            <p:cNvSpPr/>
            <p:nvPr/>
          </p:nvSpPr>
          <p:spPr>
            <a:xfrm>
              <a:off x="4037308" y="3192651"/>
              <a:ext cx="333214" cy="705173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063ADB2-F726-420E-9EE1-70F5D2B4D554}"/>
                </a:ext>
              </a:extLst>
            </p:cNvPr>
            <p:cNvSpPr txBox="1"/>
            <p:nvPr/>
          </p:nvSpPr>
          <p:spPr>
            <a:xfrm>
              <a:off x="4881010" y="3360571"/>
              <a:ext cx="42784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실수형 변수</a:t>
              </a:r>
              <a:r>
                <a:rPr lang="en-US" altLang="ko-KR" sz="2400" b="1" dirty="0"/>
                <a:t>, </a:t>
              </a:r>
              <a:r>
                <a:rPr lang="ko-KR" altLang="en-US" sz="2400" b="1" dirty="0"/>
                <a:t>실수 저장가능</a:t>
              </a:r>
              <a:r>
                <a:rPr lang="en-US" altLang="ko-KR" sz="2400" b="1" dirty="0"/>
                <a:t>!</a:t>
              </a:r>
              <a:endParaRPr lang="ko-KR" altLang="en-US" sz="2400" b="1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B389E03-EB05-4423-98C4-FA8BF5FB1D19}"/>
              </a:ext>
            </a:extLst>
          </p:cNvPr>
          <p:cNvSpPr txBox="1"/>
          <p:nvPr/>
        </p:nvSpPr>
        <p:spPr>
          <a:xfrm>
            <a:off x="9455542" y="1789522"/>
            <a:ext cx="23319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Money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=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20000;</a:t>
            </a:r>
            <a:br>
              <a:rPr lang="en-US" altLang="ko-KR" sz="2000" b="1" dirty="0"/>
            </a:br>
            <a:r>
              <a:rPr lang="en-US" altLang="ko-KR" sz="2000" b="1" dirty="0"/>
              <a:t>grade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=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85;</a:t>
            </a:r>
            <a:endParaRPr lang="ko-KR" altLang="en-US" sz="2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8A5E4F-5A9A-49B4-BC72-5A5A777A7757}"/>
              </a:ext>
            </a:extLst>
          </p:cNvPr>
          <p:cNvSpPr txBox="1"/>
          <p:nvPr/>
        </p:nvSpPr>
        <p:spPr>
          <a:xfrm>
            <a:off x="9455542" y="3092316"/>
            <a:ext cx="22796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height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=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175.2;</a:t>
            </a:r>
            <a:br>
              <a:rPr lang="en-US" altLang="ko-KR" sz="2000" b="1" dirty="0"/>
            </a:br>
            <a:r>
              <a:rPr lang="en-US" altLang="ko-KR" sz="2000" b="1" dirty="0"/>
              <a:t>grade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=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68.3;</a:t>
            </a:r>
            <a:endParaRPr lang="ko-KR" altLang="en-US" sz="2000" b="1" dirty="0"/>
          </a:p>
        </p:txBody>
      </p:sp>
      <p:sp>
        <p:nvSpPr>
          <p:cNvPr id="12" name="오른쪽 중괄호 11">
            <a:extLst>
              <a:ext uri="{FF2B5EF4-FFF2-40B4-BE49-F238E27FC236}">
                <a16:creationId xmlns:a16="http://schemas.microsoft.com/office/drawing/2014/main" id="{7C695A72-9E46-4FD0-BB49-97F40EE92C6D}"/>
              </a:ext>
            </a:extLst>
          </p:cNvPr>
          <p:cNvSpPr/>
          <p:nvPr/>
        </p:nvSpPr>
        <p:spPr>
          <a:xfrm>
            <a:off x="4333353" y="4140770"/>
            <a:ext cx="333214" cy="36421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별: 꼭짓점 5개 12">
            <a:extLst>
              <a:ext uri="{FF2B5EF4-FFF2-40B4-BE49-F238E27FC236}">
                <a16:creationId xmlns:a16="http://schemas.microsoft.com/office/drawing/2014/main" id="{25A4EA11-CD48-444C-9A4E-15F27B22EEBE}"/>
              </a:ext>
            </a:extLst>
          </p:cNvPr>
          <p:cNvSpPr/>
          <p:nvPr/>
        </p:nvSpPr>
        <p:spPr>
          <a:xfrm>
            <a:off x="1453599" y="1966648"/>
            <a:ext cx="361280" cy="353635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별: 꼭짓점 5개 27">
            <a:extLst>
              <a:ext uri="{FF2B5EF4-FFF2-40B4-BE49-F238E27FC236}">
                <a16:creationId xmlns:a16="http://schemas.microsoft.com/office/drawing/2014/main" id="{F6133445-2841-4F56-9D02-E80EBCB918C9}"/>
              </a:ext>
            </a:extLst>
          </p:cNvPr>
          <p:cNvSpPr/>
          <p:nvPr/>
        </p:nvSpPr>
        <p:spPr>
          <a:xfrm>
            <a:off x="1453599" y="3446259"/>
            <a:ext cx="361280" cy="353635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별: 꼭짓점 5개 28">
            <a:extLst>
              <a:ext uri="{FF2B5EF4-FFF2-40B4-BE49-F238E27FC236}">
                <a16:creationId xmlns:a16="http://schemas.microsoft.com/office/drawing/2014/main" id="{33A2C61E-0D71-4CEB-86BC-DDEB2C472EA2}"/>
              </a:ext>
            </a:extLst>
          </p:cNvPr>
          <p:cNvSpPr/>
          <p:nvPr/>
        </p:nvSpPr>
        <p:spPr>
          <a:xfrm>
            <a:off x="1453599" y="4140770"/>
            <a:ext cx="361280" cy="353635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C3FD46-ED2C-4FF9-9328-AA36D4753B44}"/>
              </a:ext>
            </a:extLst>
          </p:cNvPr>
          <p:cNvSpPr txBox="1"/>
          <p:nvPr/>
        </p:nvSpPr>
        <p:spPr>
          <a:xfrm>
            <a:off x="9455542" y="4094295"/>
            <a:ext cx="18499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alpha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=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‘a’</a:t>
            </a:r>
            <a:endParaRPr lang="ko-KR" altLang="en-US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28272D-2D1E-4C52-8A39-B1A295DF3B79}"/>
              </a:ext>
            </a:extLst>
          </p:cNvPr>
          <p:cNvSpPr txBox="1"/>
          <p:nvPr/>
        </p:nvSpPr>
        <p:spPr>
          <a:xfrm>
            <a:off x="2389894" y="5062086"/>
            <a:ext cx="75538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/>
              <a:t>int</a:t>
            </a:r>
            <a:r>
              <a:rPr lang="en-US" altLang="ko-KR" sz="2400" b="1" dirty="0"/>
              <a:t> 4dollar;       //</a:t>
            </a:r>
            <a:r>
              <a:rPr lang="ko-KR" altLang="en-US" sz="2000" b="1" dirty="0"/>
              <a:t>숫자로 시작불가</a:t>
            </a:r>
            <a:r>
              <a:rPr lang="en-US" altLang="ko-KR" sz="2000" b="1" dirty="0"/>
              <a:t>!</a:t>
            </a:r>
          </a:p>
          <a:p>
            <a:r>
              <a:rPr lang="en-US" altLang="ko-KR" sz="2400" b="1" dirty="0"/>
              <a:t>double return;  //</a:t>
            </a:r>
            <a:r>
              <a:rPr lang="ko-KR" altLang="en-US" sz="2000" b="1" dirty="0" err="1"/>
              <a:t>예약어</a:t>
            </a:r>
            <a:r>
              <a:rPr lang="ko-KR" altLang="en-US" sz="2000" b="1" dirty="0"/>
              <a:t> 사용불가</a:t>
            </a:r>
            <a:r>
              <a:rPr lang="en-US" altLang="ko-KR" sz="2000" b="1" dirty="0"/>
              <a:t>!          </a:t>
            </a:r>
            <a:r>
              <a:rPr lang="ko-KR" altLang="en-US" sz="2000" b="1" dirty="0"/>
              <a:t>사용불가</a:t>
            </a:r>
            <a:r>
              <a:rPr lang="en-US" altLang="ko-KR" sz="2000" b="1" dirty="0"/>
              <a:t>   </a:t>
            </a:r>
          </a:p>
          <a:p>
            <a:r>
              <a:rPr lang="en-US" altLang="ko-KR" sz="2400" b="1" dirty="0"/>
              <a:t>float my height</a:t>
            </a:r>
            <a:r>
              <a:rPr lang="en-US" altLang="ko-KR" sz="2000" b="1" dirty="0"/>
              <a:t>;    </a:t>
            </a:r>
            <a:r>
              <a:rPr lang="en-US" altLang="ko-KR" sz="2400" b="1" dirty="0"/>
              <a:t>//</a:t>
            </a:r>
            <a:r>
              <a:rPr lang="ko-KR" altLang="en-US" sz="2000" b="1" dirty="0"/>
              <a:t>공백 사용불가</a:t>
            </a:r>
            <a:r>
              <a:rPr lang="en-US" altLang="ko-KR" sz="2000" b="1" dirty="0"/>
              <a:t>!</a:t>
            </a:r>
            <a:endParaRPr lang="ko-KR" altLang="en-US" sz="2400" b="1" dirty="0"/>
          </a:p>
        </p:txBody>
      </p:sp>
      <p:sp>
        <p:nvSpPr>
          <p:cNvPr id="15" name="곱하기 기호 14">
            <a:extLst>
              <a:ext uri="{FF2B5EF4-FFF2-40B4-BE49-F238E27FC236}">
                <a16:creationId xmlns:a16="http://schemas.microsoft.com/office/drawing/2014/main" id="{70C92628-1BF5-4AAA-8478-4E47C8302D6B}"/>
              </a:ext>
            </a:extLst>
          </p:cNvPr>
          <p:cNvSpPr/>
          <p:nvPr/>
        </p:nvSpPr>
        <p:spPr>
          <a:xfrm>
            <a:off x="1183714" y="4994468"/>
            <a:ext cx="1316258" cy="1365519"/>
          </a:xfrm>
          <a:prstGeom prst="mathMultiply">
            <a:avLst>
              <a:gd name="adj1" fmla="val 776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오른쪽 중괄호 17">
            <a:extLst>
              <a:ext uri="{FF2B5EF4-FFF2-40B4-BE49-F238E27FC236}">
                <a16:creationId xmlns:a16="http://schemas.microsoft.com/office/drawing/2014/main" id="{8824D86C-56A3-40C9-970E-24C00B9D0517}"/>
              </a:ext>
            </a:extLst>
          </p:cNvPr>
          <p:cNvSpPr/>
          <p:nvPr/>
        </p:nvSpPr>
        <p:spPr>
          <a:xfrm>
            <a:off x="7262532" y="5212799"/>
            <a:ext cx="340963" cy="92885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754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-21086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17765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변수 사용의 예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28272D-2D1E-4C52-8A39-B1A295DF3B79}"/>
              </a:ext>
            </a:extLst>
          </p:cNvPr>
          <p:cNvSpPr txBox="1"/>
          <p:nvPr/>
        </p:nvSpPr>
        <p:spPr>
          <a:xfrm>
            <a:off x="1991639" y="1655434"/>
            <a:ext cx="75538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/>
              <a:t>int</a:t>
            </a:r>
            <a:r>
              <a:rPr lang="en-US" altLang="ko-KR" sz="2400" b="1" dirty="0"/>
              <a:t> value;</a:t>
            </a:r>
          </a:p>
          <a:p>
            <a:r>
              <a:rPr lang="en-US" altLang="ko-KR" sz="2400" b="1" dirty="0"/>
              <a:t>…</a:t>
            </a:r>
          </a:p>
          <a:p>
            <a:r>
              <a:rPr lang="en-US" altLang="ko-KR" sz="2400" b="1" dirty="0"/>
              <a:t>value = 10;</a:t>
            </a:r>
          </a:p>
          <a:p>
            <a:r>
              <a:rPr lang="en-US" altLang="ko-KR" sz="2400" b="1" dirty="0"/>
              <a:t>…</a:t>
            </a:r>
          </a:p>
          <a:p>
            <a:r>
              <a:rPr lang="en-US" altLang="ko-KR" sz="2400" b="1" dirty="0"/>
              <a:t>value = 20;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ADCB4B1-7600-44A1-8960-B3C328475C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201" t="45989" r="28084" b="32316"/>
          <a:stretch/>
        </p:blipFill>
        <p:spPr>
          <a:xfrm>
            <a:off x="1844298" y="3766088"/>
            <a:ext cx="8415580" cy="261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876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-21086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17765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변수 사용의 예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28272D-2D1E-4C52-8A39-B1A295DF3B79}"/>
              </a:ext>
            </a:extLst>
          </p:cNvPr>
          <p:cNvSpPr txBox="1"/>
          <p:nvPr/>
        </p:nvSpPr>
        <p:spPr>
          <a:xfrm>
            <a:off x="1924050" y="1484046"/>
            <a:ext cx="86014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/>
              <a:t>int</a:t>
            </a:r>
            <a:r>
              <a:rPr lang="en-US" altLang="ko-KR" sz="2400" b="1" dirty="0"/>
              <a:t> value = 0;  //</a:t>
            </a:r>
            <a:r>
              <a:rPr lang="ko-KR" altLang="en-US" sz="2000" b="1" dirty="0"/>
              <a:t>이처럼 사용하기도 함</a:t>
            </a:r>
            <a:r>
              <a:rPr lang="en-US" altLang="ko-KR" sz="2000" b="1" dirty="0"/>
              <a:t>. </a:t>
            </a:r>
            <a:r>
              <a:rPr lang="ko-KR" altLang="en-US" sz="2000" b="1" dirty="0"/>
              <a:t>이를 </a:t>
            </a:r>
            <a:r>
              <a:rPr lang="ko-KR" altLang="en-US" sz="2000" b="1" dirty="0">
                <a:solidFill>
                  <a:srgbClr val="FF0000"/>
                </a:solidFill>
              </a:rPr>
              <a:t>초기화</a:t>
            </a:r>
            <a:r>
              <a:rPr lang="ko-KR" altLang="en-US" sz="2000" b="1" dirty="0"/>
              <a:t>한다고 하며 선언과 동시에 </a:t>
            </a:r>
            <a:r>
              <a:rPr lang="en-US" altLang="ko-KR" sz="2000" b="1" dirty="0"/>
              <a:t>0</a:t>
            </a:r>
            <a:r>
              <a:rPr lang="ko-KR" altLang="en-US" sz="2000" b="1" dirty="0"/>
              <a:t>을 넣어준 것과 같음</a:t>
            </a:r>
            <a:r>
              <a:rPr lang="en-US" altLang="ko-KR" sz="2000" b="1" dirty="0"/>
              <a:t>.</a:t>
            </a:r>
            <a:r>
              <a:rPr lang="en-US" altLang="ko-KR" sz="2400" b="1" dirty="0"/>
              <a:t> </a:t>
            </a:r>
          </a:p>
          <a:p>
            <a:r>
              <a:rPr lang="en-US" altLang="ko-KR" sz="2400" b="1" dirty="0"/>
              <a:t>…</a:t>
            </a:r>
          </a:p>
          <a:p>
            <a:r>
              <a:rPr lang="en-US" altLang="ko-KR" sz="2400" b="1" dirty="0"/>
              <a:t>value = 10;</a:t>
            </a:r>
          </a:p>
          <a:p>
            <a:r>
              <a:rPr lang="en-US" altLang="ko-KR" sz="2400" b="1" dirty="0"/>
              <a:t>…</a:t>
            </a:r>
          </a:p>
          <a:p>
            <a:r>
              <a:rPr lang="en-US" altLang="ko-KR" sz="2400" b="1" dirty="0"/>
              <a:t>value = 20;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655A45-B937-4B00-8179-FD774807F645}"/>
              </a:ext>
            </a:extLst>
          </p:cNvPr>
          <p:cNvSpPr txBox="1"/>
          <p:nvPr/>
        </p:nvSpPr>
        <p:spPr>
          <a:xfrm>
            <a:off x="1991638" y="4052380"/>
            <a:ext cx="86014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/>
                </a:solidFill>
              </a:rPr>
              <a:t>Q) </a:t>
            </a:r>
            <a:r>
              <a:rPr lang="ko-KR" altLang="en-US" sz="2000" b="1" dirty="0">
                <a:solidFill>
                  <a:schemeClr val="accent1"/>
                </a:solidFill>
              </a:rPr>
              <a:t>정수형 변수에 실수를 넣으면 어떻게 될까</a:t>
            </a:r>
            <a:r>
              <a:rPr lang="en-US" altLang="ko-KR" sz="2000" b="1" dirty="0">
                <a:solidFill>
                  <a:schemeClr val="accent1"/>
                </a:solidFill>
              </a:rPr>
              <a:t>?</a:t>
            </a:r>
          </a:p>
          <a:p>
            <a:endParaRPr lang="en-US" altLang="ko-KR" sz="2000" b="1" dirty="0"/>
          </a:p>
          <a:p>
            <a:pPr marL="457200" indent="-457200">
              <a:buAutoNum type="alphaUcParenR"/>
            </a:pPr>
            <a:r>
              <a:rPr lang="ko-KR" altLang="en-US" sz="2000" b="1" dirty="0"/>
              <a:t>소수점 뒤로는 버려지고 정수부분만 저장</a:t>
            </a:r>
            <a:endParaRPr lang="en-US" altLang="ko-KR" sz="2000" b="1" dirty="0"/>
          </a:p>
          <a:p>
            <a:endParaRPr lang="en-US" altLang="ko-KR" sz="2000" b="1" dirty="0"/>
          </a:p>
          <a:p>
            <a:r>
              <a:rPr lang="en-US" altLang="ko-KR" sz="2000" b="1" dirty="0">
                <a:solidFill>
                  <a:schemeClr val="accent1"/>
                </a:solidFill>
              </a:rPr>
              <a:t>Q) </a:t>
            </a:r>
            <a:r>
              <a:rPr lang="ko-KR" altLang="en-US" sz="2000" b="1" dirty="0">
                <a:solidFill>
                  <a:schemeClr val="accent1"/>
                </a:solidFill>
              </a:rPr>
              <a:t>변수를 선언하고 초기화 하지 않는다면 무슨 값이 들어있을까</a:t>
            </a:r>
            <a:r>
              <a:rPr lang="en-US" altLang="ko-KR" sz="2000" b="1" dirty="0">
                <a:solidFill>
                  <a:schemeClr val="accent1"/>
                </a:solidFill>
              </a:rPr>
              <a:t>?</a:t>
            </a:r>
          </a:p>
          <a:p>
            <a:endParaRPr lang="en-US" altLang="ko-KR" sz="2000" b="1" dirty="0"/>
          </a:p>
          <a:p>
            <a:r>
              <a:rPr lang="en-US" altLang="ko-KR" sz="2000" b="1" dirty="0"/>
              <a:t>A)</a:t>
            </a:r>
            <a:r>
              <a:rPr lang="ko-KR" altLang="en-US" sz="2000" b="1" dirty="0"/>
              <a:t> 지역변수는 알 수 없는 값이 들어가 있으며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이를 흔히 </a:t>
            </a:r>
            <a:r>
              <a:rPr lang="ko-KR" altLang="en-US" sz="2000" b="1" dirty="0" err="1"/>
              <a:t>쓰레기값</a:t>
            </a:r>
            <a:r>
              <a:rPr lang="en-US" altLang="ko-KR" sz="2000" b="1" dirty="0"/>
              <a:t>(garbage value)</a:t>
            </a:r>
            <a:r>
              <a:rPr lang="ko-KR" altLang="en-US" sz="2000" b="1" dirty="0"/>
              <a:t>라고 부름</a:t>
            </a:r>
            <a:r>
              <a:rPr lang="en-US" altLang="ko-KR" sz="2000" b="1" dirty="0"/>
              <a:t>.</a:t>
            </a:r>
            <a:endParaRPr lang="ko-KR" altLang="en-US" sz="2000" b="1" dirty="0"/>
          </a:p>
          <a:p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342624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17765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자료형 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char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361BBD-A99C-48D8-B298-999FC0CC9826}"/>
              </a:ext>
            </a:extLst>
          </p:cNvPr>
          <p:cNvSpPr txBox="1"/>
          <p:nvPr/>
        </p:nvSpPr>
        <p:spPr>
          <a:xfrm>
            <a:off x="5192225" y="1801656"/>
            <a:ext cx="7584161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000" b="1" dirty="0"/>
              <a:t>원래는 정수형 </a:t>
            </a:r>
            <a:r>
              <a:rPr lang="ko-KR" altLang="en-US" sz="2000" b="1" dirty="0" err="1"/>
              <a:t>자료형이지만</a:t>
            </a:r>
            <a:r>
              <a:rPr lang="ko-KR" altLang="en-US" sz="2000" b="1" dirty="0"/>
              <a:t> 문자를 나타내는데 쓰임</a:t>
            </a:r>
            <a:endParaRPr lang="en-US" altLang="ko-KR" sz="2000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ko-KR" sz="2000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000" b="1" dirty="0"/>
              <a:t>문자를 나타내는 것은 컴퓨터에선 숫자로 저장됨</a:t>
            </a:r>
            <a:endParaRPr lang="en-US" altLang="ko-KR" sz="2000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ko-KR" sz="2000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000" b="1" dirty="0"/>
              <a:t>따라서 공통적인 규격이 필요한데 이가 </a:t>
            </a:r>
            <a:r>
              <a:rPr lang="en-US" altLang="ko-KR" sz="2000" b="1" dirty="0">
                <a:solidFill>
                  <a:srgbClr val="FF0000"/>
                </a:solidFill>
              </a:rPr>
              <a:t>ASCII</a:t>
            </a:r>
            <a:r>
              <a:rPr lang="ko-KR" altLang="en-US" sz="2000" b="1" dirty="0">
                <a:solidFill>
                  <a:srgbClr val="FF0000"/>
                </a:solidFill>
              </a:rPr>
              <a:t>코드</a:t>
            </a:r>
            <a:endParaRPr lang="en-US" altLang="ko-KR" sz="2000" b="1" dirty="0">
              <a:solidFill>
                <a:srgbClr val="FF0000"/>
              </a:solidFill>
            </a:endParaRPr>
          </a:p>
          <a:p>
            <a:endParaRPr lang="ko-KR" altLang="en-US" sz="24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4C07F7-03C6-4279-B217-3D000E1E2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80" y="1038225"/>
            <a:ext cx="4565938" cy="52179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32DC2E-F4C0-4679-A2D1-158E38878904}"/>
              </a:ext>
            </a:extLst>
          </p:cNvPr>
          <p:cNvSpPr txBox="1"/>
          <p:nvPr/>
        </p:nvSpPr>
        <p:spPr>
          <a:xfrm>
            <a:off x="775826" y="6300061"/>
            <a:ext cx="2943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&lt;ASCII </a:t>
            </a:r>
            <a:r>
              <a:rPr lang="ko-KR" altLang="en-US" b="1" dirty="0"/>
              <a:t>코드 표</a:t>
            </a:r>
            <a:r>
              <a:rPr lang="en-US" altLang="ko-KR" b="1" dirty="0"/>
              <a:t>&gt;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9188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17765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자료형 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char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720A88-1AA5-447D-8D01-C06B169CCA3D}"/>
              </a:ext>
            </a:extLst>
          </p:cNvPr>
          <p:cNvSpPr txBox="1"/>
          <p:nvPr/>
        </p:nvSpPr>
        <p:spPr>
          <a:xfrm>
            <a:off x="7700196" y="4742482"/>
            <a:ext cx="4161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%c : </a:t>
            </a:r>
            <a:r>
              <a:rPr lang="ko-KR" altLang="en-US" b="1" dirty="0"/>
              <a:t>문자로 출력하는 형식제어문자</a:t>
            </a:r>
            <a:endParaRPr lang="en-US" altLang="ko-KR" b="1" dirty="0"/>
          </a:p>
          <a:p>
            <a:pPr algn="ctr"/>
            <a:r>
              <a:rPr lang="en-US" altLang="ko-KR" b="1" dirty="0"/>
              <a:t>%d : </a:t>
            </a:r>
            <a:r>
              <a:rPr lang="ko-KR" altLang="en-US" b="1" dirty="0"/>
              <a:t>정수로 출력하는 형식제어문자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5B4A0EA-CAF0-436C-ADA7-2F755FD14A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16" t="9039" r="56191" b="56611"/>
          <a:stretch/>
        </p:blipFill>
        <p:spPr>
          <a:xfrm>
            <a:off x="446870" y="1470857"/>
            <a:ext cx="7093245" cy="448049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5C887E3-1F91-402F-8C81-F86847D06C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5665" b="75283"/>
          <a:stretch/>
        </p:blipFill>
        <p:spPr>
          <a:xfrm>
            <a:off x="5659065" y="1176764"/>
            <a:ext cx="6088131" cy="229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16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287602" y="-266716"/>
            <a:ext cx="10515600" cy="1325563"/>
          </a:xfrm>
        </p:spPr>
        <p:txBody>
          <a:bodyPr/>
          <a:lstStyle/>
          <a:p>
            <a:r>
              <a:rPr lang="ko-KR" altLang="en-US" b="1" dirty="0"/>
              <a:t>중간 퀴즈</a:t>
            </a: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2349522" y="2823695"/>
            <a:ext cx="6391759" cy="153907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/>
          </a:p>
          <a:p>
            <a:pPr algn="ctr"/>
            <a:r>
              <a:rPr lang="ko-KR" altLang="en-US" sz="3200" b="1" dirty="0"/>
              <a:t>정수형</a:t>
            </a:r>
            <a:r>
              <a:rPr lang="en-US" altLang="ko-KR" sz="3200" b="1" dirty="0"/>
              <a:t> 4</a:t>
            </a:r>
            <a:r>
              <a:rPr lang="ko-KR" altLang="en-US" sz="3200" b="1" dirty="0"/>
              <a:t>가지와</a:t>
            </a:r>
            <a:r>
              <a:rPr lang="en-US" altLang="ko-KR" sz="3200" b="1" dirty="0"/>
              <a:t> </a:t>
            </a:r>
            <a:r>
              <a:rPr lang="ko-KR" altLang="en-US" sz="3200" b="1" dirty="0"/>
              <a:t>실수형</a:t>
            </a:r>
            <a:r>
              <a:rPr lang="en-US" altLang="ko-KR" sz="3200" b="1" dirty="0"/>
              <a:t> 3</a:t>
            </a:r>
            <a:r>
              <a:rPr lang="ko-KR" altLang="en-US" sz="3200" b="1" dirty="0"/>
              <a:t>가지</a:t>
            </a:r>
            <a:r>
              <a:rPr lang="en-US" altLang="ko-KR" sz="3200" b="1" dirty="0"/>
              <a:t>? 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8633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287602" y="-266716"/>
            <a:ext cx="10515600" cy="1325563"/>
          </a:xfrm>
        </p:spPr>
        <p:txBody>
          <a:bodyPr/>
          <a:lstStyle/>
          <a:p>
            <a:r>
              <a:rPr lang="ko-KR" altLang="en-US" b="1" dirty="0"/>
              <a:t>중간 퀴즈</a:t>
            </a: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3100953" y="2823695"/>
            <a:ext cx="5795075" cy="14800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/>
          </a:p>
          <a:p>
            <a:r>
              <a:rPr lang="en-US" altLang="ko-KR" sz="3200" b="1" dirty="0"/>
              <a:t>1</a:t>
            </a:r>
            <a:r>
              <a:rPr lang="ko-KR" altLang="en-US" sz="3200" b="1" dirty="0"/>
              <a:t>과 </a:t>
            </a:r>
            <a:r>
              <a:rPr lang="en-US" altLang="ko-KR" sz="3200" b="1" dirty="0"/>
              <a:t>‘1’</a:t>
            </a:r>
            <a:r>
              <a:rPr lang="ko-KR" altLang="en-US" sz="3200" b="1" dirty="0"/>
              <a:t>의 차이점은</a:t>
            </a:r>
            <a:r>
              <a:rPr lang="en-US" altLang="ko-KR" sz="3200" b="1" dirty="0"/>
              <a:t>?</a:t>
            </a:r>
          </a:p>
          <a:p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FA51B1-4300-4587-910D-59439CB940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767" t="48023" r="31332" b="26667"/>
          <a:stretch/>
        </p:blipFill>
        <p:spPr>
          <a:xfrm>
            <a:off x="2058810" y="2258535"/>
            <a:ext cx="6756207" cy="267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15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ko-KR" altLang="en-US" b="1" dirty="0"/>
              <a:t>실습 문제</a:t>
            </a: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1228889" y="1408977"/>
            <a:ext cx="10515600" cy="4351338"/>
          </a:xfrm>
        </p:spPr>
        <p:txBody>
          <a:bodyPr/>
          <a:lstStyle/>
          <a:p>
            <a:r>
              <a:rPr lang="en-US" altLang="ko-KR" sz="2400" b="1" dirty="0" err="1"/>
              <a:t>int</a:t>
            </a:r>
            <a:r>
              <a:rPr lang="ko-KR" altLang="en-US" sz="2400" b="1" dirty="0"/>
              <a:t>형 변수 </a:t>
            </a:r>
            <a:r>
              <a:rPr lang="en-US" altLang="ko-KR" sz="2400" b="1" dirty="0"/>
              <a:t>x</a:t>
            </a:r>
            <a:r>
              <a:rPr lang="ko-KR" altLang="en-US" sz="2400" b="1" dirty="0"/>
              <a:t>와 </a:t>
            </a:r>
            <a:r>
              <a:rPr lang="en-US" altLang="ko-KR" sz="2400" b="1" dirty="0"/>
              <a:t>y</a:t>
            </a:r>
            <a:r>
              <a:rPr lang="ko-KR" altLang="en-US" sz="2400" b="1" dirty="0"/>
              <a:t>의 값을 서로 교환하는 프로그램을 작성해 보자</a:t>
            </a:r>
            <a:r>
              <a:rPr lang="en-US" altLang="ko-KR" sz="2400" b="1" dirty="0"/>
              <a:t>. </a:t>
            </a:r>
          </a:p>
          <a:p>
            <a:pPr marL="0" indent="0">
              <a:buNone/>
            </a:pPr>
            <a:r>
              <a:rPr lang="en-US" altLang="ko-KR" sz="2400" b="1" dirty="0"/>
              <a:t>  x</a:t>
            </a:r>
            <a:r>
              <a:rPr lang="ko-KR" altLang="en-US" sz="2400" b="1" dirty="0"/>
              <a:t>와 </a:t>
            </a:r>
            <a:r>
              <a:rPr lang="en-US" altLang="ko-KR" sz="2400" b="1" dirty="0"/>
              <a:t>y</a:t>
            </a:r>
            <a:r>
              <a:rPr lang="ko-KR" altLang="en-US" sz="2400" b="1" dirty="0"/>
              <a:t>는 </a:t>
            </a:r>
            <a:r>
              <a:rPr lang="en-US" altLang="ko-KR" sz="2400" b="1" dirty="0"/>
              <a:t>10, 20 </a:t>
            </a:r>
            <a:r>
              <a:rPr lang="ko-KR" altLang="en-US" sz="2400" b="1" dirty="0"/>
              <a:t>으로 초기화 한다</a:t>
            </a:r>
            <a:r>
              <a:rPr lang="en-US" altLang="ko-KR" sz="2400" b="1" dirty="0"/>
              <a:t>. </a:t>
            </a:r>
          </a:p>
          <a:p>
            <a:pPr marL="0" indent="0">
              <a:buNone/>
            </a:pPr>
            <a:r>
              <a:rPr lang="en-US" altLang="ko-KR" sz="2400" b="1" dirty="0"/>
              <a:t>  </a:t>
            </a:r>
            <a:r>
              <a:rPr lang="ko-KR" altLang="en-US" sz="2400" b="1" dirty="0"/>
              <a:t>별도의 변수가 필요하다면 선언하여 사용하라</a:t>
            </a:r>
            <a:r>
              <a:rPr lang="en-US" altLang="ko-KR" sz="2400" b="1" dirty="0"/>
              <a:t>. </a:t>
            </a:r>
          </a:p>
          <a:p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E80A12B-D0D3-4DBC-8556-DE9876106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2470" b="68459"/>
          <a:stretch/>
        </p:blipFill>
        <p:spPr>
          <a:xfrm>
            <a:off x="1722312" y="2835884"/>
            <a:ext cx="8671176" cy="381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027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5" name="직사각형 4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이등변 삼각형 6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ko-KR" altLang="en-US" b="1" dirty="0"/>
              <a:t>실습 문제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2"/>
          <a:srcRect t="15552" r="57776" b="41629"/>
          <a:stretch/>
        </p:blipFill>
        <p:spPr>
          <a:xfrm>
            <a:off x="578529" y="1128802"/>
            <a:ext cx="10178596" cy="558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02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ko-KR" altLang="en-US" b="1" dirty="0"/>
              <a:t>실습 문제</a:t>
            </a: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1246552" y="1190638"/>
            <a:ext cx="10515600" cy="4351338"/>
          </a:xfrm>
        </p:spPr>
        <p:txBody>
          <a:bodyPr>
            <a:normAutofit/>
          </a:bodyPr>
          <a:lstStyle/>
          <a:p>
            <a:r>
              <a:rPr lang="ko-KR" altLang="en-US" sz="2400" b="1" dirty="0"/>
              <a:t>상자의 부피를 구하는 프로그램을 작성하여 보자</a:t>
            </a:r>
            <a:r>
              <a:rPr lang="en-US" altLang="ko-KR" sz="2400" b="1" dirty="0"/>
              <a:t>. </a:t>
            </a:r>
            <a:r>
              <a:rPr lang="ko-KR" altLang="en-US" sz="2400" b="1" dirty="0"/>
              <a:t>부피는 길이</a:t>
            </a:r>
            <a:r>
              <a:rPr lang="en-US" altLang="ko-KR" sz="2400" b="1" dirty="0"/>
              <a:t>*</a:t>
            </a:r>
            <a:r>
              <a:rPr lang="ko-KR" altLang="en-US" sz="2400" b="1" dirty="0"/>
              <a:t>너비</a:t>
            </a:r>
            <a:r>
              <a:rPr lang="en-US" altLang="ko-KR" sz="2400" b="1" dirty="0"/>
              <a:t>*</a:t>
            </a:r>
            <a:r>
              <a:rPr lang="ko-KR" altLang="en-US" sz="2400" b="1" dirty="0"/>
              <a:t>높이로 계산하며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모두 </a:t>
            </a:r>
            <a:r>
              <a:rPr lang="en-US" altLang="ko-KR" sz="2400" b="1" dirty="0"/>
              <a:t>double</a:t>
            </a:r>
            <a:r>
              <a:rPr lang="ko-KR" altLang="en-US" sz="2400" b="1" dirty="0"/>
              <a:t>형의 실수로 입력 받는다</a:t>
            </a:r>
            <a:r>
              <a:rPr lang="en-US" altLang="ko-KR" sz="2400" b="1" dirty="0"/>
              <a:t>.</a:t>
            </a:r>
          </a:p>
          <a:p>
            <a:pPr marL="0" indent="0">
              <a:buNone/>
            </a:pPr>
            <a:r>
              <a:rPr lang="en-US" altLang="ko-KR" sz="2400" b="1" dirty="0"/>
              <a:t>  </a:t>
            </a:r>
            <a:r>
              <a:rPr lang="en-US" altLang="ko-KR" sz="2400" b="1" dirty="0">
                <a:solidFill>
                  <a:srgbClr val="FF0000"/>
                </a:solidFill>
              </a:rPr>
              <a:t>hint)</a:t>
            </a:r>
            <a:r>
              <a:rPr lang="en-US" altLang="ko-KR" sz="2400" b="1" dirty="0"/>
              <a:t> </a:t>
            </a:r>
            <a:r>
              <a:rPr lang="en-US" altLang="ko-KR" sz="2400" b="1" dirty="0" err="1"/>
              <a:t>scanf</a:t>
            </a:r>
            <a:r>
              <a:rPr lang="en-US" altLang="ko-KR" sz="2400" b="1" dirty="0"/>
              <a:t>(“%</a:t>
            </a:r>
            <a:r>
              <a:rPr lang="en-US" altLang="ko-KR" sz="2400" b="1" dirty="0" err="1"/>
              <a:t>lf</a:t>
            </a:r>
            <a:r>
              <a:rPr lang="en-US" altLang="ko-KR" sz="2400" b="1" dirty="0"/>
              <a:t> %</a:t>
            </a:r>
            <a:r>
              <a:rPr lang="en-US" altLang="ko-KR" sz="2400" b="1" dirty="0" err="1"/>
              <a:t>lf</a:t>
            </a:r>
            <a:r>
              <a:rPr lang="en-US" altLang="ko-KR" sz="2400" b="1" dirty="0"/>
              <a:t> %</a:t>
            </a:r>
            <a:r>
              <a:rPr lang="en-US" altLang="ko-KR" sz="2400" b="1" dirty="0" err="1"/>
              <a:t>lf</a:t>
            </a:r>
            <a:r>
              <a:rPr lang="en-US" altLang="ko-KR" sz="2400" b="1" dirty="0"/>
              <a:t>”, &amp;w, &amp;h, &amp;l); </a:t>
            </a:r>
            <a:r>
              <a:rPr lang="ko-KR" altLang="en-US" sz="2400" b="1" dirty="0"/>
              <a:t>와 같이 하면 </a:t>
            </a:r>
            <a:r>
              <a:rPr lang="en-US" altLang="ko-KR" sz="2400" b="1" dirty="0"/>
              <a:t>3</a:t>
            </a:r>
            <a:r>
              <a:rPr lang="ko-KR" altLang="en-US" sz="2400" b="1" dirty="0"/>
              <a:t>개의 값을 </a:t>
            </a:r>
            <a:endParaRPr lang="en-US" altLang="ko-KR" sz="2400" b="1" dirty="0"/>
          </a:p>
          <a:p>
            <a:pPr marL="0" indent="0">
              <a:buNone/>
            </a:pPr>
            <a:r>
              <a:rPr lang="en-US" altLang="ko-KR" sz="2400" b="1" dirty="0"/>
              <a:t>         </a:t>
            </a:r>
            <a:r>
              <a:rPr lang="ko-KR" altLang="en-US" sz="2400" b="1" dirty="0"/>
              <a:t>한번에  입력 받을 수 있다</a:t>
            </a:r>
            <a:r>
              <a:rPr lang="en-US" altLang="ko-KR" sz="2400" b="1" dirty="0"/>
              <a:t>.</a:t>
            </a:r>
            <a:endParaRPr lang="ko-KR" altLang="en-US" sz="2400" b="1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A133846-06A4-4CDD-9614-7570295211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8035" b="76962"/>
          <a:stretch/>
        </p:blipFill>
        <p:spPr>
          <a:xfrm>
            <a:off x="1078864" y="3214608"/>
            <a:ext cx="10530769" cy="302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660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5" name="직사각형 4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이등변 삼각형 6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ko-KR" altLang="en-US" b="1" dirty="0"/>
              <a:t>실습 문제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l="5602" t="15579" r="52719" b="49311"/>
          <a:stretch/>
        </p:blipFill>
        <p:spPr>
          <a:xfrm>
            <a:off x="356017" y="1299144"/>
            <a:ext cx="10935114" cy="4984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657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산술연산자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910281F6-956C-4F1B-B5EC-B954677E10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604078"/>
              </p:ext>
            </p:extLst>
          </p:nvPr>
        </p:nvGraphicFramePr>
        <p:xfrm>
          <a:off x="1924050" y="1952182"/>
          <a:ext cx="7634475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4825">
                  <a:extLst>
                    <a:ext uri="{9D8B030D-6E8A-4147-A177-3AD203B41FA5}">
                      <a16:colId xmlns:a16="http://schemas.microsoft.com/office/drawing/2014/main" val="2311600643"/>
                    </a:ext>
                  </a:extLst>
                </a:gridCol>
                <a:gridCol w="2544825">
                  <a:extLst>
                    <a:ext uri="{9D8B030D-6E8A-4147-A177-3AD203B41FA5}">
                      <a16:colId xmlns:a16="http://schemas.microsoft.com/office/drawing/2014/main" val="2522398"/>
                    </a:ext>
                  </a:extLst>
                </a:gridCol>
                <a:gridCol w="2544825">
                  <a:extLst>
                    <a:ext uri="{9D8B030D-6E8A-4147-A177-3AD203B41FA5}">
                      <a16:colId xmlns:a16="http://schemas.microsoft.com/office/drawing/2014/main" val="1403177110"/>
                    </a:ext>
                  </a:extLst>
                </a:gridCol>
              </a:tblGrid>
              <a:tr h="299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연산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연산자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7220"/>
                  </a:ext>
                </a:extLst>
              </a:tr>
              <a:tr h="299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덧셈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+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x</a:t>
                      </a:r>
                      <a:r>
                        <a:rPr lang="ko-KR" altLang="en-US" sz="1600" dirty="0"/>
                        <a:t> </a:t>
                      </a:r>
                      <a:r>
                        <a:rPr lang="en-US" altLang="ko-KR" sz="1600" dirty="0"/>
                        <a:t>+ y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667877"/>
                  </a:ext>
                </a:extLst>
              </a:tr>
              <a:tr h="299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뺄셈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-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x – y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908047"/>
                  </a:ext>
                </a:extLst>
              </a:tr>
              <a:tr h="299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곱셈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*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x * y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221036"/>
                  </a:ext>
                </a:extLst>
              </a:tr>
              <a:tr h="299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나눗셈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/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x / y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86424"/>
                  </a:ext>
                </a:extLst>
              </a:tr>
              <a:tr h="299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나머지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%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x % y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47208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BCB2B0-6CEE-462B-960A-DFFA871FE37C}"/>
                  </a:ext>
                </a:extLst>
              </p:cNvPr>
              <p:cNvSpPr txBox="1"/>
              <p:nvPr/>
            </p:nvSpPr>
            <p:spPr>
              <a:xfrm>
                <a:off x="1924050" y="4556502"/>
                <a:ext cx="6842502" cy="15846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>
                    <a:latin typeface="Cambria Math" panose="02040503050406030204" pitchFamily="18" charset="0"/>
                  </a:rPr>
                  <a:t>다양한 수식을 바꿔보자</a:t>
                </a:r>
                <a:r>
                  <a:rPr lang="en-US" altLang="ko-KR" b="1" dirty="0">
                    <a:latin typeface="Cambria Math" panose="02040503050406030204" pitchFamily="18" charset="0"/>
                  </a:rPr>
                  <a:t>)</a:t>
                </a:r>
              </a:p>
              <a:p>
                <a:endParaRPr lang="en-US" altLang="ko-KR" b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ko-KR" b="0" dirty="0"/>
                  <a:t>            -&gt;  y = m * x + b; </a:t>
                </a: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ko-KR" b="0" dirty="0"/>
                  <a:t>     -&gt;  y = a * x * x + b * x + c;</a:t>
                </a: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ko-KR" altLang="en-US" dirty="0"/>
                  <a:t>             </a:t>
                </a:r>
                <a:r>
                  <a:rPr lang="en-US" altLang="ko-KR" dirty="0"/>
                  <a:t>-&gt;  m = (x + y + z) / 3;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BCB2B0-6CEE-462B-960A-DFFA871FE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050" y="4556502"/>
                <a:ext cx="6842502" cy="1584601"/>
              </a:xfrm>
              <a:prstGeom prst="rect">
                <a:avLst/>
              </a:prstGeom>
              <a:blipFill>
                <a:blip r:embed="rId2"/>
                <a:stretch>
                  <a:fillRect l="-802" t="-1923" b="-7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1045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%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의 용도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EA5C6327-B9C0-45ED-91DF-9590C77137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83" t="9153" r="47929" b="53897"/>
          <a:stretch/>
        </p:blipFill>
        <p:spPr>
          <a:xfrm>
            <a:off x="802670" y="1241302"/>
            <a:ext cx="8095076" cy="393657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A9C76E2-1D53-4EB2-B6CF-1724066786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r="66208" b="78164"/>
          <a:stretch/>
        </p:blipFill>
        <p:spPr>
          <a:xfrm>
            <a:off x="5195244" y="1055814"/>
            <a:ext cx="6800444" cy="22981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D22EA8-4768-409C-9CE2-44E931E58AE6}"/>
              </a:ext>
            </a:extLst>
          </p:cNvPr>
          <p:cNvSpPr txBox="1"/>
          <p:nvPr/>
        </p:nvSpPr>
        <p:spPr>
          <a:xfrm>
            <a:off x="644837" y="5828300"/>
            <a:ext cx="11052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그 외</a:t>
            </a:r>
            <a:r>
              <a:rPr lang="en-US" altLang="ko-KR" sz="2000" b="1" dirty="0"/>
              <a:t>) </a:t>
            </a:r>
            <a:r>
              <a:rPr lang="ko-KR" altLang="en-US" sz="2000" b="1" dirty="0"/>
              <a:t>나머지가 </a:t>
            </a:r>
            <a:r>
              <a:rPr lang="en-US" altLang="ko-KR" sz="2000" b="1" dirty="0"/>
              <a:t>1</a:t>
            </a:r>
            <a:r>
              <a:rPr lang="ko-KR" altLang="en-US" sz="2000" b="1" dirty="0"/>
              <a:t>이면 홀수 </a:t>
            </a:r>
            <a:r>
              <a:rPr lang="en-US" altLang="ko-KR" sz="2000" b="1" dirty="0"/>
              <a:t>0</a:t>
            </a:r>
            <a:r>
              <a:rPr lang="ko-KR" altLang="en-US" sz="2000" b="1" dirty="0"/>
              <a:t>이면 짝수임을 이용해서 구분하는 기능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난수를 생성할 때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등등</a:t>
            </a:r>
          </a:p>
        </p:txBody>
      </p:sp>
    </p:spTree>
    <p:extLst>
      <p:ext uri="{BB962C8B-B14F-4D97-AF65-F5344CB8AC3E}">
        <p14:creationId xmlns:p14="http://schemas.microsoft.com/office/powerpoint/2010/main" val="4174624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증감 연산자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9232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1D22EA8-4768-409C-9CE2-44E931E58AE6}"/>
              </a:ext>
            </a:extLst>
          </p:cNvPr>
          <p:cNvSpPr txBox="1"/>
          <p:nvPr/>
        </p:nvSpPr>
        <p:spPr>
          <a:xfrm>
            <a:off x="569562" y="4724658"/>
            <a:ext cx="11052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++, -- </a:t>
            </a:r>
            <a:r>
              <a:rPr lang="ko-KR" altLang="en-US" sz="2400" b="1" dirty="0"/>
              <a:t>는 </a:t>
            </a:r>
            <a:r>
              <a:rPr lang="en-US" altLang="ko-KR" sz="2400" b="1" dirty="0"/>
              <a:t>1</a:t>
            </a:r>
            <a:r>
              <a:rPr lang="ko-KR" altLang="en-US" sz="2400" b="1" dirty="0"/>
              <a:t>씩 증가하거나 감소시키는 연산자로 </a:t>
            </a:r>
            <a:r>
              <a:rPr lang="en-US" altLang="ko-KR" sz="2400" b="1" dirty="0"/>
              <a:t>x = x+1</a:t>
            </a:r>
            <a:r>
              <a:rPr lang="ko-KR" altLang="en-US" sz="2400" b="1" dirty="0"/>
              <a:t>과 같은 의미이다</a:t>
            </a:r>
            <a:r>
              <a:rPr lang="en-US" altLang="ko-KR" sz="2400" b="1" dirty="0"/>
              <a:t>.</a:t>
            </a:r>
            <a:endParaRPr lang="ko-KR" altLang="en-US" sz="2400" b="1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CA95EDE-362B-43BF-B6B5-9D0EF09F24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441552"/>
              </p:ext>
            </p:extLst>
          </p:nvPr>
        </p:nvGraphicFramePr>
        <p:xfrm>
          <a:off x="1614634" y="2249195"/>
          <a:ext cx="8128000" cy="1395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041">
                  <a:extLst>
                    <a:ext uri="{9D8B030D-6E8A-4147-A177-3AD203B41FA5}">
                      <a16:colId xmlns:a16="http://schemas.microsoft.com/office/drawing/2014/main" val="2314281681"/>
                    </a:ext>
                  </a:extLst>
                </a:gridCol>
                <a:gridCol w="5959959">
                  <a:extLst>
                    <a:ext uri="{9D8B030D-6E8A-4147-A177-3AD203B41FA5}">
                      <a16:colId xmlns:a16="http://schemas.microsoft.com/office/drawing/2014/main" val="666601665"/>
                    </a:ext>
                  </a:extLst>
                </a:gridCol>
              </a:tblGrid>
              <a:tr h="3335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증감 연산자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차이점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42248"/>
                  </a:ext>
                </a:extLst>
              </a:tr>
              <a:tr h="5312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++x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수식의 값은 증가된 </a:t>
                      </a:r>
                      <a:r>
                        <a:rPr lang="en-US" altLang="ko-KR" dirty="0"/>
                        <a:t>x</a:t>
                      </a:r>
                      <a:r>
                        <a:rPr lang="ko-KR" altLang="en-US" dirty="0"/>
                        <a:t>값이다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960936"/>
                  </a:ext>
                </a:extLst>
              </a:tr>
              <a:tr h="4989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x++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수식의 값은 증가되지 않은 원래의 </a:t>
                      </a:r>
                      <a:r>
                        <a:rPr lang="en-US" altLang="ko-KR" dirty="0"/>
                        <a:t>x</a:t>
                      </a:r>
                      <a:r>
                        <a:rPr lang="ko-KR" altLang="en-US" dirty="0"/>
                        <a:t>값이다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457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7442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증감 연산자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9232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D3ECC4E4-CF1F-44A4-94CE-7D28F51BB8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06" t="8114" r="69894" b="51751"/>
          <a:stretch/>
        </p:blipFill>
        <p:spPr>
          <a:xfrm>
            <a:off x="869395" y="1334795"/>
            <a:ext cx="4908928" cy="475437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4BDBCFB-B2E0-44A9-A295-3F1898EB45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67327" b="60699"/>
          <a:stretch/>
        </p:blipFill>
        <p:spPr>
          <a:xfrm>
            <a:off x="5610914" y="1672026"/>
            <a:ext cx="6485514" cy="407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339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복합 대입 연산자 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&amp;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조건 연산자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506813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D155C7D-C133-491A-A5D4-CC96DAC17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050304"/>
              </p:ext>
            </p:extLst>
          </p:nvPr>
        </p:nvGraphicFramePr>
        <p:xfrm>
          <a:off x="1490522" y="1718998"/>
          <a:ext cx="3906982" cy="3305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3491">
                  <a:extLst>
                    <a:ext uri="{9D8B030D-6E8A-4147-A177-3AD203B41FA5}">
                      <a16:colId xmlns:a16="http://schemas.microsoft.com/office/drawing/2014/main" val="109008584"/>
                    </a:ext>
                  </a:extLst>
                </a:gridCol>
                <a:gridCol w="1953491">
                  <a:extLst>
                    <a:ext uri="{9D8B030D-6E8A-4147-A177-3AD203B41FA5}">
                      <a16:colId xmlns:a16="http://schemas.microsoft.com/office/drawing/2014/main" val="2618947193"/>
                    </a:ext>
                  </a:extLst>
                </a:gridCol>
              </a:tblGrid>
              <a:tr h="4064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복합대입연산자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의미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183904"/>
                  </a:ext>
                </a:extLst>
              </a:tr>
              <a:tr h="5940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 += y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 = x + y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704947"/>
                  </a:ext>
                </a:extLst>
              </a:tr>
              <a:tr h="5509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x -= y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x = x </a:t>
                      </a:r>
                      <a:r>
                        <a:rPr lang="en-US" altLang="ko-KR" b="1" dirty="0" smtClean="0"/>
                        <a:t>- </a:t>
                      </a:r>
                      <a:r>
                        <a:rPr lang="en-US" altLang="ko-KR" b="1" dirty="0"/>
                        <a:t>y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239083"/>
                  </a:ext>
                </a:extLst>
              </a:tr>
              <a:tr h="6084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x *= y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x = x </a:t>
                      </a:r>
                      <a:r>
                        <a:rPr lang="en-US" altLang="ko-KR" b="1" dirty="0" smtClean="0"/>
                        <a:t>* </a:t>
                      </a:r>
                      <a:r>
                        <a:rPr lang="en-US" altLang="ko-KR" b="1" dirty="0"/>
                        <a:t>y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850735"/>
                  </a:ext>
                </a:extLst>
              </a:tr>
              <a:tr h="5387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x /=y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x = x </a:t>
                      </a:r>
                      <a:r>
                        <a:rPr lang="en-US" altLang="ko-KR" b="1" dirty="0" smtClean="0"/>
                        <a:t>/ </a:t>
                      </a:r>
                      <a:r>
                        <a:rPr lang="en-US" altLang="ko-KR" b="1" dirty="0"/>
                        <a:t>y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143395"/>
                  </a:ext>
                </a:extLst>
              </a:tr>
              <a:tr h="6071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x %= y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x = x </a:t>
                      </a:r>
                      <a:r>
                        <a:rPr lang="en-US" altLang="ko-KR" b="1" dirty="0" smtClean="0"/>
                        <a:t>% </a:t>
                      </a:r>
                      <a:r>
                        <a:rPr lang="en-US" altLang="ko-KR" b="1" dirty="0"/>
                        <a:t>y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54092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4D9417C-9922-4DDE-8907-612EEDC3E288}"/>
              </a:ext>
            </a:extLst>
          </p:cNvPr>
          <p:cNvSpPr txBox="1"/>
          <p:nvPr/>
        </p:nvSpPr>
        <p:spPr>
          <a:xfrm>
            <a:off x="6279327" y="2197711"/>
            <a:ext cx="52554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000" b="1" dirty="0"/>
          </a:p>
          <a:p>
            <a:r>
              <a:rPr lang="en-US" altLang="ko-KR" sz="2000" b="1" dirty="0"/>
              <a:t>(</a:t>
            </a:r>
            <a:r>
              <a:rPr lang="ko-KR" altLang="en-US" sz="2000" b="1" dirty="0"/>
              <a:t>조건</a:t>
            </a:r>
            <a:r>
              <a:rPr lang="en-US" altLang="ko-KR" sz="2000" b="1" dirty="0"/>
              <a:t>) ? (</a:t>
            </a:r>
            <a:r>
              <a:rPr lang="ko-KR" altLang="en-US" sz="2000" b="1" dirty="0"/>
              <a:t>참일 때 수행</a:t>
            </a:r>
            <a:r>
              <a:rPr lang="en-US" altLang="ko-KR" sz="2000" b="1" dirty="0"/>
              <a:t>) : (</a:t>
            </a:r>
            <a:r>
              <a:rPr lang="ko-KR" altLang="en-US" sz="2000" b="1" dirty="0"/>
              <a:t>거짓일 때 수행</a:t>
            </a:r>
            <a:r>
              <a:rPr lang="en-US" altLang="ko-KR" sz="2000" b="1" dirty="0"/>
              <a:t>)</a:t>
            </a:r>
          </a:p>
          <a:p>
            <a:endParaRPr lang="en-US" altLang="ko-KR" sz="2000" b="1" dirty="0"/>
          </a:p>
          <a:p>
            <a:endParaRPr lang="en-US" altLang="ko-KR" sz="2000" b="1" dirty="0"/>
          </a:p>
          <a:p>
            <a:endParaRPr lang="en-US" altLang="ko-KR" sz="2000" b="1" dirty="0"/>
          </a:p>
          <a:p>
            <a:r>
              <a:rPr lang="en-US" altLang="ko-KR" sz="2000" b="1" dirty="0"/>
              <a:t>Ex) (a&gt;b) ? (max = a) : (max = b);</a:t>
            </a:r>
            <a:endParaRPr lang="ko-KR" altLang="en-US" sz="2000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423BCFA-FF4B-425C-9D81-415334861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50" y="5198839"/>
            <a:ext cx="11150550" cy="137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440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관계 연산자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,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논리 연산자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-1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D06F058-AA8C-406C-9102-EF03ADB5B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461859"/>
              </p:ext>
            </p:extLst>
          </p:nvPr>
        </p:nvGraphicFramePr>
        <p:xfrm>
          <a:off x="1352229" y="1213328"/>
          <a:ext cx="4564502" cy="3634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>
                  <a:extLst>
                    <a:ext uri="{9D8B030D-6E8A-4147-A177-3AD203B41FA5}">
                      <a16:colId xmlns:a16="http://schemas.microsoft.com/office/drawing/2014/main" val="137971289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862322700"/>
                    </a:ext>
                  </a:extLst>
                </a:gridCol>
              </a:tblGrid>
              <a:tr h="5192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연산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의미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655360"/>
                  </a:ext>
                </a:extLst>
              </a:tr>
              <a:tr h="519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</a:t>
                      </a:r>
                      <a:r>
                        <a:rPr lang="ko-KR" altLang="en-US" b="1" dirty="0"/>
                        <a:t> </a:t>
                      </a:r>
                      <a:r>
                        <a:rPr lang="en-US" altLang="ko-KR" b="1" dirty="0"/>
                        <a:t>== y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</a:t>
                      </a:r>
                      <a:r>
                        <a:rPr lang="ko-KR" altLang="en-US" b="1" dirty="0"/>
                        <a:t>와 </a:t>
                      </a:r>
                      <a:r>
                        <a:rPr lang="en-US" altLang="ko-KR" b="1" dirty="0"/>
                        <a:t>y</a:t>
                      </a:r>
                      <a:r>
                        <a:rPr lang="ko-KR" altLang="en-US" b="1" dirty="0"/>
                        <a:t>가 같은가</a:t>
                      </a:r>
                      <a:r>
                        <a:rPr lang="en-US" altLang="ko-KR" b="1" dirty="0"/>
                        <a:t>?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29300"/>
                  </a:ext>
                </a:extLst>
              </a:tr>
              <a:tr h="519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 !=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</a:t>
                      </a:r>
                      <a:r>
                        <a:rPr lang="ko-KR" altLang="en-US" b="1" dirty="0"/>
                        <a:t>와 </a:t>
                      </a:r>
                      <a:r>
                        <a:rPr lang="en-US" altLang="ko-KR" b="1" dirty="0"/>
                        <a:t>y</a:t>
                      </a:r>
                      <a:r>
                        <a:rPr lang="ko-KR" altLang="en-US" b="1" dirty="0"/>
                        <a:t>가 </a:t>
                      </a:r>
                      <a:r>
                        <a:rPr lang="ko-KR" altLang="en-US" b="1" dirty="0" err="1"/>
                        <a:t>다른가</a:t>
                      </a:r>
                      <a:r>
                        <a:rPr lang="en-US" altLang="ko-KR" b="1" dirty="0"/>
                        <a:t>?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441594"/>
                  </a:ext>
                </a:extLst>
              </a:tr>
              <a:tr h="519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 &gt; y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</a:t>
                      </a:r>
                      <a:r>
                        <a:rPr lang="ko-KR" altLang="en-US" b="1" dirty="0"/>
                        <a:t>가 </a:t>
                      </a:r>
                      <a:r>
                        <a:rPr lang="en-US" altLang="ko-KR" b="1" dirty="0"/>
                        <a:t>y</a:t>
                      </a:r>
                      <a:r>
                        <a:rPr lang="ko-KR" altLang="en-US" b="1" dirty="0"/>
                        <a:t>보다 큰가</a:t>
                      </a:r>
                      <a:r>
                        <a:rPr lang="en-US" altLang="ko-KR" b="1" dirty="0"/>
                        <a:t>?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120231"/>
                  </a:ext>
                </a:extLst>
              </a:tr>
              <a:tr h="519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 &lt; y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</a:t>
                      </a:r>
                      <a:r>
                        <a:rPr lang="ko-KR" altLang="en-US" b="1" dirty="0"/>
                        <a:t>가 </a:t>
                      </a:r>
                      <a:r>
                        <a:rPr lang="en-US" altLang="ko-KR" b="1" dirty="0"/>
                        <a:t>y</a:t>
                      </a:r>
                      <a:r>
                        <a:rPr lang="ko-KR" altLang="en-US" b="1" dirty="0"/>
                        <a:t>보다 작은가</a:t>
                      </a:r>
                      <a:r>
                        <a:rPr lang="en-US" altLang="ko-KR" b="1" dirty="0"/>
                        <a:t>?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074819"/>
                  </a:ext>
                </a:extLst>
              </a:tr>
              <a:tr h="519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 &gt;= y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</a:t>
                      </a:r>
                      <a:r>
                        <a:rPr lang="ko-KR" altLang="en-US" b="1" dirty="0"/>
                        <a:t>가 </a:t>
                      </a:r>
                      <a:r>
                        <a:rPr lang="en-US" altLang="ko-KR" b="1" dirty="0"/>
                        <a:t>y</a:t>
                      </a:r>
                      <a:r>
                        <a:rPr lang="ko-KR" altLang="en-US" b="1" dirty="0"/>
                        <a:t>보다 크거나 같은가</a:t>
                      </a:r>
                      <a:r>
                        <a:rPr lang="en-US" altLang="ko-KR" b="1" dirty="0"/>
                        <a:t>?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053198"/>
                  </a:ext>
                </a:extLst>
              </a:tr>
              <a:tr h="519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 &lt;= y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x</a:t>
                      </a:r>
                      <a:r>
                        <a:rPr lang="ko-KR" altLang="en-US" b="1" dirty="0"/>
                        <a:t>가 </a:t>
                      </a:r>
                      <a:r>
                        <a:rPr lang="en-US" altLang="ko-KR" b="1" dirty="0"/>
                        <a:t>y</a:t>
                      </a:r>
                      <a:r>
                        <a:rPr lang="ko-KR" altLang="en-US" b="1" dirty="0"/>
                        <a:t>보다 작거나 같은가</a:t>
                      </a:r>
                      <a:r>
                        <a:rPr lang="en-US" altLang="ko-KR" b="1" dirty="0"/>
                        <a:t>?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19737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12A9B46-7C2B-405C-BCB7-5156F1624580}"/>
              </a:ext>
            </a:extLst>
          </p:cNvPr>
          <p:cNvSpPr txBox="1"/>
          <p:nvPr/>
        </p:nvSpPr>
        <p:spPr>
          <a:xfrm>
            <a:off x="1478966" y="5766692"/>
            <a:ext cx="4303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주의</a:t>
            </a:r>
            <a:r>
              <a:rPr lang="en-US" altLang="ko-KR" b="1" dirty="0"/>
              <a:t>)) 2 &lt; x &lt; 5 </a:t>
            </a:r>
            <a:r>
              <a:rPr lang="ko-KR" altLang="en-US" b="1" dirty="0"/>
              <a:t>처럼 쓰이지 않음</a:t>
            </a:r>
            <a:r>
              <a:rPr lang="en-US" altLang="ko-KR" b="1" dirty="0"/>
              <a:t>!</a:t>
            </a:r>
          </a:p>
          <a:p>
            <a:r>
              <a:rPr lang="en-US" altLang="ko-KR" b="1" dirty="0"/>
              <a:t>          (2 &lt; x) &amp;&amp; (x &lt; 5)</a:t>
            </a:r>
            <a:endParaRPr lang="ko-KR" altLang="en-US" b="1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2EC4C2D-1C22-44D2-B91B-A60A26B2A5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765917"/>
              </p:ext>
            </p:extLst>
          </p:nvPr>
        </p:nvGraphicFramePr>
        <p:xfrm>
          <a:off x="6096000" y="2244932"/>
          <a:ext cx="5772727" cy="1520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256">
                  <a:extLst>
                    <a:ext uri="{9D8B030D-6E8A-4147-A177-3AD203B41FA5}">
                      <a16:colId xmlns:a16="http://schemas.microsoft.com/office/drawing/2014/main" val="2786609957"/>
                    </a:ext>
                  </a:extLst>
                </a:gridCol>
                <a:gridCol w="4437471">
                  <a:extLst>
                    <a:ext uri="{9D8B030D-6E8A-4147-A177-3AD203B41FA5}">
                      <a16:colId xmlns:a16="http://schemas.microsoft.com/office/drawing/2014/main" val="1724963780"/>
                    </a:ext>
                  </a:extLst>
                </a:gridCol>
              </a:tblGrid>
              <a:tr h="3800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연산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의미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217304"/>
                  </a:ext>
                </a:extLst>
              </a:tr>
              <a:tr h="3800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 &amp;&amp; y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AND</a:t>
                      </a:r>
                      <a:r>
                        <a:rPr lang="ko-KR" altLang="en-US" b="1" dirty="0"/>
                        <a:t>연산</a:t>
                      </a:r>
                      <a:r>
                        <a:rPr lang="en-US" altLang="ko-KR" b="1" dirty="0"/>
                        <a:t>. X</a:t>
                      </a:r>
                      <a:r>
                        <a:rPr lang="ko-KR" altLang="en-US" b="1" dirty="0"/>
                        <a:t>와 </a:t>
                      </a:r>
                      <a:r>
                        <a:rPr lang="en-US" altLang="ko-KR" b="1" dirty="0"/>
                        <a:t>y</a:t>
                      </a:r>
                      <a:r>
                        <a:rPr lang="ko-KR" altLang="en-US" b="1" dirty="0"/>
                        <a:t>가 모두 참이여야 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682410"/>
                  </a:ext>
                </a:extLst>
              </a:tr>
              <a:tr h="3800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 || y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OR</a:t>
                      </a:r>
                      <a:r>
                        <a:rPr lang="ko-KR" altLang="en-US" b="1" dirty="0"/>
                        <a:t>연산</a:t>
                      </a:r>
                      <a:r>
                        <a:rPr lang="en-US" altLang="ko-KR" b="1" dirty="0"/>
                        <a:t>. X</a:t>
                      </a:r>
                      <a:r>
                        <a:rPr lang="ko-KR" altLang="en-US" b="1" dirty="0"/>
                        <a:t>나 </a:t>
                      </a:r>
                      <a:r>
                        <a:rPr lang="en-US" altLang="ko-KR" b="1" dirty="0"/>
                        <a:t>y</a:t>
                      </a:r>
                      <a:r>
                        <a:rPr lang="ko-KR" altLang="en-US" b="1" dirty="0"/>
                        <a:t> 중 하나만 참이면 참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553862"/>
                  </a:ext>
                </a:extLst>
              </a:tr>
              <a:tr h="3800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!x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NOT</a:t>
                      </a:r>
                      <a:r>
                        <a:rPr lang="ko-KR" altLang="en-US" b="1" dirty="0"/>
                        <a:t>연산</a:t>
                      </a:r>
                      <a:r>
                        <a:rPr lang="en-US" altLang="ko-KR" b="1" dirty="0"/>
                        <a:t>. X</a:t>
                      </a:r>
                      <a:r>
                        <a:rPr lang="ko-KR" altLang="en-US" b="1" dirty="0"/>
                        <a:t>가 참이면 거짓</a:t>
                      </a:r>
                      <a:r>
                        <a:rPr lang="en-US" altLang="ko-KR" b="1" dirty="0"/>
                        <a:t>, </a:t>
                      </a:r>
                      <a:r>
                        <a:rPr lang="ko-KR" altLang="en-US" b="1" dirty="0"/>
                        <a:t>거짓이면 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709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4398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형변환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0" y="7621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12A9B46-7C2B-405C-BCB7-5156F1624580}"/>
              </a:ext>
            </a:extLst>
          </p:cNvPr>
          <p:cNvSpPr txBox="1"/>
          <p:nvPr/>
        </p:nvSpPr>
        <p:spPr>
          <a:xfrm>
            <a:off x="1404423" y="1119200"/>
            <a:ext cx="9522312" cy="5695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b="1" dirty="0"/>
              <a:t>자동형변환</a:t>
            </a: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   </a:t>
            </a:r>
            <a:r>
              <a:rPr lang="en-US" altLang="ko-KR" sz="2000" b="1" dirty="0"/>
              <a:t>1) </a:t>
            </a:r>
            <a:r>
              <a:rPr lang="ko-KR" altLang="en-US" sz="2000" b="1" dirty="0"/>
              <a:t>대입 </a:t>
            </a:r>
            <a:r>
              <a:rPr lang="ko-KR" altLang="en-US" sz="2000" b="1" dirty="0" err="1"/>
              <a:t>연산시</a:t>
            </a:r>
            <a:r>
              <a:rPr lang="ko-KR" altLang="en-US" sz="2000" b="1" dirty="0"/>
              <a:t> 자동형변환 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올림변환과 내림변환</a:t>
            </a:r>
            <a:endParaRPr lang="en-US" altLang="ko-KR" sz="2000" b="1" dirty="0"/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       </a:t>
            </a:r>
            <a:r>
              <a:rPr lang="ko-KR" altLang="en-US" sz="2000" b="1" dirty="0"/>
              <a:t>올림변환 </a:t>
            </a:r>
            <a:r>
              <a:rPr lang="en-US" altLang="ko-KR" sz="2000" b="1" dirty="0"/>
              <a:t>: double f = 10; </a:t>
            </a:r>
            <a:r>
              <a:rPr lang="ko-KR" altLang="en-US" sz="2000" b="1" dirty="0"/>
              <a:t>이면 </a:t>
            </a:r>
            <a:r>
              <a:rPr lang="en-US" altLang="ko-KR" sz="2000" b="1" dirty="0"/>
              <a:t>f</a:t>
            </a:r>
            <a:r>
              <a:rPr lang="ko-KR" altLang="en-US" sz="2000" b="1" dirty="0"/>
              <a:t>에는 </a:t>
            </a:r>
            <a:r>
              <a:rPr lang="en-US" altLang="ko-KR" sz="2000" b="1" dirty="0"/>
              <a:t>10.0 </a:t>
            </a:r>
            <a:r>
              <a:rPr lang="ko-KR" altLang="en-US" sz="2000" b="1" dirty="0"/>
              <a:t>저장</a:t>
            </a:r>
            <a:endParaRPr lang="en-US" altLang="ko-KR" sz="2000" b="1" dirty="0"/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       </a:t>
            </a:r>
            <a:r>
              <a:rPr lang="ko-KR" altLang="en-US" sz="2000" b="1" dirty="0"/>
              <a:t>내림변환 </a:t>
            </a:r>
            <a:r>
              <a:rPr lang="en-US" altLang="ko-KR" sz="2000" b="1" dirty="0"/>
              <a:t>: </a:t>
            </a:r>
            <a:r>
              <a:rPr lang="en-US" altLang="ko-KR" sz="2000" b="1" dirty="0" err="1"/>
              <a:t>int</a:t>
            </a:r>
            <a:r>
              <a:rPr lang="en-US" altLang="ko-KR" sz="2000" b="1" dirty="0"/>
              <a:t> </a:t>
            </a:r>
            <a:r>
              <a:rPr lang="en-US" altLang="ko-KR" sz="2000" b="1" dirty="0" err="1"/>
              <a:t>i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= 3.14; </a:t>
            </a:r>
            <a:r>
              <a:rPr lang="ko-KR" altLang="en-US" sz="2000" b="1" dirty="0"/>
              <a:t>이면 </a:t>
            </a:r>
            <a:r>
              <a:rPr lang="en-US" altLang="ko-KR" sz="2000" b="1" dirty="0" err="1"/>
              <a:t>i</a:t>
            </a:r>
            <a:r>
              <a:rPr lang="ko-KR" altLang="en-US" sz="2000" b="1" dirty="0"/>
              <a:t>에는 </a:t>
            </a:r>
            <a:r>
              <a:rPr lang="en-US" altLang="ko-KR" sz="2000" b="1" dirty="0"/>
              <a:t>3 </a:t>
            </a:r>
            <a:r>
              <a:rPr lang="ko-KR" altLang="en-US" sz="2000" b="1" dirty="0"/>
              <a:t>저장</a:t>
            </a:r>
            <a:endParaRPr lang="en-US" altLang="ko-KR" sz="2000" b="1" dirty="0"/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   2) </a:t>
            </a:r>
            <a:r>
              <a:rPr lang="ko-KR" altLang="en-US" sz="2000" b="1" dirty="0"/>
              <a:t>수식 </a:t>
            </a:r>
            <a:r>
              <a:rPr lang="ko-KR" altLang="en-US" sz="2000" b="1" dirty="0" err="1"/>
              <a:t>연산시</a:t>
            </a:r>
            <a:r>
              <a:rPr lang="ko-KR" altLang="en-US" sz="2000" b="1" dirty="0"/>
              <a:t> 자동형변환 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원칙적으로 수식의 피연산자는 자료</a:t>
            </a:r>
            <a:endParaRPr lang="en-US" altLang="ko-KR" sz="2000" b="1" dirty="0"/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       </a:t>
            </a:r>
            <a:r>
              <a:rPr lang="ko-KR" altLang="en-US" sz="2000" b="1" dirty="0"/>
              <a:t>형이 동일해야 함</a:t>
            </a:r>
            <a:r>
              <a:rPr lang="en-US" altLang="ko-KR" sz="2000" b="1" dirty="0"/>
              <a:t>. </a:t>
            </a:r>
            <a:r>
              <a:rPr lang="ko-KR" altLang="en-US" sz="2000" b="1" dirty="0"/>
              <a:t>서로 다른 자료형이 온다면 자동으로 </a:t>
            </a:r>
            <a:r>
              <a:rPr lang="ko-KR" altLang="en-US" sz="2000" b="1" dirty="0" err="1"/>
              <a:t>형변환</a:t>
            </a:r>
            <a:r>
              <a:rPr lang="ko-KR" altLang="en-US" sz="2000" b="1" dirty="0"/>
              <a:t> </a:t>
            </a:r>
            <a:endParaRPr lang="en-US" altLang="ko-KR" sz="2000" b="1" dirty="0"/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       </a:t>
            </a:r>
            <a:r>
              <a:rPr lang="ko-KR" altLang="en-US" sz="2000" b="1" dirty="0"/>
              <a:t>이 일어난다</a:t>
            </a:r>
            <a:r>
              <a:rPr lang="en-US" altLang="ko-KR" sz="2000" b="1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       </a:t>
            </a:r>
            <a:r>
              <a:rPr lang="en-US" altLang="ko-KR" sz="2000" b="1" dirty="0" err="1"/>
              <a:t>int</a:t>
            </a:r>
            <a:r>
              <a:rPr lang="en-US" altLang="ko-KR" sz="2000" b="1" dirty="0"/>
              <a:t>&lt;unsigned </a:t>
            </a:r>
            <a:r>
              <a:rPr lang="en-US" altLang="ko-KR" sz="2000" b="1" dirty="0" err="1"/>
              <a:t>int</a:t>
            </a:r>
            <a:r>
              <a:rPr lang="en-US" altLang="ko-KR" sz="2000" b="1" dirty="0"/>
              <a:t>&lt;long&lt;unsigned long&lt;float&lt;double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       ex) 10 + 3.14 =&gt; 10.0 + 3.14</a:t>
            </a:r>
          </a:p>
          <a:p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b="1" dirty="0"/>
              <a:t>명시적 </a:t>
            </a:r>
            <a:r>
              <a:rPr lang="ko-KR" altLang="en-US" sz="2400" b="1" dirty="0" err="1"/>
              <a:t>형변환</a:t>
            </a: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   (</a:t>
            </a:r>
            <a:r>
              <a:rPr lang="en-US" altLang="ko-KR" sz="2000" b="1" dirty="0" err="1"/>
              <a:t>int</a:t>
            </a:r>
            <a:r>
              <a:rPr lang="en-US" altLang="ko-KR" sz="2000" b="1" dirty="0"/>
              <a:t>)d, (double)</a:t>
            </a:r>
            <a:r>
              <a:rPr lang="en-US" altLang="ko-KR" sz="2000" b="1" dirty="0" err="1"/>
              <a:t>i</a:t>
            </a:r>
            <a:r>
              <a:rPr lang="ko-KR" altLang="en-US" sz="2000" b="1" dirty="0"/>
              <a:t> 처럼 사용하며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변수의 자료형이 바뀌는 것이 아닌 변수의 값이 변환되는 것이다</a:t>
            </a:r>
            <a:r>
              <a:rPr lang="en-US" altLang="ko-KR" sz="2000" b="1" dirty="0"/>
              <a:t>.  Ex) f = (</a:t>
            </a:r>
            <a:r>
              <a:rPr lang="en-US" altLang="ko-KR" sz="2000" b="1" dirty="0" err="1"/>
              <a:t>int</a:t>
            </a:r>
            <a:r>
              <a:rPr lang="en-US" altLang="ko-KR" sz="2000" b="1" dirty="0"/>
              <a:t>)3.14;  -&gt; f = 3;</a:t>
            </a:r>
          </a:p>
        </p:txBody>
      </p:sp>
    </p:spTree>
    <p:extLst>
      <p:ext uri="{BB962C8B-B14F-4D97-AF65-F5344CB8AC3E}">
        <p14:creationId xmlns:p14="http://schemas.microsoft.com/office/powerpoint/2010/main" val="3939177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ko-KR" altLang="en-US" b="1" dirty="0"/>
              <a:t>실습 문제</a:t>
            </a: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1228889" y="1408977"/>
            <a:ext cx="10515600" cy="4351338"/>
          </a:xfrm>
        </p:spPr>
        <p:txBody>
          <a:bodyPr/>
          <a:lstStyle/>
          <a:p>
            <a:r>
              <a:rPr lang="en-US" altLang="ko-KR" b="1" dirty="0"/>
              <a:t>3</a:t>
            </a:r>
            <a:r>
              <a:rPr lang="ko-KR" altLang="en-US" b="1" dirty="0"/>
              <a:t>개의 정수를 입력 받아서 최대값을 출력하는 프로그램을 작성하라</a:t>
            </a:r>
            <a:r>
              <a:rPr lang="en-US" altLang="ko-KR" b="1" dirty="0"/>
              <a:t>.   </a:t>
            </a:r>
            <a:r>
              <a:rPr lang="en-US" altLang="ko-KR" b="1" dirty="0">
                <a:solidFill>
                  <a:srgbClr val="FF0000"/>
                </a:solidFill>
              </a:rPr>
              <a:t>hint) ?:</a:t>
            </a:r>
            <a:r>
              <a:rPr lang="ko-KR" altLang="en-US" b="1" dirty="0">
                <a:solidFill>
                  <a:srgbClr val="FF0000"/>
                </a:solidFill>
              </a:rPr>
              <a:t>연산자를 이용한다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1A9AE36-3398-4E55-9660-2FE8115E3E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209" t="-1858" r="65208" b="77396"/>
          <a:stretch/>
        </p:blipFill>
        <p:spPr>
          <a:xfrm>
            <a:off x="685653" y="2273910"/>
            <a:ext cx="11375530" cy="415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263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5" name="직사각형 4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이등변 삼각형 6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ko-KR" altLang="en-US" b="1" dirty="0"/>
              <a:t>실습 문제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2"/>
          <a:srcRect l="5346" t="15657" r="54737" b="37996"/>
          <a:stretch/>
        </p:blipFill>
        <p:spPr>
          <a:xfrm>
            <a:off x="1576534" y="1267945"/>
            <a:ext cx="8568735" cy="538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332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ko-KR" altLang="en-US" b="1" dirty="0"/>
              <a:t>실습 문제</a:t>
            </a: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1228889" y="1408977"/>
            <a:ext cx="10515600" cy="4351338"/>
          </a:xfrm>
        </p:spPr>
        <p:txBody>
          <a:bodyPr/>
          <a:lstStyle/>
          <a:p>
            <a:r>
              <a:rPr lang="en-US" altLang="ko-KR" b="1" dirty="0"/>
              <a:t>100</a:t>
            </a:r>
            <a:r>
              <a:rPr lang="ko-KR" altLang="en-US" b="1" dirty="0"/>
              <a:t>보다 작은 정수를 입력 받아서 이를 십의 자리</a:t>
            </a:r>
            <a:r>
              <a:rPr lang="en-US" altLang="ko-KR" b="1" dirty="0"/>
              <a:t>, </a:t>
            </a:r>
            <a:r>
              <a:rPr lang="ko-KR" altLang="en-US" b="1" dirty="0"/>
              <a:t>일의 자리로 분리하여 출력하는 프로그램을 작성하라</a:t>
            </a:r>
            <a:r>
              <a:rPr lang="en-US" altLang="ko-KR" b="1" dirty="0" smtClean="0"/>
              <a:t>.</a:t>
            </a:r>
          </a:p>
          <a:p>
            <a:pPr marL="0" indent="0">
              <a:buNone/>
            </a:pPr>
            <a:r>
              <a:rPr lang="en-US" altLang="ko-KR" b="1" dirty="0"/>
              <a:t>	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입력 값은 </a:t>
            </a:r>
            <a:r>
              <a:rPr lang="en-US" altLang="ko-KR" b="1" dirty="0" smtClean="0"/>
              <a:t>100</a:t>
            </a:r>
            <a:r>
              <a:rPr lang="ko-KR" altLang="en-US" b="1" dirty="0" smtClean="0"/>
              <a:t>보다 작다고 가정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7F0994F-5CF6-4EAE-A023-66FD513744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486" b="75474"/>
          <a:stretch/>
        </p:blipFill>
        <p:spPr>
          <a:xfrm>
            <a:off x="1297014" y="2919603"/>
            <a:ext cx="9527230" cy="364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102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6" name="직사각형 5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이등변 삼각형 7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ko-KR" altLang="en-US" b="1" dirty="0"/>
              <a:t>실습 문제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4945" t="15080" r="50627" b="36178"/>
          <a:stretch/>
        </p:blipFill>
        <p:spPr>
          <a:xfrm>
            <a:off x="993786" y="1115546"/>
            <a:ext cx="9451663" cy="561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735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205204" y="-295445"/>
            <a:ext cx="10515600" cy="1325563"/>
          </a:xfrm>
        </p:spPr>
        <p:txBody>
          <a:bodyPr/>
          <a:lstStyle/>
          <a:p>
            <a:r>
              <a:rPr lang="ko-KR" altLang="en-US" b="1" dirty="0"/>
              <a:t>다음주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3A4D4B-A76B-40B2-AB6C-14F9EAC9C9A0}"/>
              </a:ext>
            </a:extLst>
          </p:cNvPr>
          <p:cNvSpPr txBox="1"/>
          <p:nvPr/>
        </p:nvSpPr>
        <p:spPr>
          <a:xfrm>
            <a:off x="3631029" y="3091287"/>
            <a:ext cx="4617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/>
              <a:t>조건문과 </a:t>
            </a:r>
            <a:r>
              <a:rPr lang="ko-KR" altLang="en-US" sz="3600" b="1" dirty="0" err="1"/>
              <a:t>반복문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785313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111950" y="3339574"/>
            <a:ext cx="531427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b="1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12025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1362</TotalTime>
  <Words>1131</Words>
  <Application>Microsoft Office PowerPoint</Application>
  <PresentationFormat>와이드스크린</PresentationFormat>
  <Paragraphs>200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0" baseType="lpstr">
      <vt:lpstr>맑은 고딕</vt:lpstr>
      <vt:lpstr>한컴 윤체 B</vt:lpstr>
      <vt:lpstr>휴먼매직체</vt:lpstr>
      <vt:lpstr>Arial</vt:lpstr>
      <vt:lpstr>Cambria Math</vt:lpstr>
      <vt:lpstr>Consolas</vt:lpstr>
      <vt:lpstr>Wingdings</vt:lpstr>
      <vt:lpstr>Office 테마</vt:lpstr>
      <vt:lpstr>C언어 스터디 2주차 </vt:lpstr>
      <vt:lpstr>복습</vt:lpstr>
      <vt:lpstr>변수와 상수</vt:lpstr>
      <vt:lpstr>상수 (기호상수)</vt:lpstr>
      <vt:lpstr>상수 (기호상수)</vt:lpstr>
      <vt:lpstr>변수의 자료형 – 정수, 실수</vt:lpstr>
      <vt:lpstr>자료형</vt:lpstr>
      <vt:lpstr>변수 선언 규칙</vt:lpstr>
      <vt:lpstr>변수 선언의 예</vt:lpstr>
      <vt:lpstr>변수 사용의 예</vt:lpstr>
      <vt:lpstr>변수 사용의 예</vt:lpstr>
      <vt:lpstr>자료형 char</vt:lpstr>
      <vt:lpstr>자료형 char</vt:lpstr>
      <vt:lpstr>중간 퀴즈</vt:lpstr>
      <vt:lpstr>중간 퀴즈</vt:lpstr>
      <vt:lpstr>실습 문제</vt:lpstr>
      <vt:lpstr>실습 문제</vt:lpstr>
      <vt:lpstr>실습 문제</vt:lpstr>
      <vt:lpstr>실습 문제</vt:lpstr>
      <vt:lpstr>산술연산자</vt:lpstr>
      <vt:lpstr>%의 용도</vt:lpstr>
      <vt:lpstr>증감 연산자</vt:lpstr>
      <vt:lpstr>증감 연산자</vt:lpstr>
      <vt:lpstr>복합 대입 연산자 &amp; 조건 연산자</vt:lpstr>
      <vt:lpstr>관계 연산자, 논리 연산자</vt:lpstr>
      <vt:lpstr>형변환</vt:lpstr>
      <vt:lpstr>실습 문제</vt:lpstr>
      <vt:lpstr>실습 문제</vt:lpstr>
      <vt:lpstr>실습 문제</vt:lpstr>
      <vt:lpstr>실습 문제</vt:lpstr>
      <vt:lpstr>다음주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sera</dc:creator>
  <cp:lastModifiedBy>이우열</cp:lastModifiedBy>
  <cp:revision>100</cp:revision>
  <dcterms:created xsi:type="dcterms:W3CDTF">2016-06-26T11:40:01Z</dcterms:created>
  <dcterms:modified xsi:type="dcterms:W3CDTF">2019-07-01T13:05:05Z</dcterms:modified>
</cp:coreProperties>
</file>