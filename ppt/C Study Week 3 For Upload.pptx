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60" r:id="rId2"/>
    <p:sldId id="322" r:id="rId3"/>
    <p:sldId id="346" r:id="rId4"/>
    <p:sldId id="257" r:id="rId5"/>
    <p:sldId id="366" r:id="rId6"/>
    <p:sldId id="334" r:id="rId7"/>
    <p:sldId id="335" r:id="rId8"/>
    <p:sldId id="337" r:id="rId9"/>
    <p:sldId id="338" r:id="rId10"/>
    <p:sldId id="336" r:id="rId11"/>
    <p:sldId id="339" r:id="rId12"/>
    <p:sldId id="340" r:id="rId13"/>
    <p:sldId id="341" r:id="rId14"/>
    <p:sldId id="370" r:id="rId15"/>
    <p:sldId id="342" r:id="rId16"/>
    <p:sldId id="343" r:id="rId17"/>
    <p:sldId id="344" r:id="rId18"/>
    <p:sldId id="315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292" r:id="rId37"/>
    <p:sldId id="293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2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2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06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41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15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38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96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97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1407049"/>
            <a:ext cx="10515600" cy="5026025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C </a:t>
            </a:r>
            <a:r>
              <a:rPr lang="ko-KR" altLang="en-US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언어 스터디 </a:t>
            </a:r>
            <a:r>
              <a:rPr lang="en-US" altLang="ko-KR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3</a:t>
            </a:r>
            <a:r>
              <a:rPr lang="ko-KR" altLang="en-US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주차 </a:t>
            </a:r>
          </a:p>
        </p:txBody>
      </p:sp>
    </p:spTree>
    <p:extLst>
      <p:ext uri="{BB962C8B-B14F-4D97-AF65-F5344CB8AC3E}">
        <p14:creationId xmlns:p14="http://schemas.microsoft.com/office/powerpoint/2010/main" val="290667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복습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315649" y="2696984"/>
            <a:ext cx="9137958" cy="1875016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변수와 상수의 차이점은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??</a:t>
            </a:r>
          </a:p>
          <a:p>
            <a:endParaRPr lang="en-US" altLang="ko-KR" sz="3200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기호상수를 사용하는 법 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2</a:t>
            </a:r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가지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??</a:t>
            </a:r>
          </a:p>
          <a:p>
            <a:endParaRPr lang="en-US" altLang="ko-KR" sz="3200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112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제어문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12138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005680" y="2052593"/>
            <a:ext cx="106412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b="1" dirty="0" err="1">
                <a:highlight>
                  <a:srgbClr val="FFFF00"/>
                </a:highlight>
                <a:latin typeface="휴먼매직체" panose="02030504000101010101" pitchFamily="18" charset="-127"/>
                <a:ea typeface="휴먼매직체" panose="02030504000101010101" pitchFamily="18" charset="-127"/>
              </a:rPr>
              <a:t>제어문</a:t>
            </a:r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문장들이 실행되는 순서에 영향을 주는 문장을 의미함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1) </a:t>
            </a:r>
            <a:r>
              <a:rPr lang="ko-KR" altLang="en-US" b="1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조건문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어떤 </a:t>
            </a:r>
            <a:r>
              <a:rPr lang="ko-KR" altLang="en-US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조건에 따라서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여러 개의 실행 경로 가운데 하나를 선택</a:t>
            </a:r>
            <a:endParaRPr lang="en-US" altLang="ko-KR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               할 때 사용한다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 </a:t>
            </a:r>
            <a:r>
              <a:rPr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i</a:t>
            </a:r>
            <a:r>
              <a:rPr lang="en-US" altLang="ko-KR" b="1" dirty="0" smtClean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f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와 </a:t>
            </a:r>
            <a:r>
              <a:rPr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switch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문장이 여기에 속한다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2) </a:t>
            </a:r>
            <a:r>
              <a:rPr lang="ko-KR" altLang="en-US" b="1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반복문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어떤 조건이 유지되는 한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,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정해진 횟수만큼 처리를 </a:t>
            </a:r>
            <a:r>
              <a:rPr lang="ko-KR" altLang="en-US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되풀이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하</a:t>
            </a:r>
            <a:endParaRPr lang="en-US" altLang="ko-KR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              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는 문장을 의미한다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 </a:t>
            </a:r>
            <a:r>
              <a:rPr lang="en-US" altLang="ko-KR" b="1" dirty="0" smtClean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for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문과 </a:t>
            </a:r>
            <a:r>
              <a:rPr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문이 여기에 속한다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9419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if 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272661" y="2636162"/>
            <a:ext cx="7106762" cy="3264990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형식</a:t>
            </a:r>
            <a:r>
              <a:rPr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)</a:t>
            </a:r>
            <a:r>
              <a:rPr lang="en-US" altLang="ko-KR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if (</a:t>
            </a:r>
            <a:r>
              <a:rPr lang="ko-KR" altLang="en-US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조건식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              </a:t>
            </a:r>
            <a:r>
              <a:rPr lang="ko-KR" altLang="en-US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문장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;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의미</a:t>
            </a:r>
            <a:r>
              <a:rPr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)</a:t>
            </a:r>
            <a:r>
              <a:rPr lang="en-US" altLang="ko-KR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만약 조건식이 </a:t>
            </a:r>
            <a:r>
              <a:rPr lang="ko-KR" altLang="en-US" sz="2400" b="1" dirty="0">
                <a:solidFill>
                  <a:srgbClr val="FF000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참</a:t>
            </a:r>
            <a:r>
              <a:rPr lang="ko-KR" altLang="en-US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이면 문장이 실행된다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.</a:t>
            </a:r>
            <a:endParaRPr lang="en-US" altLang="ko-KR" b="1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3200" b="1" dirty="0" smtClean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Ex</a:t>
            </a:r>
            <a:r>
              <a:rPr lang="en-US" altLang="ko-KR" b="1" dirty="0" smtClean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)</a:t>
            </a:r>
            <a:r>
              <a:rPr lang="en-US" altLang="ko-KR" sz="2400" b="1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  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if (number &gt; 0)</a:t>
            </a:r>
            <a:endParaRPr lang="en-US" altLang="ko-KR" sz="2400" b="1" dirty="0">
              <a:solidFill>
                <a:schemeClr val="accent6"/>
              </a:solidFill>
              <a:latin typeface="Consolas" panose="020B0609020204030204" pitchFamily="49" charset="0"/>
              <a:ea typeface="휴먼매직체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             </a:t>
            </a:r>
            <a:r>
              <a:rPr lang="en-US" altLang="ko-KR" sz="2400" b="1" dirty="0" err="1">
                <a:latin typeface="Consolas" panose="020B0609020204030204" pitchFamily="49" charset="0"/>
                <a:ea typeface="휴먼매직체" panose="02030504000101010101" pitchFamily="18" charset="-127"/>
              </a:rPr>
              <a:t>printf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(“</a:t>
            </a:r>
            <a:r>
              <a:rPr lang="ko-KR" altLang="en-US" sz="2400" b="1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양수입니다</a:t>
            </a:r>
            <a:r>
              <a:rPr lang="en-US" altLang="ko-KR" sz="2400" b="1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”);       </a:t>
            </a:r>
            <a:endParaRPr lang="en-US" altLang="ko-KR" sz="2400" b="1" dirty="0">
              <a:solidFill>
                <a:schemeClr val="accent6"/>
              </a:solidFill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441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65B83FF-3552-4F83-BD16-145E5780A734}"/>
              </a:ext>
            </a:extLst>
          </p:cNvPr>
          <p:cNvGrpSpPr/>
          <p:nvPr/>
        </p:nvGrpSpPr>
        <p:grpSpPr>
          <a:xfrm>
            <a:off x="7438839" y="2059427"/>
            <a:ext cx="4673087" cy="3003013"/>
            <a:chOff x="712414" y="3188036"/>
            <a:chExt cx="4673087" cy="3003013"/>
          </a:xfrm>
        </p:grpSpPr>
        <p:sp>
          <p:nvSpPr>
            <p:cNvPr id="2" name="다이아몬드 1">
              <a:extLst>
                <a:ext uri="{FF2B5EF4-FFF2-40B4-BE49-F238E27FC236}">
                  <a16:creationId xmlns:a16="http://schemas.microsoft.com/office/drawing/2014/main" id="{51D2EFB4-824A-49D3-8DF0-C38351E02AE1}"/>
                </a:ext>
              </a:extLst>
            </p:cNvPr>
            <p:cNvSpPr/>
            <p:nvPr/>
          </p:nvSpPr>
          <p:spPr>
            <a:xfrm>
              <a:off x="712414" y="3188036"/>
              <a:ext cx="3524285" cy="937647"/>
            </a:xfrm>
            <a:prstGeom prst="diamond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날씨가 좋은가</a:t>
              </a:r>
              <a:r>
                <a:rPr lang="en-US" altLang="ko-KR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?</a:t>
              </a:r>
              <a:endParaRPr lang="ko-KR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6EF6A19-E45F-459D-8B65-E0DBBABB91C3}"/>
                </a:ext>
              </a:extLst>
            </p:cNvPr>
            <p:cNvSpPr/>
            <p:nvPr/>
          </p:nvSpPr>
          <p:spPr>
            <a:xfrm>
              <a:off x="827861" y="4609119"/>
              <a:ext cx="3293389" cy="5579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조깅을 한다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B08177F-DC89-4722-8242-197850E34A1F}"/>
                </a:ext>
              </a:extLst>
            </p:cNvPr>
            <p:cNvSpPr/>
            <p:nvPr/>
          </p:nvSpPr>
          <p:spPr>
            <a:xfrm>
              <a:off x="827861" y="5633110"/>
              <a:ext cx="3293389" cy="5579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저녁을 먹는다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F03D9333-C261-475D-A562-881F23DC86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4556" y="5148944"/>
              <a:ext cx="1" cy="48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연결선: 꺾임 7">
              <a:extLst>
                <a:ext uri="{FF2B5EF4-FFF2-40B4-BE49-F238E27FC236}">
                  <a16:creationId xmlns:a16="http://schemas.microsoft.com/office/drawing/2014/main" id="{B3529CB7-F93B-42C6-B92A-4F9A4BE6F028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H="1">
              <a:off x="2474555" y="3656860"/>
              <a:ext cx="1762144" cy="1733802"/>
            </a:xfrm>
            <a:prstGeom prst="bentConnector3">
              <a:avLst>
                <a:gd name="adj1" fmla="val -1297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CA7820A-2F30-4929-85C8-6BF7DB898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4556" y="4120080"/>
              <a:ext cx="1" cy="48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2DFB56-2164-4B50-A892-E7177CC01C32}"/>
                </a:ext>
              </a:extLst>
            </p:cNvPr>
            <p:cNvSpPr txBox="1"/>
            <p:nvPr/>
          </p:nvSpPr>
          <p:spPr>
            <a:xfrm>
              <a:off x="2533973" y="4120080"/>
              <a:ext cx="751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yes</a:t>
              </a:r>
              <a:endParaRPr lang="ko-KR" altLang="en-US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F434A9-8886-4E18-9E7D-763D12B3C24F}"/>
                </a:ext>
              </a:extLst>
            </p:cNvPr>
            <p:cNvSpPr txBox="1"/>
            <p:nvPr/>
          </p:nvSpPr>
          <p:spPr>
            <a:xfrm>
              <a:off x="4633833" y="4120080"/>
              <a:ext cx="751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no</a:t>
              </a:r>
              <a:endParaRPr lang="ko-KR" altLang="en-US" b="1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A99BE57-33D9-424B-BF5D-73740736D04B}"/>
              </a:ext>
            </a:extLst>
          </p:cNvPr>
          <p:cNvSpPr txBox="1"/>
          <p:nvPr/>
        </p:nvSpPr>
        <p:spPr>
          <a:xfrm>
            <a:off x="6338808" y="6027113"/>
            <a:ext cx="53314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If</a:t>
            </a:r>
            <a:r>
              <a:rPr lang="ko-KR" altLang="en-US" sz="2000" b="1" dirty="0"/>
              <a:t>문이 끝나면 그 다음 문장이 실행된다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6392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복합문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블록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325753" y="1389247"/>
            <a:ext cx="10515600" cy="4351338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2400" b="1" dirty="0"/>
              <a:t>조건이 참일 경우에 </a:t>
            </a:r>
            <a:r>
              <a:rPr lang="ko-KR" altLang="en-US" sz="2400" b="1" dirty="0">
                <a:solidFill>
                  <a:srgbClr val="FF0000"/>
                </a:solidFill>
              </a:rPr>
              <a:t>여러 문장</a:t>
            </a:r>
            <a:r>
              <a:rPr lang="ko-KR" altLang="en-US" sz="2400" b="1" dirty="0"/>
              <a:t>이 실행되야 하는 경우 </a:t>
            </a:r>
            <a:r>
              <a:rPr lang="ko-KR" altLang="en-US" sz="2400" b="1" dirty="0">
                <a:solidFill>
                  <a:srgbClr val="FF0000"/>
                </a:solidFill>
              </a:rPr>
              <a:t>중괄호</a:t>
            </a:r>
            <a:r>
              <a:rPr lang="ko-KR" altLang="en-US" sz="2400" b="1" dirty="0"/>
              <a:t>로 묶어서 한꺼번에 실행시킬 수 있다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이를 </a:t>
            </a:r>
            <a:r>
              <a:rPr lang="ko-KR" altLang="en-US" sz="2400" b="1" dirty="0" err="1">
                <a:solidFill>
                  <a:srgbClr val="FF0000"/>
                </a:solidFill>
              </a:rPr>
              <a:t>복합문</a:t>
            </a:r>
            <a:r>
              <a:rPr lang="en-US" altLang="ko-KR" sz="2400" b="1" dirty="0"/>
              <a:t>(compound statement)</a:t>
            </a:r>
            <a:r>
              <a:rPr lang="ko-KR" altLang="en-US" sz="2400" b="1" dirty="0"/>
              <a:t>라고 한다</a:t>
            </a:r>
            <a:r>
              <a:rPr lang="en-US" altLang="ko-KR" sz="2400" b="1" dirty="0"/>
              <a:t>.</a:t>
            </a:r>
            <a:r>
              <a:rPr lang="ko-KR" altLang="en-US" sz="2400" b="1" dirty="0"/>
              <a:t> </a:t>
            </a:r>
            <a:endParaRPr lang="en-US" altLang="ko-KR" sz="24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698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C48DBEEE-776D-4957-A2A6-2CF0EE1516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96" t="9943" r="63112" b="57296"/>
          <a:stretch/>
        </p:blipFill>
        <p:spPr>
          <a:xfrm>
            <a:off x="1325753" y="2527419"/>
            <a:ext cx="6593881" cy="41173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61E24E7-9661-47B5-9D5D-8E19893655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008" b="77887"/>
          <a:stretch/>
        </p:blipFill>
        <p:spPr>
          <a:xfrm>
            <a:off x="5990014" y="2521819"/>
            <a:ext cx="5951430" cy="208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3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if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예제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절대값 구하기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8B32A44F-9AD9-4B57-A437-FE3E11E53C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0" t="8926" r="64384" b="54802"/>
          <a:stretch/>
        </p:blipFill>
        <p:spPr>
          <a:xfrm>
            <a:off x="351134" y="1255974"/>
            <a:ext cx="7365489" cy="52136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2D0DAEF-943B-4D12-8F83-4C83EED9EE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177" b="78522"/>
          <a:stretch/>
        </p:blipFill>
        <p:spPr>
          <a:xfrm>
            <a:off x="6130484" y="941179"/>
            <a:ext cx="5962382" cy="19800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F57F67-7545-40A7-A316-C41BDCCEFB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7282" b="82177"/>
          <a:stretch/>
        </p:blipFill>
        <p:spPr>
          <a:xfrm>
            <a:off x="6130484" y="2634414"/>
            <a:ext cx="5962382" cy="169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0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if </a:t>
            </a:r>
            <a:r>
              <a:rPr lang="en-US" altLang="ko-KR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– else </a:t>
            </a:r>
            <a:r>
              <a:rPr lang="ko-KR" altLang="en-US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579080" y="2521576"/>
            <a:ext cx="7106762" cy="41323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형식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</a:t>
            </a:r>
            <a:r>
              <a:rPr lang="en-US" altLang="ko-KR" sz="2400" b="1" dirty="0"/>
              <a:t>if (</a:t>
            </a:r>
            <a:r>
              <a:rPr lang="ko-KR" altLang="en-US" sz="2400" b="1" dirty="0"/>
              <a:t>조건식</a:t>
            </a:r>
            <a:r>
              <a:rPr lang="en-US" altLang="ko-KR" sz="2400" b="1" dirty="0"/>
              <a:t>)</a:t>
            </a:r>
          </a:p>
          <a:p>
            <a:pPr marL="0" indent="0">
              <a:buNone/>
            </a:pPr>
            <a:r>
              <a:rPr lang="en-US" altLang="ko-KR" sz="2400" b="1" dirty="0"/>
              <a:t>              </a:t>
            </a:r>
            <a:r>
              <a:rPr lang="ko-KR" altLang="en-US" sz="2400" b="1" dirty="0"/>
              <a:t>문장</a:t>
            </a:r>
            <a:r>
              <a:rPr lang="en-US" altLang="ko-KR" sz="2400" b="1" dirty="0"/>
              <a:t>1;</a:t>
            </a:r>
          </a:p>
          <a:p>
            <a:pPr marL="0" indent="0">
              <a:buNone/>
            </a:pPr>
            <a:r>
              <a:rPr lang="en-US" altLang="ko-KR" sz="2400" b="1" dirty="0"/>
              <a:t>         else</a:t>
            </a:r>
          </a:p>
          <a:p>
            <a:pPr marL="0" indent="0">
              <a:buNone/>
            </a:pPr>
            <a:r>
              <a:rPr lang="en-US" altLang="ko-KR" sz="2400" b="1" dirty="0"/>
              <a:t>              </a:t>
            </a:r>
            <a:r>
              <a:rPr lang="ko-KR" altLang="en-US" sz="2400" b="1" dirty="0"/>
              <a:t>문장</a:t>
            </a:r>
            <a:r>
              <a:rPr lang="en-US" altLang="ko-KR" sz="2400" b="1" dirty="0"/>
              <a:t>2;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의미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</a:t>
            </a:r>
            <a:r>
              <a:rPr lang="ko-KR" altLang="en-US" sz="2400" b="1" dirty="0"/>
              <a:t>만약 조건식이 </a:t>
            </a:r>
            <a:r>
              <a:rPr lang="ko-KR" altLang="en-US" sz="2400" b="1" dirty="0">
                <a:solidFill>
                  <a:srgbClr val="FF0000"/>
                </a:solidFill>
              </a:rPr>
              <a:t>참</a:t>
            </a:r>
            <a:r>
              <a:rPr lang="ko-KR" altLang="en-US" sz="2400" b="1" dirty="0"/>
              <a:t>이면 문장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이 실행된다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        </a:t>
            </a:r>
            <a:r>
              <a:rPr lang="ko-KR" altLang="en-US" sz="2400" b="1" dirty="0"/>
              <a:t>조건식이 </a:t>
            </a:r>
            <a:r>
              <a:rPr lang="ko-KR" altLang="en-US" sz="2400" b="1" dirty="0">
                <a:solidFill>
                  <a:srgbClr val="FF0000"/>
                </a:solidFill>
              </a:rPr>
              <a:t>거짓</a:t>
            </a:r>
            <a:r>
              <a:rPr lang="ko-KR" altLang="en-US" sz="2400" b="1" dirty="0"/>
              <a:t>이라면 문장</a:t>
            </a:r>
            <a:r>
              <a:rPr lang="en-US" altLang="ko-KR" sz="2400" b="1" dirty="0"/>
              <a:t>2</a:t>
            </a:r>
            <a:r>
              <a:rPr lang="ko-KR" altLang="en-US" sz="2400" b="1" dirty="0"/>
              <a:t>가 실행된다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sz="3200" b="1" dirty="0">
                <a:solidFill>
                  <a:srgbClr val="0070C0"/>
                </a:solidFill>
              </a:rPr>
              <a:t>Ex</a:t>
            </a:r>
            <a:r>
              <a:rPr lang="en-US" altLang="ko-KR" b="1" dirty="0">
                <a:solidFill>
                  <a:srgbClr val="0070C0"/>
                </a:solidFill>
              </a:rPr>
              <a:t>  )</a:t>
            </a:r>
            <a:r>
              <a:rPr lang="en-US" altLang="ko-KR" sz="2400" b="1" dirty="0"/>
              <a:t>  if (number &gt; 0)</a:t>
            </a:r>
            <a:endParaRPr lang="en-US" altLang="ko-KR" sz="24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altLang="ko-KR" sz="2400" b="1" dirty="0"/>
              <a:t>         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양수입니다＂</a:t>
            </a:r>
            <a:r>
              <a:rPr lang="en-US" altLang="ko-KR" sz="2400" b="1" dirty="0"/>
              <a:t>);  </a:t>
            </a:r>
          </a:p>
          <a:p>
            <a:pPr marL="0" indent="0">
              <a:buNone/>
            </a:pPr>
            <a:r>
              <a:rPr lang="en-US" altLang="ko-KR" sz="2400" b="1" dirty="0"/>
              <a:t>          else</a:t>
            </a:r>
          </a:p>
          <a:p>
            <a:pPr marL="0" indent="0">
              <a:buNone/>
            </a:pPr>
            <a:r>
              <a:rPr lang="en-US" altLang="ko-KR" sz="2400" b="1" dirty="0"/>
              <a:t>         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음수입니다＂</a:t>
            </a:r>
            <a:r>
              <a:rPr lang="en-US" altLang="ko-KR" sz="2400" b="1" dirty="0"/>
              <a:t>);     </a:t>
            </a:r>
            <a:endParaRPr lang="en-US" altLang="ko-KR" sz="2400" b="1" dirty="0">
              <a:solidFill>
                <a:schemeClr val="accent6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1137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10285B0-3C1F-4988-BA03-8297D264F23E}"/>
              </a:ext>
            </a:extLst>
          </p:cNvPr>
          <p:cNvGrpSpPr/>
          <p:nvPr/>
        </p:nvGrpSpPr>
        <p:grpSpPr>
          <a:xfrm>
            <a:off x="6670464" y="2659567"/>
            <a:ext cx="5312308" cy="3248861"/>
            <a:chOff x="6427658" y="1209704"/>
            <a:chExt cx="5569246" cy="3248025"/>
          </a:xfrm>
        </p:grpSpPr>
        <p:sp>
          <p:nvSpPr>
            <p:cNvPr id="2" name="다이아몬드 1">
              <a:extLst>
                <a:ext uri="{FF2B5EF4-FFF2-40B4-BE49-F238E27FC236}">
                  <a16:creationId xmlns:a16="http://schemas.microsoft.com/office/drawing/2014/main" id="{51D2EFB4-824A-49D3-8DF0-C38351E02AE1}"/>
                </a:ext>
              </a:extLst>
            </p:cNvPr>
            <p:cNvSpPr/>
            <p:nvPr/>
          </p:nvSpPr>
          <p:spPr>
            <a:xfrm>
              <a:off x="6427658" y="1209704"/>
              <a:ext cx="3524285" cy="937647"/>
            </a:xfrm>
            <a:prstGeom prst="diamond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날씨가 좋은가</a:t>
              </a:r>
              <a:r>
                <a:rPr lang="en-US" altLang="ko-KR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?</a:t>
              </a:r>
              <a:endParaRPr lang="ko-KR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6EF6A19-E45F-459D-8B65-E0DBBABB91C3}"/>
                </a:ext>
              </a:extLst>
            </p:cNvPr>
            <p:cNvSpPr/>
            <p:nvPr/>
          </p:nvSpPr>
          <p:spPr>
            <a:xfrm>
              <a:off x="6953933" y="2614034"/>
              <a:ext cx="2412319" cy="5579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조깅을 한다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8" name="연결선: 꺾임 7">
              <a:extLst>
                <a:ext uri="{FF2B5EF4-FFF2-40B4-BE49-F238E27FC236}">
                  <a16:creationId xmlns:a16="http://schemas.microsoft.com/office/drawing/2014/main" id="{B3529CB7-F93B-42C6-B92A-4F9A4BE6F028}"/>
                </a:ext>
              </a:extLst>
            </p:cNvPr>
            <p:cNvCxnSpPr>
              <a:cxnSpLocks/>
              <a:stCxn id="2" idx="3"/>
              <a:endCxn id="24" idx="0"/>
            </p:cNvCxnSpPr>
            <p:nvPr/>
          </p:nvCxnSpPr>
          <p:spPr>
            <a:xfrm>
              <a:off x="9951943" y="1678528"/>
              <a:ext cx="838802" cy="93550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CA7820A-2F30-4929-85C8-6BF7DB898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89799" y="2170832"/>
              <a:ext cx="1" cy="48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2DFB56-2164-4B50-A892-E7177CC01C32}"/>
                </a:ext>
              </a:extLst>
            </p:cNvPr>
            <p:cNvSpPr txBox="1"/>
            <p:nvPr/>
          </p:nvSpPr>
          <p:spPr>
            <a:xfrm>
              <a:off x="8259788" y="2170256"/>
              <a:ext cx="751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yes</a:t>
              </a:r>
              <a:endParaRPr lang="ko-KR" altLang="en-US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F434A9-8886-4E18-9E7D-763D12B3C24F}"/>
                </a:ext>
              </a:extLst>
            </p:cNvPr>
            <p:cNvSpPr txBox="1"/>
            <p:nvPr/>
          </p:nvSpPr>
          <p:spPr>
            <a:xfrm>
              <a:off x="10039077" y="1301284"/>
              <a:ext cx="751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no</a:t>
              </a:r>
              <a:endParaRPr lang="ko-KR" altLang="en-US" b="1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95AD758-D641-4D0B-B0BD-25CDCE9E8695}"/>
                </a:ext>
              </a:extLst>
            </p:cNvPr>
            <p:cNvSpPr/>
            <p:nvPr/>
          </p:nvSpPr>
          <p:spPr>
            <a:xfrm>
              <a:off x="9584585" y="2614033"/>
              <a:ext cx="2412319" cy="5579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커피를 마신다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BDAE65B-8759-4536-A563-CC3FC058B967}"/>
                </a:ext>
              </a:extLst>
            </p:cNvPr>
            <p:cNvSpPr/>
            <p:nvPr/>
          </p:nvSpPr>
          <p:spPr>
            <a:xfrm>
              <a:off x="8098580" y="3899790"/>
              <a:ext cx="2412319" cy="5579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저녁을 먹는다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C10BA282-85FA-41EA-B06E-F5C299ED8EC2}"/>
                </a:ext>
              </a:extLst>
            </p:cNvPr>
            <p:cNvCxnSpPr>
              <a:cxnSpLocks/>
              <a:stCxn id="3" idx="2"/>
              <a:endCxn id="37" idx="0"/>
            </p:cNvCxnSpPr>
            <p:nvPr/>
          </p:nvCxnSpPr>
          <p:spPr>
            <a:xfrm rot="16200000" flipH="1">
              <a:off x="8368508" y="2963557"/>
              <a:ext cx="727817" cy="114464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3DA3D8FE-04C8-45E1-A4FB-C2BBF1B2CC45}"/>
                </a:ext>
              </a:extLst>
            </p:cNvPr>
            <p:cNvCxnSpPr>
              <a:cxnSpLocks/>
              <a:stCxn id="24" idx="2"/>
              <a:endCxn id="37" idx="0"/>
            </p:cNvCxnSpPr>
            <p:nvPr/>
          </p:nvCxnSpPr>
          <p:spPr>
            <a:xfrm rot="5400000">
              <a:off x="9683834" y="2792879"/>
              <a:ext cx="727818" cy="148600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2475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조건문과 조건 연산자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459712" y="1475898"/>
            <a:ext cx="10210512" cy="4545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/>
              <a:t>if-else</a:t>
            </a:r>
            <a:r>
              <a:rPr lang="ko-KR" altLang="en-US" sz="2400" b="1" dirty="0"/>
              <a:t>문은 지난 주에 배운 조건 연산자</a:t>
            </a:r>
            <a:r>
              <a:rPr lang="en-US" altLang="ko-KR" sz="2400" b="1" dirty="0"/>
              <a:t>(?:)</a:t>
            </a:r>
            <a:r>
              <a:rPr lang="ko-KR" altLang="en-US" sz="2400" b="1" dirty="0"/>
              <a:t>를 이용하여 표현할 수 있다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if (score &gt;= 60)</a:t>
            </a:r>
          </a:p>
          <a:p>
            <a:pPr marL="0" indent="0">
              <a:buNone/>
            </a:pPr>
            <a:r>
              <a:rPr lang="en-US" altLang="ko-KR" sz="2400" b="1" dirty="0"/>
              <a:t>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합격입니다</a:t>
            </a:r>
            <a:r>
              <a:rPr lang="en-US" altLang="ko-KR" sz="2400" b="1" dirty="0"/>
              <a:t>.”); </a:t>
            </a:r>
          </a:p>
          <a:p>
            <a:pPr marL="0" indent="0">
              <a:buNone/>
            </a:pPr>
            <a:r>
              <a:rPr lang="en-US" altLang="ko-KR" sz="2400" b="1" dirty="0"/>
              <a:t>else</a:t>
            </a:r>
          </a:p>
          <a:p>
            <a:pPr marL="0" indent="0">
              <a:buNone/>
            </a:pPr>
            <a:r>
              <a:rPr lang="en-US" altLang="ko-KR" sz="2400" b="1" dirty="0"/>
              <a:t>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불합격입니다</a:t>
            </a:r>
            <a:r>
              <a:rPr lang="en-US" altLang="ko-KR" sz="2400" b="1" dirty="0"/>
              <a:t>.</a:t>
            </a:r>
            <a:r>
              <a:rPr lang="ko-KR" altLang="en-US" sz="2400" b="1" dirty="0"/>
              <a:t>“</a:t>
            </a:r>
            <a:r>
              <a:rPr lang="en-US" altLang="ko-KR" sz="2400" b="1" dirty="0"/>
              <a:t>);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==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(score &gt;= 60) ?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합격입니다</a:t>
            </a:r>
            <a:r>
              <a:rPr lang="en-US" altLang="ko-KR" sz="2400" b="1" dirty="0"/>
              <a:t>.) :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불합격입니다</a:t>
            </a:r>
            <a:r>
              <a:rPr lang="en-US" altLang="ko-KR" sz="2400" b="1" dirty="0"/>
              <a:t>.);</a:t>
            </a:r>
          </a:p>
          <a:p>
            <a:pPr marL="0" indent="0">
              <a:buNone/>
            </a:pPr>
            <a:endParaRPr lang="en-US" altLang="ko-KR" sz="24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F6EE4E80-84A8-493B-9677-806F2E582005}"/>
              </a:ext>
            </a:extLst>
          </p:cNvPr>
          <p:cNvSpPr/>
          <p:nvPr/>
        </p:nvSpPr>
        <p:spPr>
          <a:xfrm flipH="1">
            <a:off x="5437335" y="2322812"/>
            <a:ext cx="972000" cy="1875295"/>
          </a:xfrm>
          <a:prstGeom prst="leftBrace">
            <a:avLst>
              <a:gd name="adj1" fmla="val 179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왼쪽 중괄호 38">
            <a:extLst>
              <a:ext uri="{FF2B5EF4-FFF2-40B4-BE49-F238E27FC236}">
                <a16:creationId xmlns:a16="http://schemas.microsoft.com/office/drawing/2014/main" id="{D47866DB-859E-47FE-ABBE-E03BC753AA00}"/>
              </a:ext>
            </a:extLst>
          </p:cNvPr>
          <p:cNvSpPr/>
          <p:nvPr/>
        </p:nvSpPr>
        <p:spPr>
          <a:xfrm flipH="1">
            <a:off x="10212117" y="5306237"/>
            <a:ext cx="483018" cy="916333"/>
          </a:xfrm>
          <a:prstGeom prst="leftBrace">
            <a:avLst>
              <a:gd name="adj1" fmla="val 2758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BB73B-54EA-4EC3-8A23-3868D2F3DEBA}"/>
              </a:ext>
            </a:extLst>
          </p:cNvPr>
          <p:cNvSpPr txBox="1"/>
          <p:nvPr/>
        </p:nvSpPr>
        <p:spPr>
          <a:xfrm>
            <a:off x="9236989" y="3166503"/>
            <a:ext cx="1154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동일</a:t>
            </a:r>
            <a:r>
              <a:rPr lang="en-US" altLang="ko-KR" sz="2400" b="1" dirty="0">
                <a:solidFill>
                  <a:srgbClr val="FF0000"/>
                </a:solidFill>
              </a:rPr>
              <a:t>!!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24057FA-83DB-46BD-807E-C8D7308AEB3C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6409335" y="3260460"/>
            <a:ext cx="2703668" cy="79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C331BE7-216C-403E-B90C-9B2E11FEE805}"/>
              </a:ext>
            </a:extLst>
          </p:cNvPr>
          <p:cNvCxnSpPr>
            <a:cxnSpLocks/>
          </p:cNvCxnSpPr>
          <p:nvPr/>
        </p:nvCxnSpPr>
        <p:spPr>
          <a:xfrm flipH="1" flipV="1">
            <a:off x="10097146" y="3628168"/>
            <a:ext cx="650579" cy="2136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6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if - else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 예제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-1874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7AAEE425-50E8-43FE-A57A-E9123EC350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44" t="9604" r="64313" b="55367"/>
          <a:stretch/>
        </p:blipFill>
        <p:spPr>
          <a:xfrm>
            <a:off x="453948" y="1426906"/>
            <a:ext cx="7231622" cy="50191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35850F-2006-4D5A-9ADB-7832ACA1C4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839" b="80691"/>
          <a:stretch/>
        </p:blipFill>
        <p:spPr>
          <a:xfrm>
            <a:off x="6534342" y="1100469"/>
            <a:ext cx="5381980" cy="16898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61FE88B-DB33-4F39-8AD8-653F5BEAB7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367" b="82436"/>
          <a:stretch/>
        </p:blipFill>
        <p:spPr>
          <a:xfrm>
            <a:off x="6473206" y="2671412"/>
            <a:ext cx="5504252" cy="159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22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복잡한 조건식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352229" y="1388563"/>
            <a:ext cx="7106762" cy="4132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/>
              <a:t> </a:t>
            </a:r>
            <a:endParaRPr lang="en-US" altLang="ko-KR" sz="2400" b="1" dirty="0">
              <a:solidFill>
                <a:schemeClr val="accent6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-243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5E14784-CF19-4454-9FC6-2BC7769B6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695653"/>
              </p:ext>
            </p:extLst>
          </p:nvPr>
        </p:nvGraphicFramePr>
        <p:xfrm>
          <a:off x="1352229" y="1213328"/>
          <a:ext cx="4000242" cy="2932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114">
                  <a:extLst>
                    <a:ext uri="{9D8B030D-6E8A-4147-A177-3AD203B41FA5}">
                      <a16:colId xmlns:a16="http://schemas.microsoft.com/office/drawing/2014/main" val="137971289"/>
                    </a:ext>
                  </a:extLst>
                </a:gridCol>
                <a:gridCol w="2493128">
                  <a:extLst>
                    <a:ext uri="{9D8B030D-6E8A-4147-A177-3AD203B41FA5}">
                      <a16:colId xmlns:a16="http://schemas.microsoft.com/office/drawing/2014/main" val="2862322700"/>
                    </a:ext>
                  </a:extLst>
                </a:gridCol>
              </a:tblGrid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655360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==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가 같은가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29300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!=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가 </a:t>
                      </a:r>
                      <a:r>
                        <a:rPr lang="ko-KR" altLang="en-US" sz="1600" b="1" dirty="0" err="1"/>
                        <a:t>다른가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441594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&gt;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보다 큰가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120231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&lt;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보다 작은가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074819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&gt;=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보다 크거나 같은가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053198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&lt;=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보다 작거나 같은가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97372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0EA21D76-2722-4F3B-96B2-8029E3952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32561"/>
              </p:ext>
            </p:extLst>
          </p:nvPr>
        </p:nvGraphicFramePr>
        <p:xfrm>
          <a:off x="5600056" y="1222509"/>
          <a:ext cx="5355892" cy="135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840">
                  <a:extLst>
                    <a:ext uri="{9D8B030D-6E8A-4147-A177-3AD203B41FA5}">
                      <a16:colId xmlns:a16="http://schemas.microsoft.com/office/drawing/2014/main" val="2786609957"/>
                    </a:ext>
                  </a:extLst>
                </a:gridCol>
                <a:gridCol w="4117052">
                  <a:extLst>
                    <a:ext uri="{9D8B030D-6E8A-4147-A177-3AD203B41FA5}">
                      <a16:colId xmlns:a16="http://schemas.microsoft.com/office/drawing/2014/main" val="1724963780"/>
                    </a:ext>
                  </a:extLst>
                </a:gridCol>
              </a:tblGrid>
              <a:tr h="3390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217304"/>
                  </a:ext>
                </a:extLst>
              </a:tr>
              <a:tr h="3390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&amp;&amp;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AND</a:t>
                      </a:r>
                      <a:r>
                        <a:rPr lang="ko-KR" altLang="en-US" sz="1600" b="1" dirty="0"/>
                        <a:t>연산</a:t>
                      </a:r>
                      <a:r>
                        <a:rPr lang="en-US" altLang="ko-KR" sz="1600" b="1" dirty="0"/>
                        <a:t>. X</a:t>
                      </a:r>
                      <a:r>
                        <a:rPr lang="ko-KR" altLang="en-US" sz="1600" b="1" dirty="0"/>
                        <a:t>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가 모두 참이여야 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682410"/>
                  </a:ext>
                </a:extLst>
              </a:tr>
              <a:tr h="3390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||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OR</a:t>
                      </a:r>
                      <a:r>
                        <a:rPr lang="ko-KR" altLang="en-US" sz="1600" b="1" dirty="0"/>
                        <a:t>연산</a:t>
                      </a:r>
                      <a:r>
                        <a:rPr lang="en-US" altLang="ko-KR" sz="1600" b="1" dirty="0"/>
                        <a:t>. X</a:t>
                      </a:r>
                      <a:r>
                        <a:rPr lang="ko-KR" altLang="en-US" sz="1600" b="1" dirty="0"/>
                        <a:t>나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 중 하나만 참이면 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553862"/>
                  </a:ext>
                </a:extLst>
              </a:tr>
              <a:tr h="3390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!x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NOT</a:t>
                      </a:r>
                      <a:r>
                        <a:rPr lang="ko-KR" altLang="en-US" sz="1600" b="1" dirty="0"/>
                        <a:t>연산</a:t>
                      </a:r>
                      <a:r>
                        <a:rPr lang="en-US" altLang="ko-KR" sz="1600" b="1" dirty="0"/>
                        <a:t>. X</a:t>
                      </a:r>
                      <a:r>
                        <a:rPr lang="ko-KR" altLang="en-US" sz="1600" b="1" dirty="0"/>
                        <a:t>가 참이면 거짓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거짓이면 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7096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E0DE838-DCD0-4353-B4EE-CC6FCA1C975C}"/>
              </a:ext>
            </a:extLst>
          </p:cNvPr>
          <p:cNvSpPr txBox="1"/>
          <p:nvPr/>
        </p:nvSpPr>
        <p:spPr>
          <a:xfrm>
            <a:off x="1352229" y="4330323"/>
            <a:ext cx="985304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성적이 </a:t>
            </a:r>
            <a:r>
              <a:rPr lang="en-US" altLang="ko-KR" b="1" dirty="0"/>
              <a:t>80</a:t>
            </a:r>
            <a:r>
              <a:rPr lang="ko-KR" altLang="en-US" b="1" dirty="0"/>
              <a:t>점 이상이고 </a:t>
            </a:r>
            <a:r>
              <a:rPr lang="en-US" altLang="ko-KR" b="1" dirty="0"/>
              <a:t>90</a:t>
            </a:r>
            <a:r>
              <a:rPr lang="ko-KR" altLang="en-US" b="1" dirty="0"/>
              <a:t>점 미만인 경우 </a:t>
            </a:r>
            <a:r>
              <a:rPr lang="en-US" altLang="ko-KR" b="1" dirty="0"/>
              <a:t>: if (score &gt;= 80 &amp;&amp; score &lt; 90)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문자가 </a:t>
            </a:r>
            <a:r>
              <a:rPr lang="en-US" altLang="ko-KR" b="1" dirty="0"/>
              <a:t>‘a’</a:t>
            </a:r>
            <a:r>
              <a:rPr lang="ko-KR" altLang="en-US" b="1" dirty="0"/>
              <a:t>이거나 </a:t>
            </a:r>
            <a:r>
              <a:rPr lang="en-US" altLang="ko-KR" b="1" dirty="0"/>
              <a:t>‘b’</a:t>
            </a:r>
            <a:r>
              <a:rPr lang="ko-KR" altLang="en-US" b="1" dirty="0"/>
              <a:t>인 경우 </a:t>
            </a:r>
            <a:r>
              <a:rPr lang="en-US" altLang="ko-KR" b="1" dirty="0"/>
              <a:t>: if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-US" altLang="ko-KR" b="1" dirty="0" err="1"/>
              <a:t>ch</a:t>
            </a:r>
            <a:r>
              <a:rPr lang="ko-KR" altLang="en-US" b="1" dirty="0"/>
              <a:t> </a:t>
            </a:r>
            <a:r>
              <a:rPr lang="en-US" altLang="ko-KR" b="1" dirty="0"/>
              <a:t>== ‘a’ || </a:t>
            </a:r>
            <a:r>
              <a:rPr lang="en-US" altLang="ko-KR" b="1" dirty="0" err="1"/>
              <a:t>ch</a:t>
            </a:r>
            <a:r>
              <a:rPr lang="en-US" altLang="ko-KR" b="1" dirty="0"/>
              <a:t> == ‘b’)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윤년인지 아닌지 판단 </a:t>
            </a:r>
            <a:r>
              <a:rPr lang="en-US" altLang="ko-KR" b="1" dirty="0"/>
              <a:t>: if (( year % 4 == 0 &amp;&amp; year % 100 != 0) || year % 400 == 0)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(</a:t>
            </a:r>
            <a:r>
              <a:rPr lang="ko-KR" altLang="en-US" b="1" dirty="0"/>
              <a:t>윤년 </a:t>
            </a:r>
            <a:r>
              <a:rPr lang="en-US" altLang="ko-KR" b="1" dirty="0"/>
              <a:t>: 1. </a:t>
            </a:r>
            <a:r>
              <a:rPr lang="ko-KR" altLang="en-US" b="1" dirty="0"/>
              <a:t>연도가 </a:t>
            </a:r>
            <a:r>
              <a:rPr lang="en-US" altLang="ko-KR" b="1" dirty="0"/>
              <a:t>4</a:t>
            </a:r>
            <a:r>
              <a:rPr lang="ko-KR" altLang="en-US" b="1" dirty="0"/>
              <a:t>로 나누어 떨어질 것</a:t>
            </a:r>
            <a:r>
              <a:rPr lang="en-US" altLang="ko-KR" b="1" dirty="0"/>
              <a:t>. </a:t>
            </a:r>
            <a:r>
              <a:rPr lang="ko-KR" altLang="en-US" b="1" dirty="0"/>
              <a:t>단</a:t>
            </a:r>
            <a:r>
              <a:rPr lang="en-US" altLang="ko-KR" b="1" dirty="0"/>
              <a:t>, 100</a:t>
            </a:r>
            <a:r>
              <a:rPr lang="ko-KR" altLang="en-US" b="1" dirty="0"/>
              <a:t>으로 나누어 떨어지는 해 제외</a:t>
            </a:r>
            <a:r>
              <a:rPr lang="en-US" altLang="ko-KR" b="1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      </a:t>
            </a:r>
            <a:r>
              <a:rPr lang="en-US" altLang="ko-KR" sz="1000" b="1" dirty="0"/>
              <a:t> </a:t>
            </a:r>
            <a:r>
              <a:rPr lang="en-US" altLang="ko-KR" b="1" dirty="0"/>
              <a:t>2. 400</a:t>
            </a:r>
            <a:r>
              <a:rPr lang="ko-KR" altLang="en-US" b="1" dirty="0"/>
              <a:t>으로 나누어 떨어지는 해는 윤년</a:t>
            </a:r>
            <a:r>
              <a:rPr lang="en-US" altLang="ko-KR" b="1" dirty="0"/>
              <a:t>.)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15347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다중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if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29909" y="1381264"/>
            <a:ext cx="10045107" cy="482700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ko-KR" altLang="en-US" sz="2400" b="1" dirty="0"/>
              <a:t> </a:t>
            </a:r>
            <a:r>
              <a:rPr lang="ko-KR" altLang="en-US" sz="2400" b="1" dirty="0">
                <a:solidFill>
                  <a:srgbClr val="FF0000"/>
                </a:solidFill>
              </a:rPr>
              <a:t>중첩 </a:t>
            </a:r>
            <a:r>
              <a:rPr lang="en-US" altLang="ko-KR" sz="2400" b="1" dirty="0">
                <a:solidFill>
                  <a:srgbClr val="FF0000"/>
                </a:solidFill>
              </a:rPr>
              <a:t>if</a:t>
            </a:r>
            <a:r>
              <a:rPr lang="ko-KR" altLang="en-US" sz="2400" b="1" dirty="0">
                <a:solidFill>
                  <a:srgbClr val="FF0000"/>
                </a:solidFill>
              </a:rPr>
              <a:t>문 </a:t>
            </a:r>
            <a:r>
              <a:rPr lang="en-US" altLang="ko-KR" sz="2400" b="1" dirty="0"/>
              <a:t>: if</a:t>
            </a:r>
            <a:r>
              <a:rPr lang="ko-KR" altLang="en-US" sz="2400" b="1" dirty="0"/>
              <a:t>문 안에 </a:t>
            </a:r>
            <a:r>
              <a:rPr lang="en-US" altLang="ko-KR" sz="2400" b="1" dirty="0"/>
              <a:t>if</a:t>
            </a:r>
            <a:r>
              <a:rPr lang="ko-KR" altLang="en-US" sz="2400" b="1" dirty="0"/>
              <a:t>문이 포함</a:t>
            </a:r>
            <a:endParaRPr lang="en-US" altLang="ko-KR" sz="2400" b="1" dirty="0"/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Ex)</a:t>
            </a:r>
            <a:r>
              <a:rPr lang="ko-KR" altLang="en-US" sz="2400" b="1" dirty="0"/>
              <a:t> </a:t>
            </a:r>
            <a:r>
              <a:rPr lang="ko-KR" altLang="en-US" sz="2000" b="1" dirty="0"/>
              <a:t>국어 점수가 </a:t>
            </a:r>
            <a:r>
              <a:rPr lang="en-US" altLang="ko-KR" sz="2000" b="1" dirty="0"/>
              <a:t>80</a:t>
            </a:r>
            <a:r>
              <a:rPr lang="ko-KR" altLang="en-US" sz="2000" b="1" dirty="0"/>
              <a:t>점 이상인 학생들 중에 영어 점수가 </a:t>
            </a:r>
            <a:r>
              <a:rPr lang="en-US" altLang="ko-KR" sz="2000" b="1" dirty="0"/>
              <a:t>90</a:t>
            </a:r>
            <a:r>
              <a:rPr lang="ko-KR" altLang="en-US" sz="2000" b="1" dirty="0"/>
              <a:t>점 이상이면 우수학생 스티커를 주고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영어가 </a:t>
            </a:r>
            <a:r>
              <a:rPr lang="en-US" altLang="ko-KR" sz="2000" b="1" dirty="0"/>
              <a:t>90</a:t>
            </a:r>
            <a:r>
              <a:rPr lang="ko-KR" altLang="en-US" sz="2000" b="1" dirty="0"/>
              <a:t>점 이하면 준우수학생 스티커를 주려고 한다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if (Korean &gt;= 80)</a:t>
            </a:r>
          </a:p>
          <a:p>
            <a:pPr marL="0" indent="0">
              <a:buNone/>
            </a:pPr>
            <a:r>
              <a:rPr lang="en-US" altLang="ko-KR" sz="2000" b="1" dirty="0"/>
              <a:t>    if (English &gt;= 90)</a:t>
            </a:r>
          </a:p>
          <a:p>
            <a:pPr marL="0" indent="0">
              <a:buNone/>
            </a:pPr>
            <a:r>
              <a:rPr lang="en-US" altLang="ko-KR" sz="2000" b="1" dirty="0"/>
              <a:t>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우수학생입니다</a:t>
            </a:r>
            <a:r>
              <a:rPr lang="en-US" altLang="ko-KR" sz="2000" b="1" dirty="0"/>
              <a:t>");</a:t>
            </a:r>
          </a:p>
          <a:p>
            <a:pPr marL="0" indent="0">
              <a:buNone/>
            </a:pPr>
            <a:r>
              <a:rPr lang="en-US" altLang="ko-KR" sz="2000" b="1" dirty="0"/>
              <a:t>    else</a:t>
            </a:r>
          </a:p>
          <a:p>
            <a:pPr marL="0" indent="0">
              <a:buNone/>
            </a:pPr>
            <a:r>
              <a:rPr lang="en-US" altLang="ko-KR" sz="2000" b="1" dirty="0"/>
              <a:t>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준우수학생입니다</a:t>
            </a:r>
            <a:r>
              <a:rPr lang="ko-KR" altLang="en-US" sz="2000" b="1" dirty="0"/>
              <a:t>＂</a:t>
            </a:r>
            <a:r>
              <a:rPr lang="en-US" altLang="ko-KR" sz="2000" b="1" dirty="0"/>
              <a:t>);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-12374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285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중첩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if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문에서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else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절 매칭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493878" y="1016798"/>
            <a:ext cx="10045107" cy="482700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Ex)</a:t>
            </a:r>
            <a:r>
              <a:rPr lang="ko-KR" altLang="en-US" sz="2400" b="1" dirty="0"/>
              <a:t> </a:t>
            </a:r>
            <a:r>
              <a:rPr lang="ko-KR" altLang="en-US" sz="2000" b="1" dirty="0"/>
              <a:t>국어 점수가 </a:t>
            </a:r>
            <a:r>
              <a:rPr lang="en-US" altLang="ko-KR" sz="2000" b="1" dirty="0"/>
              <a:t>80</a:t>
            </a:r>
            <a:r>
              <a:rPr lang="ko-KR" altLang="en-US" sz="2000" b="1" dirty="0"/>
              <a:t>점 이상인 학생들 중에 영어 점수가 </a:t>
            </a:r>
            <a:r>
              <a:rPr lang="en-US" altLang="ko-KR" sz="2000" b="1" dirty="0"/>
              <a:t>90</a:t>
            </a:r>
            <a:r>
              <a:rPr lang="ko-KR" altLang="en-US" sz="2000" b="1" dirty="0"/>
              <a:t>점 이상이면 우수학생 스티커를 주고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영어가 </a:t>
            </a:r>
            <a:r>
              <a:rPr lang="en-US" altLang="ko-KR" sz="2000" b="1" dirty="0"/>
              <a:t>90</a:t>
            </a:r>
            <a:r>
              <a:rPr lang="ko-KR" altLang="en-US" sz="2000" b="1" dirty="0"/>
              <a:t>점 이하면 준우수학생 스티커를 주려고 한다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endParaRPr lang="en-US" altLang="ko-KR" sz="200" b="1" dirty="0"/>
          </a:p>
          <a:p>
            <a:pPr marL="0" indent="0">
              <a:buNone/>
            </a:pPr>
            <a:r>
              <a:rPr lang="en-US" altLang="ko-KR" sz="2000" b="1" dirty="0"/>
              <a:t>if (Korean &gt;= 80)</a:t>
            </a:r>
          </a:p>
          <a:p>
            <a:pPr marL="0" indent="0">
              <a:buNone/>
            </a:pPr>
            <a:r>
              <a:rPr lang="en-US" altLang="ko-KR" sz="2000" b="1" dirty="0"/>
              <a:t>    if (English &gt;= 90)</a:t>
            </a:r>
          </a:p>
          <a:p>
            <a:pPr marL="0" indent="0">
              <a:buNone/>
            </a:pPr>
            <a:r>
              <a:rPr lang="en-US" altLang="ko-KR" sz="2000" b="1" dirty="0"/>
              <a:t>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우수학생입니다</a:t>
            </a:r>
            <a:r>
              <a:rPr lang="en-US" altLang="ko-KR" sz="2000" b="1" dirty="0"/>
              <a:t>");</a:t>
            </a:r>
          </a:p>
          <a:p>
            <a:pPr marL="0" indent="0">
              <a:buNone/>
            </a:pPr>
            <a:r>
              <a:rPr lang="en-US" altLang="ko-KR" sz="2000" b="1" dirty="0"/>
              <a:t>    else</a:t>
            </a:r>
          </a:p>
          <a:p>
            <a:pPr marL="0" indent="0">
              <a:buNone/>
            </a:pPr>
            <a:r>
              <a:rPr lang="en-US" altLang="ko-KR" sz="2000" b="1" dirty="0"/>
              <a:t>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준우수학생입니다</a:t>
            </a:r>
            <a:r>
              <a:rPr lang="ko-KR" altLang="en-US" sz="2000" b="1" dirty="0"/>
              <a:t>＂</a:t>
            </a:r>
            <a:r>
              <a:rPr lang="en-US" altLang="ko-KR" sz="2000" b="1" dirty="0"/>
              <a:t>);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-3013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122C43F-97E7-4E13-9037-6C5F6AB8B2CA}"/>
              </a:ext>
            </a:extLst>
          </p:cNvPr>
          <p:cNvSpPr txBox="1"/>
          <p:nvPr/>
        </p:nvSpPr>
        <p:spPr>
          <a:xfrm>
            <a:off x="7021845" y="2181654"/>
            <a:ext cx="491296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if (Korean &gt;= 80)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if (English &gt;= 90)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우수학생입니다</a:t>
            </a:r>
            <a:r>
              <a:rPr lang="en-US" altLang="ko-KR" sz="2000" b="1" dirty="0"/>
              <a:t>");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else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준우수학생입니다</a:t>
            </a:r>
            <a:r>
              <a:rPr lang="ko-KR" altLang="en-US" sz="2000" b="1" dirty="0"/>
              <a:t>＂</a:t>
            </a:r>
            <a:r>
              <a:rPr lang="en-US" altLang="ko-KR" sz="2000" b="1" dirty="0"/>
              <a:t>);</a:t>
            </a:r>
          </a:p>
        </p:txBody>
      </p:sp>
      <p:sp>
        <p:nvSpPr>
          <p:cNvPr id="18" name="화살표: 원형 17">
            <a:extLst>
              <a:ext uri="{FF2B5EF4-FFF2-40B4-BE49-F238E27FC236}">
                <a16:creationId xmlns:a16="http://schemas.microsoft.com/office/drawing/2014/main" id="{2A5D514A-CE1D-4F03-968D-D3F243685B66}"/>
              </a:ext>
            </a:extLst>
          </p:cNvPr>
          <p:cNvSpPr/>
          <p:nvPr/>
        </p:nvSpPr>
        <p:spPr>
          <a:xfrm rot="16200000" flipH="1">
            <a:off x="1293075" y="2753858"/>
            <a:ext cx="1144016" cy="1030932"/>
          </a:xfrm>
          <a:prstGeom prst="circularArrow">
            <a:avLst>
              <a:gd name="adj1" fmla="val 8562"/>
              <a:gd name="adj2" fmla="val 852993"/>
              <a:gd name="adj3" fmla="val 20770763"/>
              <a:gd name="adj4" fmla="val 10979441"/>
              <a:gd name="adj5" fmla="val 1581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화살표: 원형 36">
            <a:extLst>
              <a:ext uri="{FF2B5EF4-FFF2-40B4-BE49-F238E27FC236}">
                <a16:creationId xmlns:a16="http://schemas.microsoft.com/office/drawing/2014/main" id="{52C69FD1-9F01-49F7-8BA3-BC12E8CE6E51}"/>
              </a:ext>
            </a:extLst>
          </p:cNvPr>
          <p:cNvSpPr/>
          <p:nvPr/>
        </p:nvSpPr>
        <p:spPr>
          <a:xfrm rot="16200000" flipH="1">
            <a:off x="6158848" y="2470059"/>
            <a:ext cx="1836552" cy="1370335"/>
          </a:xfrm>
          <a:prstGeom prst="circularArrow">
            <a:avLst>
              <a:gd name="adj1" fmla="val 8562"/>
              <a:gd name="adj2" fmla="val 852993"/>
              <a:gd name="adj3" fmla="val 20770763"/>
              <a:gd name="adj4" fmla="val 10979441"/>
              <a:gd name="adj5" fmla="val 1581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7E9C6D-3222-4E40-9B87-E126A36F26DE}"/>
              </a:ext>
            </a:extLst>
          </p:cNvPr>
          <p:cNvSpPr/>
          <p:nvPr/>
        </p:nvSpPr>
        <p:spPr>
          <a:xfrm>
            <a:off x="5765458" y="2707025"/>
            <a:ext cx="60700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8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7A5890-1189-4786-B912-51F6D34EB613}"/>
              </a:ext>
            </a:extLst>
          </p:cNvPr>
          <p:cNvSpPr txBox="1"/>
          <p:nvPr/>
        </p:nvSpPr>
        <p:spPr>
          <a:xfrm>
            <a:off x="735981" y="5255026"/>
            <a:ext cx="59747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If</a:t>
            </a:r>
            <a:r>
              <a:rPr lang="ko-KR" altLang="en-US" b="1" dirty="0"/>
              <a:t>와 </a:t>
            </a:r>
            <a:r>
              <a:rPr lang="en-US" altLang="ko-KR" b="1" dirty="0"/>
              <a:t>else</a:t>
            </a:r>
            <a:r>
              <a:rPr lang="ko-KR" altLang="en-US" b="1" dirty="0"/>
              <a:t>가 어떻게 매칭이 될까</a:t>
            </a:r>
            <a:r>
              <a:rPr lang="en-US" altLang="ko-KR" b="1" dirty="0"/>
              <a:t>?</a:t>
            </a:r>
          </a:p>
          <a:p>
            <a:r>
              <a:rPr lang="en-US" altLang="ko-KR" b="1" dirty="0"/>
              <a:t> : else</a:t>
            </a:r>
            <a:r>
              <a:rPr lang="ko-KR" altLang="en-US" b="1" dirty="0"/>
              <a:t>절은 </a:t>
            </a:r>
            <a:r>
              <a:rPr lang="ko-KR" altLang="en-US" b="1" dirty="0">
                <a:solidFill>
                  <a:srgbClr val="FF0000"/>
                </a:solidFill>
              </a:rPr>
              <a:t>가장 가까운 </a:t>
            </a:r>
            <a:r>
              <a:rPr lang="en-US" altLang="ko-KR" b="1" dirty="0">
                <a:solidFill>
                  <a:srgbClr val="FF0000"/>
                </a:solidFill>
              </a:rPr>
              <a:t>if</a:t>
            </a:r>
            <a:r>
              <a:rPr lang="ko-KR" altLang="en-US" b="1" dirty="0">
                <a:solidFill>
                  <a:srgbClr val="FF0000"/>
                </a:solidFill>
              </a:rPr>
              <a:t>절</a:t>
            </a:r>
            <a:r>
              <a:rPr lang="ko-KR" altLang="en-US" b="1" dirty="0"/>
              <a:t>과 매칭이 된다</a:t>
            </a:r>
            <a:r>
              <a:rPr lang="en-US" altLang="ko-KR" b="1" dirty="0"/>
              <a:t>.</a:t>
            </a:r>
          </a:p>
          <a:p>
            <a:r>
              <a:rPr lang="en-US" altLang="ko-KR" b="1" dirty="0"/>
              <a:t>   </a:t>
            </a:r>
            <a:r>
              <a:rPr lang="ko-KR" altLang="en-US" b="1" dirty="0"/>
              <a:t>밑의 </a:t>
            </a:r>
            <a:r>
              <a:rPr lang="en-US" altLang="ko-KR" b="1" dirty="0"/>
              <a:t>else</a:t>
            </a:r>
            <a:r>
              <a:rPr lang="ko-KR" altLang="en-US" b="1" dirty="0"/>
              <a:t>절과 매칭시키고 싶다면 </a:t>
            </a:r>
            <a:r>
              <a:rPr lang="ko-KR" altLang="en-US" b="1" dirty="0">
                <a:solidFill>
                  <a:srgbClr val="FF0000"/>
                </a:solidFill>
              </a:rPr>
              <a:t>중괄호</a:t>
            </a:r>
            <a:r>
              <a:rPr lang="ko-KR" altLang="en-US" b="1" dirty="0"/>
              <a:t>를 이용한다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0CF6C3-DFA7-4DD7-88FB-EA72B45B0CCA}"/>
              </a:ext>
            </a:extLst>
          </p:cNvPr>
          <p:cNvSpPr txBox="1"/>
          <p:nvPr/>
        </p:nvSpPr>
        <p:spPr>
          <a:xfrm>
            <a:off x="6961547" y="4713090"/>
            <a:ext cx="49129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if (Korean &gt;= 80)</a:t>
            </a:r>
          </a:p>
          <a:p>
            <a:r>
              <a:rPr lang="en-US" altLang="ko-KR" b="1" dirty="0"/>
              <a:t> { </a:t>
            </a:r>
          </a:p>
          <a:p>
            <a:r>
              <a:rPr lang="en-US" altLang="ko-KR" b="1" dirty="0"/>
              <a:t>     if (English &gt;= 90)</a:t>
            </a:r>
          </a:p>
          <a:p>
            <a:r>
              <a:rPr lang="en-US" altLang="ko-KR" b="1" dirty="0"/>
              <a:t>         </a:t>
            </a:r>
            <a:r>
              <a:rPr lang="en-US" altLang="ko-KR" b="1" dirty="0" err="1"/>
              <a:t>printf</a:t>
            </a:r>
            <a:r>
              <a:rPr lang="en-US" altLang="ko-KR" b="1" dirty="0"/>
              <a:t>(“</a:t>
            </a:r>
            <a:r>
              <a:rPr lang="ko-KR" altLang="en-US" b="1" dirty="0" err="1"/>
              <a:t>우수학생입니다</a:t>
            </a:r>
            <a:r>
              <a:rPr lang="en-US" altLang="ko-KR" b="1" dirty="0"/>
              <a:t>");</a:t>
            </a:r>
          </a:p>
          <a:p>
            <a:r>
              <a:rPr lang="en-US" altLang="ko-KR" b="1" dirty="0"/>
              <a:t> }</a:t>
            </a:r>
          </a:p>
          <a:p>
            <a:r>
              <a:rPr lang="en-US" altLang="ko-KR" b="1" dirty="0"/>
              <a:t>else</a:t>
            </a:r>
          </a:p>
          <a:p>
            <a:r>
              <a:rPr lang="en-US" altLang="ko-KR" b="1" dirty="0"/>
              <a:t>    </a:t>
            </a:r>
            <a:r>
              <a:rPr lang="en-US" altLang="ko-KR" b="1" dirty="0" err="1"/>
              <a:t>printf</a:t>
            </a:r>
            <a:r>
              <a:rPr lang="en-US" altLang="ko-KR" b="1" dirty="0"/>
              <a:t>(“</a:t>
            </a:r>
            <a:r>
              <a:rPr lang="ko-KR" altLang="en-US" b="1" dirty="0"/>
              <a:t>해당되지 않습니다</a:t>
            </a:r>
            <a:r>
              <a:rPr lang="en-US" altLang="ko-KR" b="1" dirty="0"/>
              <a:t>.</a:t>
            </a:r>
            <a:r>
              <a:rPr lang="ko-KR" altLang="en-US" b="1" dirty="0"/>
              <a:t>＂</a:t>
            </a:r>
            <a:r>
              <a:rPr lang="en-US" altLang="ko-KR" b="1" dirty="0"/>
              <a:t>);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E6D563-3467-479A-B7CE-B9225E7160B0}"/>
              </a:ext>
            </a:extLst>
          </p:cNvPr>
          <p:cNvSpPr/>
          <p:nvPr/>
        </p:nvSpPr>
        <p:spPr>
          <a:xfrm>
            <a:off x="1392414" y="2161686"/>
            <a:ext cx="4295553" cy="24206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37F3AE9-28F1-48AA-B812-0C3A545B82A0}"/>
              </a:ext>
            </a:extLst>
          </p:cNvPr>
          <p:cNvSpPr/>
          <p:nvPr/>
        </p:nvSpPr>
        <p:spPr>
          <a:xfrm>
            <a:off x="6473539" y="2161686"/>
            <a:ext cx="4430822" cy="24206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B0A863B-ABED-4D8C-AB81-C7EBE967F8D4}"/>
              </a:ext>
            </a:extLst>
          </p:cNvPr>
          <p:cNvSpPr/>
          <p:nvPr/>
        </p:nvSpPr>
        <p:spPr>
          <a:xfrm>
            <a:off x="6961547" y="4713090"/>
            <a:ext cx="3825084" cy="20313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238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연속적인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if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29909" y="1381264"/>
            <a:ext cx="10045107" cy="48270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400" b="1" dirty="0"/>
              <a:t>2.  </a:t>
            </a:r>
            <a:r>
              <a:rPr lang="ko-KR" altLang="en-US" sz="2400" b="1" dirty="0">
                <a:solidFill>
                  <a:srgbClr val="FF0000"/>
                </a:solidFill>
              </a:rPr>
              <a:t>연속적인 </a:t>
            </a:r>
            <a:r>
              <a:rPr lang="en-US" altLang="ko-KR" sz="2400" b="1" dirty="0">
                <a:solidFill>
                  <a:srgbClr val="FF0000"/>
                </a:solidFill>
              </a:rPr>
              <a:t>if</a:t>
            </a:r>
            <a:r>
              <a:rPr lang="ko-KR" altLang="en-US" sz="2400" b="1" dirty="0">
                <a:solidFill>
                  <a:srgbClr val="FF0000"/>
                </a:solidFill>
              </a:rPr>
              <a:t>문 </a:t>
            </a:r>
            <a:r>
              <a:rPr lang="en-US" altLang="ko-KR" sz="2400" b="1" dirty="0"/>
              <a:t>: if </a:t>
            </a:r>
            <a:r>
              <a:rPr lang="ko-KR" altLang="en-US" sz="2400" b="1" dirty="0"/>
              <a:t>다음에 </a:t>
            </a:r>
            <a:r>
              <a:rPr lang="en-US" altLang="ko-KR" sz="2400" b="1" dirty="0"/>
              <a:t>else if </a:t>
            </a:r>
            <a:r>
              <a:rPr lang="ko-KR" altLang="en-US" sz="2400" b="1" dirty="0"/>
              <a:t>를 이어서 쓰는 것</a:t>
            </a:r>
            <a:r>
              <a:rPr lang="en-US" altLang="ko-KR" sz="2400" b="1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Ex) </a:t>
            </a:r>
            <a:r>
              <a:rPr lang="ko-KR" altLang="en-US" sz="2000" b="1" dirty="0"/>
              <a:t>시험 점수가 </a:t>
            </a:r>
            <a:r>
              <a:rPr lang="en-US" altLang="ko-KR" sz="2000" b="1" dirty="0"/>
              <a:t>90</a:t>
            </a:r>
            <a:r>
              <a:rPr lang="ko-KR" altLang="en-US" sz="2000" b="1" dirty="0"/>
              <a:t>점 이상이면 </a:t>
            </a:r>
            <a:r>
              <a:rPr lang="en-US" altLang="ko-KR" sz="2000" b="1" dirty="0"/>
              <a:t>A, 90</a:t>
            </a:r>
            <a:r>
              <a:rPr lang="ko-KR" altLang="en-US" sz="2000" b="1" dirty="0"/>
              <a:t>점 미만 </a:t>
            </a:r>
            <a:r>
              <a:rPr lang="en-US" altLang="ko-KR" sz="2000" b="1" dirty="0"/>
              <a:t>80</a:t>
            </a:r>
            <a:r>
              <a:rPr lang="ko-KR" altLang="en-US" sz="2000" b="1" dirty="0"/>
              <a:t>점 이상이면 </a:t>
            </a:r>
            <a:r>
              <a:rPr lang="en-US" altLang="ko-KR" sz="2000" b="1" dirty="0"/>
              <a:t>B, 80</a:t>
            </a:r>
            <a:r>
              <a:rPr lang="ko-KR" altLang="en-US" sz="2000" b="1" dirty="0"/>
              <a:t>점 미만 </a:t>
            </a:r>
            <a:r>
              <a:rPr lang="en-US" altLang="ko-KR" sz="2000" b="1" dirty="0"/>
              <a:t>70</a:t>
            </a:r>
            <a:r>
              <a:rPr lang="ko-KR" altLang="en-US" sz="2000" b="1" dirty="0"/>
              <a:t>점 이상이면 </a:t>
            </a:r>
            <a:r>
              <a:rPr lang="en-US" altLang="ko-KR" sz="2000" b="1" dirty="0"/>
              <a:t>C </a:t>
            </a:r>
            <a:r>
              <a:rPr lang="ko-KR" altLang="en-US" sz="2000" b="1" dirty="0"/>
              <a:t>그 외에는 </a:t>
            </a:r>
            <a:r>
              <a:rPr lang="en-US" altLang="ko-KR" sz="2000" b="1" dirty="0"/>
              <a:t>F</a:t>
            </a:r>
            <a:r>
              <a:rPr lang="ko-KR" altLang="en-US" sz="2000" b="1" dirty="0"/>
              <a:t>학점을 준다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r>
              <a:rPr lang="en-US" altLang="ko-KR" sz="2000" b="1" dirty="0"/>
              <a:t>if (score &gt;= 90)</a:t>
            </a:r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(“A</a:t>
            </a:r>
            <a:r>
              <a:rPr lang="ko-KR" altLang="en-US" sz="2000" b="1" dirty="0"/>
              <a:t>학점입니다</a:t>
            </a:r>
            <a:r>
              <a:rPr lang="en-US" altLang="ko-KR" sz="2000" b="1" dirty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r>
              <a:rPr lang="en-US" altLang="ko-KR" sz="2000" b="1" dirty="0"/>
              <a:t>else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if (score &gt;= 80)</a:t>
            </a:r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(“B</a:t>
            </a:r>
            <a:r>
              <a:rPr lang="ko-KR" altLang="en-US" sz="2000" b="1" dirty="0"/>
              <a:t>학점입니다</a:t>
            </a:r>
            <a:r>
              <a:rPr lang="en-US" altLang="ko-KR" sz="2000" b="1" dirty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r>
              <a:rPr lang="en-US" altLang="ko-KR" sz="2000" b="1" dirty="0"/>
              <a:t>else if (score &gt;= 70)</a:t>
            </a:r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(“C</a:t>
            </a:r>
            <a:r>
              <a:rPr lang="ko-KR" altLang="en-US" sz="2000" b="1" dirty="0"/>
              <a:t>학점입니다</a:t>
            </a:r>
            <a:r>
              <a:rPr lang="en-US" altLang="ko-KR" sz="2000" b="1" dirty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r>
              <a:rPr lang="en-US" altLang="ko-KR" sz="2000" b="1" dirty="0"/>
              <a:t>else </a:t>
            </a:r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(“F</a:t>
            </a:r>
            <a:r>
              <a:rPr lang="ko-KR" altLang="en-US" sz="2000" b="1" dirty="0"/>
              <a:t>학점입니다</a:t>
            </a:r>
            <a:r>
              <a:rPr lang="en-US" altLang="ko-KR" sz="2000" b="1" dirty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endParaRPr lang="en-US" altLang="ko-KR" sz="20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069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연속적인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if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219922" y="1236662"/>
            <a:ext cx="4942291" cy="482700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altLang="ko-KR" sz="24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 smtClean="0"/>
              <a:t>Ex</a:t>
            </a:r>
            <a:r>
              <a:rPr lang="en-US" altLang="ko-KR" sz="2400" b="1" dirty="0"/>
              <a:t>) </a:t>
            </a:r>
            <a:r>
              <a:rPr lang="ko-KR" altLang="en-US" sz="2400" b="1" dirty="0" smtClean="0"/>
              <a:t>이차방정식의 근 판별</a:t>
            </a:r>
            <a:endParaRPr lang="en-US" altLang="ko-KR" sz="24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 smtClean="0"/>
              <a:t>if (deter == 0)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 smtClean="0"/>
              <a:t>(“</a:t>
            </a:r>
            <a:r>
              <a:rPr lang="ko-KR" altLang="en-US" sz="2000" b="1" dirty="0" smtClean="0"/>
              <a:t>중근입니다</a:t>
            </a:r>
            <a:r>
              <a:rPr lang="en-US" altLang="ko-KR" sz="2000" b="1" dirty="0" smtClean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r>
              <a:rPr lang="en-US" altLang="ko-KR" sz="2000" b="1" dirty="0"/>
              <a:t>else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if </a:t>
            </a:r>
            <a:r>
              <a:rPr lang="en-US" altLang="ko-KR" sz="2000" b="1" dirty="0" smtClean="0"/>
              <a:t>(deter &gt; 0)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 smtClean="0"/>
              <a:t>(“</a:t>
            </a:r>
            <a:r>
              <a:rPr lang="ko-KR" altLang="en-US" sz="2000" b="1" dirty="0" smtClean="0"/>
              <a:t>근이 </a:t>
            </a:r>
            <a:r>
              <a:rPr lang="en-US" altLang="ko-KR" sz="2000" b="1" dirty="0" smtClean="0"/>
              <a:t>2</a:t>
            </a:r>
            <a:r>
              <a:rPr lang="ko-KR" altLang="en-US" sz="2000" b="1" dirty="0" smtClean="0"/>
              <a:t>개입니다</a:t>
            </a:r>
            <a:r>
              <a:rPr lang="en-US" altLang="ko-KR" sz="2000" b="1" dirty="0" smtClean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 smtClean="0"/>
              <a:t>);</a:t>
            </a:r>
          </a:p>
          <a:p>
            <a:pPr marL="0" indent="0">
              <a:buNone/>
            </a:pPr>
            <a:r>
              <a:rPr lang="en-US" altLang="ko-KR" sz="2000" b="1" dirty="0" smtClean="0"/>
              <a:t> else 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 smtClean="0"/>
              <a:t>(“</a:t>
            </a:r>
            <a:r>
              <a:rPr lang="ko-KR" altLang="en-US" sz="2000" b="1" dirty="0" smtClean="0"/>
              <a:t>허근입니다</a:t>
            </a:r>
            <a:r>
              <a:rPr lang="en-US" altLang="ko-KR" sz="2000" b="1" dirty="0" smtClean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endParaRPr lang="en-US" altLang="ko-KR" sz="20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5"/>
          <p:cNvSpPr txBox="1">
            <a:spLocks/>
          </p:cNvSpPr>
          <p:nvPr/>
        </p:nvSpPr>
        <p:spPr>
          <a:xfrm>
            <a:off x="351134" y="5327702"/>
            <a:ext cx="13373172" cy="1424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 b="1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 smtClean="0"/>
              <a:t>(deter==0) ? </a:t>
            </a:r>
            <a:r>
              <a:rPr lang="en-US" altLang="ko-KR" sz="1800" b="1" dirty="0" err="1" smtClean="0"/>
              <a:t>printf</a:t>
            </a:r>
            <a:r>
              <a:rPr lang="en-US" altLang="ko-KR" sz="1800" b="1" dirty="0" smtClean="0"/>
              <a:t>(“</a:t>
            </a:r>
            <a:r>
              <a:rPr lang="ko-KR" altLang="en-US" sz="1800" b="1" dirty="0" smtClean="0"/>
              <a:t>중근입니다</a:t>
            </a:r>
            <a:r>
              <a:rPr lang="en-US" altLang="ko-KR" sz="1800" b="1" dirty="0" smtClean="0"/>
              <a:t>.</a:t>
            </a:r>
            <a:r>
              <a:rPr lang="ko-KR" altLang="en-US" sz="1800" b="1" dirty="0" smtClean="0"/>
              <a:t>“</a:t>
            </a:r>
            <a:r>
              <a:rPr lang="en-US" altLang="ko-KR" sz="1800" b="1" dirty="0" smtClean="0"/>
              <a:t>) : ((deter &gt; 0) ?  </a:t>
            </a:r>
            <a:r>
              <a:rPr lang="en-US" altLang="ko-KR" sz="1800" b="1" dirty="0" err="1" smtClean="0"/>
              <a:t>printf</a:t>
            </a:r>
            <a:r>
              <a:rPr lang="en-US" altLang="ko-KR" sz="1800" b="1" dirty="0" smtClean="0"/>
              <a:t>(“</a:t>
            </a:r>
            <a:r>
              <a:rPr lang="ko-KR" altLang="en-US" sz="1800" b="1" dirty="0" smtClean="0"/>
              <a:t>근이 </a:t>
            </a:r>
            <a:r>
              <a:rPr lang="en-US" altLang="ko-KR" sz="1800" b="1" dirty="0" smtClean="0"/>
              <a:t>2</a:t>
            </a:r>
            <a:r>
              <a:rPr lang="ko-KR" altLang="en-US" sz="1800" b="1" dirty="0" smtClean="0"/>
              <a:t>개입니다</a:t>
            </a:r>
            <a:r>
              <a:rPr lang="en-US" altLang="ko-KR" sz="1800" b="1" dirty="0" smtClean="0"/>
              <a:t>.</a:t>
            </a:r>
            <a:r>
              <a:rPr lang="ko-KR" altLang="en-US" sz="1800" b="1" dirty="0" smtClean="0"/>
              <a:t>“</a:t>
            </a:r>
            <a:r>
              <a:rPr lang="en-US" altLang="ko-KR" sz="1800" b="1" dirty="0" smtClean="0"/>
              <a:t>) : </a:t>
            </a:r>
            <a:r>
              <a:rPr lang="en-US" altLang="ko-KR" sz="1800" b="1" dirty="0" err="1" smtClean="0"/>
              <a:t>printf</a:t>
            </a:r>
            <a:r>
              <a:rPr lang="en-US" altLang="ko-KR" sz="1800" b="1" dirty="0" smtClean="0"/>
              <a:t>(“</a:t>
            </a:r>
            <a:r>
              <a:rPr lang="ko-KR" altLang="en-US" sz="1800" b="1" dirty="0" smtClean="0"/>
              <a:t>허근입니다</a:t>
            </a:r>
            <a:r>
              <a:rPr lang="en-US" altLang="ko-KR" sz="1800" b="1" dirty="0" smtClean="0"/>
              <a:t>.</a:t>
            </a:r>
            <a:r>
              <a:rPr lang="ko-KR" altLang="en-US" sz="1800" b="1" dirty="0" smtClean="0"/>
              <a:t>“</a:t>
            </a:r>
            <a:r>
              <a:rPr lang="en-US" altLang="ko-KR" sz="1800" b="1" dirty="0" smtClean="0"/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386457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switch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29909" y="1373515"/>
            <a:ext cx="10045107" cy="48270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2000" b="1" dirty="0"/>
              <a:t>: If</a:t>
            </a:r>
            <a:r>
              <a:rPr lang="ko-KR" altLang="en-US" sz="2000" b="1" dirty="0"/>
              <a:t>문과 달리 실행경로가 여러 개인 </a:t>
            </a:r>
            <a:r>
              <a:rPr lang="ko-KR" altLang="en-US" sz="2000" b="1" dirty="0" err="1"/>
              <a:t>조건문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endParaRPr lang="en-US" altLang="ko-KR" sz="2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ko-KR" altLang="en-US" sz="2200" b="1" dirty="0">
                <a:solidFill>
                  <a:srgbClr val="0070C0"/>
                </a:solidFill>
              </a:rPr>
              <a:t>형식</a:t>
            </a:r>
            <a:r>
              <a:rPr lang="en-US" altLang="ko-KR" sz="2200" b="1" dirty="0">
                <a:solidFill>
                  <a:srgbClr val="0070C0"/>
                </a:solidFill>
              </a:rPr>
              <a:t>)</a:t>
            </a:r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  <a:r>
              <a:rPr lang="en-US" altLang="ko-KR" sz="1800" b="1" dirty="0"/>
              <a:t>switch(</a:t>
            </a:r>
            <a:r>
              <a:rPr lang="ko-KR" altLang="en-US" sz="1800" b="1" dirty="0" err="1"/>
              <a:t>제어식</a:t>
            </a:r>
            <a:r>
              <a:rPr lang="en-US" altLang="ko-KR" sz="1800" b="1" dirty="0"/>
              <a:t>)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</a:t>
            </a:r>
            <a:r>
              <a:rPr lang="en-US" altLang="ko-KR" sz="1800" b="1" dirty="0"/>
              <a:t>{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c1: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ko-KR" altLang="en-US" sz="1800" b="1" dirty="0"/>
              <a:t>문장</a:t>
            </a:r>
            <a:r>
              <a:rPr lang="en-US" altLang="ko-KR" sz="1800" b="1" dirty="0"/>
              <a:t>1;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/>
              <a:t>          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c2: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ko-KR" altLang="en-US" sz="1800" b="1" dirty="0"/>
              <a:t>문장</a:t>
            </a:r>
            <a:r>
              <a:rPr lang="en-US" altLang="ko-KR" sz="1800" b="1" dirty="0"/>
              <a:t>2;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</a:t>
            </a:r>
            <a:r>
              <a:rPr lang="en-US" altLang="ko-KR" sz="1800" b="1" dirty="0"/>
              <a:t>…</a:t>
            </a:r>
          </a:p>
          <a:p>
            <a:pPr marL="0" indent="0">
              <a:buNone/>
            </a:pPr>
            <a:r>
              <a:rPr lang="en-US" altLang="ko-KR" sz="1800" b="1" dirty="0"/>
              <a:t>             default: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ko-KR" altLang="en-US" sz="1800" b="1" dirty="0"/>
              <a:t>문장</a:t>
            </a:r>
            <a:r>
              <a:rPr lang="en-US" altLang="ko-KR" sz="1800" b="1" dirty="0"/>
              <a:t>d;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}</a:t>
            </a: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0070C0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6082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A5541A3-A624-4683-A9C0-875D03B789D3}"/>
              </a:ext>
            </a:extLst>
          </p:cNvPr>
          <p:cNvSpPr txBox="1"/>
          <p:nvPr/>
        </p:nvSpPr>
        <p:spPr>
          <a:xfrm>
            <a:off x="4554415" y="1932000"/>
            <a:ext cx="7034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의미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ko-KR" altLang="en-US" b="1" dirty="0"/>
              <a:t>제어식을 계산하여 </a:t>
            </a:r>
            <a:r>
              <a:rPr lang="en-US" altLang="ko-KR" b="1" dirty="0"/>
              <a:t>c1,c2,…</a:t>
            </a:r>
            <a:r>
              <a:rPr lang="ko-KR" altLang="en-US" b="1" dirty="0"/>
              <a:t>중 제어식과 </a:t>
            </a:r>
            <a:r>
              <a:rPr lang="ko-KR" altLang="en-US" b="1" dirty="0">
                <a:solidFill>
                  <a:srgbClr val="FF0000"/>
                </a:solidFill>
              </a:rPr>
              <a:t>일치하는 값</a:t>
            </a:r>
            <a:r>
              <a:rPr lang="ko-KR" altLang="en-US" b="1" dirty="0"/>
              <a:t>의 문장을 차례로 실행하고 </a:t>
            </a:r>
            <a:r>
              <a:rPr lang="en-US" altLang="ko-KR" b="1" dirty="0">
                <a:solidFill>
                  <a:srgbClr val="FF0000"/>
                </a:solidFill>
              </a:rPr>
              <a:t>break</a:t>
            </a:r>
            <a:r>
              <a:rPr lang="ko-KR" altLang="en-US" b="1" dirty="0"/>
              <a:t>를 만나면 종료된다</a:t>
            </a:r>
            <a:r>
              <a:rPr lang="en-US" altLang="ko-KR" b="1" dirty="0"/>
              <a:t>. </a:t>
            </a:r>
            <a:r>
              <a:rPr lang="ko-KR" altLang="en-US" b="1" dirty="0"/>
              <a:t>만약 일치하는 값을 찾지 못한다면 </a:t>
            </a:r>
            <a:r>
              <a:rPr lang="en-US" altLang="ko-KR" b="1" dirty="0"/>
              <a:t>default </a:t>
            </a:r>
            <a:r>
              <a:rPr lang="ko-KR" altLang="en-US" b="1" dirty="0"/>
              <a:t>값의 문장이 실행된다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62D8A0-EFD9-41FE-ACA5-B2036E26E5FF}"/>
              </a:ext>
            </a:extLst>
          </p:cNvPr>
          <p:cNvSpPr txBox="1"/>
          <p:nvPr/>
        </p:nvSpPr>
        <p:spPr>
          <a:xfrm>
            <a:off x="4554415" y="3245634"/>
            <a:ext cx="343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 </a:t>
            </a:r>
            <a:r>
              <a:rPr lang="en-US" altLang="ko-KR" b="1" dirty="0"/>
              <a:t>c1</a:t>
            </a:r>
            <a:r>
              <a:rPr lang="ko-KR" altLang="en-US" b="1" dirty="0"/>
              <a:t>이라면 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D703AA-F946-4F50-A8F3-ED8D18E7D137}"/>
              </a:ext>
            </a:extLst>
          </p:cNvPr>
          <p:cNvSpPr/>
          <p:nvPr/>
        </p:nvSpPr>
        <p:spPr>
          <a:xfrm>
            <a:off x="2141653" y="2643766"/>
            <a:ext cx="1356101" cy="9376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032DF6-0196-480C-BA11-433D4481FE46}"/>
              </a:ext>
            </a:extLst>
          </p:cNvPr>
          <p:cNvSpPr/>
          <p:nvPr/>
        </p:nvSpPr>
        <p:spPr>
          <a:xfrm>
            <a:off x="2141653" y="3631175"/>
            <a:ext cx="1356101" cy="9376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49E94C2-F748-44FC-86CD-50E264DF0B80}"/>
              </a:ext>
            </a:extLst>
          </p:cNvPr>
          <p:cNvSpPr/>
          <p:nvPr/>
        </p:nvSpPr>
        <p:spPr>
          <a:xfrm>
            <a:off x="2141653" y="4809330"/>
            <a:ext cx="1356101" cy="9376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7B7F5B-707D-4EE4-82FF-0572F1034333}"/>
              </a:ext>
            </a:extLst>
          </p:cNvPr>
          <p:cNvSpPr txBox="1"/>
          <p:nvPr/>
        </p:nvSpPr>
        <p:spPr>
          <a:xfrm>
            <a:off x="4554416" y="4022937"/>
            <a:ext cx="3241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 </a:t>
            </a:r>
            <a:r>
              <a:rPr lang="en-US" altLang="ko-KR" b="1" dirty="0"/>
              <a:t>c2</a:t>
            </a:r>
            <a:r>
              <a:rPr lang="ko-KR" altLang="en-US" b="1" dirty="0"/>
              <a:t>이라면 실행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0FE4C8-1836-46AD-B712-B4F490E43DB9}"/>
              </a:ext>
            </a:extLst>
          </p:cNvPr>
          <p:cNvSpPr txBox="1"/>
          <p:nvPr/>
        </p:nvSpPr>
        <p:spPr>
          <a:xfrm>
            <a:off x="4554415" y="4983703"/>
            <a:ext cx="343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일치하는 값이 없으면 실행</a:t>
            </a: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E691E502-49D5-46AA-A8AA-CF2CAB86477E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>
            <a:off x="3497754" y="3112590"/>
            <a:ext cx="1056661" cy="3177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BC8E20FD-0E62-4E1B-B29F-D3D59EE0EB02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497754" y="4076212"/>
            <a:ext cx="1056662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C3EDC87D-F953-4B22-9F9E-2512A4B4A20C}"/>
              </a:ext>
            </a:extLst>
          </p:cNvPr>
          <p:cNvCxnSpPr>
            <a:cxnSpLocks/>
          </p:cNvCxnSpPr>
          <p:nvPr/>
        </p:nvCxnSpPr>
        <p:spPr>
          <a:xfrm>
            <a:off x="3497754" y="5083343"/>
            <a:ext cx="1056661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565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switch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break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29909" y="1373515"/>
            <a:ext cx="10045107" cy="48270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2600" b="1" dirty="0"/>
              <a:t>: break</a:t>
            </a:r>
            <a:r>
              <a:rPr lang="ko-KR" altLang="en-US" sz="2600" b="1" dirty="0"/>
              <a:t>문이 없다면</a:t>
            </a:r>
            <a:r>
              <a:rPr lang="en-US" altLang="ko-KR" sz="2600" b="1" dirty="0"/>
              <a:t>?</a:t>
            </a:r>
            <a:endParaRPr lang="en-US" altLang="ko-KR" sz="2000" b="1" dirty="0"/>
          </a:p>
          <a:p>
            <a:pPr marL="0" indent="0">
              <a:buNone/>
            </a:pPr>
            <a:endParaRPr lang="en-US" altLang="ko-KR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70C0"/>
                </a:solidFill>
              </a:rPr>
              <a:t>         </a:t>
            </a:r>
            <a:r>
              <a:rPr lang="en-US" altLang="ko-KR" sz="1800" b="1" dirty="0"/>
              <a:t>switch(number)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</a:t>
            </a:r>
            <a:r>
              <a:rPr lang="en-US" altLang="ko-KR" sz="1800" b="1" dirty="0"/>
              <a:t>{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0: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없음</a:t>
            </a:r>
            <a:r>
              <a:rPr lang="en-US" altLang="ko-KR" sz="1800" b="1" dirty="0"/>
              <a:t>“);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/>
              <a:t>          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1: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한 개</a:t>
            </a:r>
            <a:r>
              <a:rPr lang="en-US" altLang="ko-KR" sz="1800" b="1" dirty="0"/>
              <a:t>”);</a:t>
            </a:r>
          </a:p>
          <a:p>
            <a:pPr marL="0" indent="0">
              <a:buNone/>
            </a:pPr>
            <a:r>
              <a:rPr lang="en-US" altLang="ko-KR" sz="1800" b="1" dirty="0"/>
              <a:t>          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2: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두 개</a:t>
            </a:r>
            <a:r>
              <a:rPr lang="en-US" altLang="ko-KR" sz="1800" b="1" dirty="0"/>
              <a:t>”);</a:t>
            </a:r>
          </a:p>
          <a:p>
            <a:pPr marL="0" indent="0">
              <a:buNone/>
            </a:pPr>
            <a:r>
              <a:rPr lang="en-US" altLang="ko-KR" sz="1800" b="1" dirty="0"/>
              <a:t>                   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</a:t>
            </a:r>
            <a:r>
              <a:rPr lang="en-US" altLang="ko-KR" sz="1800" b="1" dirty="0"/>
              <a:t>…</a:t>
            </a:r>
          </a:p>
          <a:p>
            <a:pPr marL="0" indent="0">
              <a:buNone/>
            </a:pPr>
            <a:r>
              <a:rPr lang="en-US" altLang="ko-KR" sz="1800" b="1" dirty="0"/>
              <a:t>             default: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많음</a:t>
            </a:r>
            <a:r>
              <a:rPr lang="en-US" altLang="ko-KR" sz="1800" b="1" dirty="0"/>
              <a:t>”);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}</a:t>
            </a: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0070C0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-642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F62D8A0-EFD9-41FE-ACA5-B2036E26E5FF}"/>
              </a:ext>
            </a:extLst>
          </p:cNvPr>
          <p:cNvSpPr txBox="1"/>
          <p:nvPr/>
        </p:nvSpPr>
        <p:spPr>
          <a:xfrm>
            <a:off x="5015331" y="3014949"/>
            <a:ext cx="31057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 불일치 실행</a:t>
            </a:r>
            <a:r>
              <a:rPr lang="en-US" altLang="ko-KR" b="1" dirty="0"/>
              <a:t>x</a:t>
            </a:r>
            <a:endParaRPr lang="ko-KR" altLang="en-US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D703AA-F946-4F50-A8F3-ED8D18E7D137}"/>
              </a:ext>
            </a:extLst>
          </p:cNvPr>
          <p:cNvSpPr/>
          <p:nvPr/>
        </p:nvSpPr>
        <p:spPr>
          <a:xfrm>
            <a:off x="1958340" y="2580468"/>
            <a:ext cx="1869741" cy="7904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032DF6-0196-480C-BA11-433D4481FE46}"/>
              </a:ext>
            </a:extLst>
          </p:cNvPr>
          <p:cNvSpPr/>
          <p:nvPr/>
        </p:nvSpPr>
        <p:spPr>
          <a:xfrm>
            <a:off x="1958340" y="3427123"/>
            <a:ext cx="1869741" cy="5015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49E94C2-F748-44FC-86CD-50E264DF0B80}"/>
              </a:ext>
            </a:extLst>
          </p:cNvPr>
          <p:cNvSpPr/>
          <p:nvPr/>
        </p:nvSpPr>
        <p:spPr>
          <a:xfrm>
            <a:off x="1955252" y="5076471"/>
            <a:ext cx="1872829" cy="766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7B7F5B-707D-4EE4-82FF-0572F1034333}"/>
              </a:ext>
            </a:extLst>
          </p:cNvPr>
          <p:cNvSpPr txBox="1"/>
          <p:nvPr/>
        </p:nvSpPr>
        <p:spPr>
          <a:xfrm>
            <a:off x="5015330" y="3661004"/>
            <a:ext cx="461686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</a:t>
            </a:r>
            <a:r>
              <a:rPr lang="en-US" altLang="ko-KR" b="1" dirty="0"/>
              <a:t> </a:t>
            </a:r>
            <a:r>
              <a:rPr lang="ko-KR" altLang="en-US" b="1" dirty="0"/>
              <a:t>일치</a:t>
            </a:r>
            <a:r>
              <a:rPr lang="en-US" altLang="ko-KR" b="1" dirty="0"/>
              <a:t>, </a:t>
            </a:r>
            <a:r>
              <a:rPr lang="ko-KR" altLang="en-US" b="1" dirty="0"/>
              <a:t>하지만 </a:t>
            </a:r>
            <a:r>
              <a:rPr lang="en-US" altLang="ko-KR" b="1" dirty="0"/>
              <a:t>break</a:t>
            </a:r>
            <a:r>
              <a:rPr lang="ko-KR" altLang="en-US" b="1" dirty="0"/>
              <a:t>문 없음</a:t>
            </a:r>
            <a:r>
              <a:rPr lang="en-US" altLang="ko-KR" b="1" dirty="0"/>
              <a:t>. </a:t>
            </a:r>
          </a:p>
          <a:p>
            <a:r>
              <a:rPr lang="ko-KR" altLang="en-US" b="1" dirty="0"/>
              <a:t>실행 이후 </a:t>
            </a:r>
            <a:r>
              <a:rPr lang="en-US" altLang="ko-KR" b="1" dirty="0"/>
              <a:t>case2</a:t>
            </a:r>
            <a:r>
              <a:rPr lang="ko-KR" altLang="en-US" b="1" dirty="0"/>
              <a:t>로 </a:t>
            </a:r>
            <a:r>
              <a:rPr lang="ko-KR" altLang="en-US" b="1" dirty="0" err="1"/>
              <a:t>넘어감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0FE4C8-1836-46AD-B712-B4F490E43DB9}"/>
              </a:ext>
            </a:extLst>
          </p:cNvPr>
          <p:cNvSpPr txBox="1"/>
          <p:nvPr/>
        </p:nvSpPr>
        <p:spPr>
          <a:xfrm>
            <a:off x="5015330" y="4399392"/>
            <a:ext cx="596521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Number</a:t>
            </a:r>
            <a:r>
              <a:rPr lang="ko-KR" altLang="en-US" b="1" dirty="0"/>
              <a:t>와 일치하지 않지만 </a:t>
            </a:r>
            <a:r>
              <a:rPr lang="en-US" altLang="ko-KR" b="1" dirty="0"/>
              <a:t>case1</a:t>
            </a:r>
            <a:r>
              <a:rPr lang="ko-KR" altLang="en-US" b="1" dirty="0"/>
              <a:t>에 </a:t>
            </a:r>
            <a:r>
              <a:rPr lang="en-US" altLang="ko-KR" b="1" dirty="0"/>
              <a:t>break</a:t>
            </a:r>
            <a:r>
              <a:rPr lang="ko-KR" altLang="en-US" b="1" dirty="0"/>
              <a:t>가 없었기에 </a:t>
            </a:r>
            <a:endParaRPr lang="en-US" altLang="ko-KR" b="1" dirty="0"/>
          </a:p>
          <a:p>
            <a:r>
              <a:rPr lang="ko-KR" altLang="en-US" b="1" dirty="0"/>
              <a:t>이 문장도 실행</a:t>
            </a:r>
            <a:r>
              <a:rPr lang="en-US" altLang="ko-KR" b="1" dirty="0"/>
              <a:t>. </a:t>
            </a:r>
            <a:r>
              <a:rPr lang="ko-KR" altLang="en-US" b="1" dirty="0"/>
              <a:t>이후 </a:t>
            </a:r>
            <a:r>
              <a:rPr lang="en-US" altLang="ko-KR" b="1" dirty="0"/>
              <a:t>break</a:t>
            </a:r>
            <a:r>
              <a:rPr lang="ko-KR" altLang="en-US" b="1" dirty="0"/>
              <a:t>를 만나 </a:t>
            </a:r>
            <a:r>
              <a:rPr lang="en-US" altLang="ko-KR" b="1" dirty="0"/>
              <a:t>switch</a:t>
            </a:r>
            <a:r>
              <a:rPr lang="ko-KR" altLang="en-US" b="1" dirty="0"/>
              <a:t>문 종료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E691E502-49D5-46AA-A8AA-CF2CAB86477E}"/>
              </a:ext>
            </a:extLst>
          </p:cNvPr>
          <p:cNvCxnSpPr>
            <a:cxnSpLocks/>
          </p:cNvCxnSpPr>
          <p:nvPr/>
        </p:nvCxnSpPr>
        <p:spPr>
          <a:xfrm>
            <a:off x="3817245" y="2958083"/>
            <a:ext cx="1056661" cy="3177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BC8E20FD-0E62-4E1B-B29F-D3D59EE0EB02}"/>
              </a:ext>
            </a:extLst>
          </p:cNvPr>
          <p:cNvCxnSpPr>
            <a:cxnSpLocks/>
          </p:cNvCxnSpPr>
          <p:nvPr/>
        </p:nvCxnSpPr>
        <p:spPr>
          <a:xfrm>
            <a:off x="3817244" y="3690277"/>
            <a:ext cx="1056662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C3EDC87D-F953-4B22-9F9E-2512A4B4A20C}"/>
              </a:ext>
            </a:extLst>
          </p:cNvPr>
          <p:cNvCxnSpPr>
            <a:cxnSpLocks/>
          </p:cNvCxnSpPr>
          <p:nvPr/>
        </p:nvCxnSpPr>
        <p:spPr>
          <a:xfrm>
            <a:off x="3817244" y="4400299"/>
            <a:ext cx="1056661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27016BF-0C77-4F04-9A91-95F0FD378EF5}"/>
              </a:ext>
            </a:extLst>
          </p:cNvPr>
          <p:cNvSpPr/>
          <p:nvPr/>
        </p:nvSpPr>
        <p:spPr>
          <a:xfrm>
            <a:off x="1958340" y="3985063"/>
            <a:ext cx="1869741" cy="7651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D2EBC9-4D33-4389-B0AD-C8EBB3721CEF}"/>
              </a:ext>
            </a:extLst>
          </p:cNvPr>
          <p:cNvSpPr txBox="1"/>
          <p:nvPr/>
        </p:nvSpPr>
        <p:spPr>
          <a:xfrm>
            <a:off x="4990073" y="1947060"/>
            <a:ext cx="20849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Number</a:t>
            </a:r>
            <a:r>
              <a:rPr lang="ko-KR" altLang="en-US" b="1" dirty="0"/>
              <a:t>에 </a:t>
            </a:r>
            <a:r>
              <a:rPr lang="en-US" altLang="ko-KR" b="1" dirty="0"/>
              <a:t>1 </a:t>
            </a:r>
            <a:r>
              <a:rPr lang="ko-KR" altLang="en-US" b="1" dirty="0"/>
              <a:t>입력</a:t>
            </a: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7A1D0DB6-211C-4A2C-A087-3C512A0C88A2}"/>
              </a:ext>
            </a:extLst>
          </p:cNvPr>
          <p:cNvCxnSpPr>
            <a:cxnSpLocks/>
          </p:cNvCxnSpPr>
          <p:nvPr/>
        </p:nvCxnSpPr>
        <p:spPr>
          <a:xfrm>
            <a:off x="3321086" y="2144363"/>
            <a:ext cx="155282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980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switch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break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29909" y="1373515"/>
            <a:ext cx="10045107" cy="48270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2600" b="1" dirty="0"/>
              <a:t>: </a:t>
            </a:r>
            <a:r>
              <a:rPr lang="ko-KR" altLang="en-US" sz="2600" b="1" dirty="0"/>
              <a:t>의도적인 </a:t>
            </a:r>
            <a:r>
              <a:rPr lang="en-US" altLang="ko-KR" sz="2600" b="1" dirty="0"/>
              <a:t>break</a:t>
            </a:r>
            <a:r>
              <a:rPr lang="ko-KR" altLang="en-US" sz="2600" b="1"/>
              <a:t>문 생략</a:t>
            </a:r>
            <a:endParaRPr lang="en-US" altLang="ko-KR" sz="2600" b="1" dirty="0"/>
          </a:p>
          <a:p>
            <a:pPr marL="0" indent="0">
              <a:buNone/>
            </a:pPr>
            <a:endParaRPr lang="en-US" altLang="ko-KR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70C0"/>
                </a:solidFill>
              </a:rPr>
              <a:t>         </a:t>
            </a:r>
            <a:r>
              <a:rPr lang="en-US" altLang="ko-KR" sz="1800" b="1" dirty="0"/>
              <a:t>switch(number)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</a:t>
            </a:r>
            <a:r>
              <a:rPr lang="en-US" altLang="ko-KR" sz="1800" b="1" dirty="0"/>
              <a:t>{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0: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없음</a:t>
            </a:r>
            <a:r>
              <a:rPr lang="en-US" altLang="ko-KR" sz="1800" b="1" dirty="0"/>
              <a:t>“);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/>
              <a:t>          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1: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</a:p>
          <a:p>
            <a:pPr marL="0" indent="0">
              <a:buNone/>
            </a:pPr>
            <a:r>
              <a:rPr lang="en-US" altLang="ko-KR" sz="1800" b="1" dirty="0"/>
              <a:t>          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2: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(“1~2</a:t>
            </a:r>
            <a:r>
              <a:rPr lang="ko-KR" altLang="en-US" sz="1800" b="1" dirty="0"/>
              <a:t>개</a:t>
            </a:r>
            <a:r>
              <a:rPr lang="en-US" altLang="ko-KR" sz="1800" b="1" dirty="0"/>
              <a:t>”);</a:t>
            </a:r>
          </a:p>
          <a:p>
            <a:pPr marL="0" indent="0">
              <a:buNone/>
            </a:pPr>
            <a:r>
              <a:rPr lang="en-US" altLang="ko-KR" sz="1800" b="1" dirty="0"/>
              <a:t>                   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</a:t>
            </a:r>
            <a:r>
              <a:rPr lang="en-US" altLang="ko-KR" sz="1800" b="1" dirty="0"/>
              <a:t>…</a:t>
            </a:r>
          </a:p>
          <a:p>
            <a:pPr marL="0" indent="0">
              <a:buNone/>
            </a:pPr>
            <a:r>
              <a:rPr lang="en-US" altLang="ko-KR" sz="1800" b="1" dirty="0"/>
              <a:t>             default: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많음</a:t>
            </a:r>
            <a:r>
              <a:rPr lang="en-US" altLang="ko-KR" sz="1800" b="1" dirty="0"/>
              <a:t>”);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}</a:t>
            </a: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0070C0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-642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F62D8A0-EFD9-41FE-ACA5-B2036E26E5FF}"/>
              </a:ext>
            </a:extLst>
          </p:cNvPr>
          <p:cNvSpPr txBox="1"/>
          <p:nvPr/>
        </p:nvSpPr>
        <p:spPr>
          <a:xfrm>
            <a:off x="5015331" y="3014949"/>
            <a:ext cx="31057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 불일치 실행</a:t>
            </a:r>
            <a:r>
              <a:rPr lang="en-US" altLang="ko-KR" b="1" dirty="0"/>
              <a:t>x</a:t>
            </a:r>
            <a:endParaRPr lang="ko-KR" altLang="en-US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D703AA-F946-4F50-A8F3-ED8D18E7D137}"/>
              </a:ext>
            </a:extLst>
          </p:cNvPr>
          <p:cNvSpPr/>
          <p:nvPr/>
        </p:nvSpPr>
        <p:spPr>
          <a:xfrm>
            <a:off x="1958340" y="2580468"/>
            <a:ext cx="1869741" cy="7904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032DF6-0196-480C-BA11-433D4481FE46}"/>
              </a:ext>
            </a:extLst>
          </p:cNvPr>
          <p:cNvSpPr/>
          <p:nvPr/>
        </p:nvSpPr>
        <p:spPr>
          <a:xfrm>
            <a:off x="1958340" y="3427123"/>
            <a:ext cx="1869741" cy="5015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49E94C2-F748-44FC-86CD-50E264DF0B80}"/>
              </a:ext>
            </a:extLst>
          </p:cNvPr>
          <p:cNvSpPr/>
          <p:nvPr/>
        </p:nvSpPr>
        <p:spPr>
          <a:xfrm>
            <a:off x="1955252" y="5076471"/>
            <a:ext cx="1872829" cy="766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7B7F5B-707D-4EE4-82FF-0572F1034333}"/>
              </a:ext>
            </a:extLst>
          </p:cNvPr>
          <p:cNvSpPr txBox="1"/>
          <p:nvPr/>
        </p:nvSpPr>
        <p:spPr>
          <a:xfrm>
            <a:off x="5015330" y="3661004"/>
            <a:ext cx="6918365" cy="6552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</a:t>
            </a:r>
            <a:r>
              <a:rPr lang="en-US" altLang="ko-KR" b="1" dirty="0"/>
              <a:t> </a:t>
            </a:r>
            <a:r>
              <a:rPr lang="ko-KR" altLang="en-US" b="1" dirty="0"/>
              <a:t>일치</a:t>
            </a:r>
            <a:r>
              <a:rPr lang="en-US" altLang="ko-KR" b="1" dirty="0"/>
              <a:t>, </a:t>
            </a:r>
            <a:r>
              <a:rPr lang="ko-KR" altLang="en-US" b="1" dirty="0"/>
              <a:t>하지만 </a:t>
            </a:r>
            <a:r>
              <a:rPr lang="en-US" altLang="ko-KR" b="1" dirty="0"/>
              <a:t>break</a:t>
            </a:r>
            <a:r>
              <a:rPr lang="ko-KR" altLang="en-US" b="1" dirty="0"/>
              <a:t>문 없음</a:t>
            </a:r>
            <a:r>
              <a:rPr lang="en-US" altLang="ko-KR" b="1" dirty="0"/>
              <a:t>. </a:t>
            </a:r>
          </a:p>
          <a:p>
            <a:r>
              <a:rPr lang="ko-KR" altLang="en-US" b="1" dirty="0"/>
              <a:t>실행할 문장 또한 없으므로 아무것도 실행안하고 </a:t>
            </a:r>
            <a:r>
              <a:rPr lang="en-US" altLang="ko-KR" b="1" dirty="0"/>
              <a:t>case2</a:t>
            </a:r>
            <a:r>
              <a:rPr lang="ko-KR" altLang="en-US" b="1" dirty="0"/>
              <a:t>로 </a:t>
            </a:r>
            <a:r>
              <a:rPr lang="ko-KR" altLang="en-US" b="1" dirty="0" err="1"/>
              <a:t>넘어감</a:t>
            </a:r>
            <a:endParaRPr lang="en-US" altLang="ko-KR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0FE4C8-1836-46AD-B712-B4F490E43DB9}"/>
              </a:ext>
            </a:extLst>
          </p:cNvPr>
          <p:cNvSpPr txBox="1"/>
          <p:nvPr/>
        </p:nvSpPr>
        <p:spPr>
          <a:xfrm>
            <a:off x="5015330" y="4399392"/>
            <a:ext cx="596521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Number</a:t>
            </a:r>
            <a:r>
              <a:rPr lang="ko-KR" altLang="en-US" b="1" dirty="0"/>
              <a:t>와 일치하지 않지만 </a:t>
            </a:r>
            <a:r>
              <a:rPr lang="en-US" altLang="ko-KR" b="1" dirty="0"/>
              <a:t>case1</a:t>
            </a:r>
            <a:r>
              <a:rPr lang="ko-KR" altLang="en-US" b="1" dirty="0"/>
              <a:t>에 </a:t>
            </a:r>
            <a:r>
              <a:rPr lang="en-US" altLang="ko-KR" b="1" dirty="0"/>
              <a:t>break</a:t>
            </a:r>
            <a:r>
              <a:rPr lang="ko-KR" altLang="en-US" b="1" dirty="0"/>
              <a:t>가 없었기에 </a:t>
            </a:r>
            <a:endParaRPr lang="en-US" altLang="ko-KR" b="1" dirty="0"/>
          </a:p>
          <a:p>
            <a:r>
              <a:rPr lang="ko-KR" altLang="en-US" b="1" dirty="0"/>
              <a:t>이 문장도 실행</a:t>
            </a:r>
            <a:r>
              <a:rPr lang="en-US" altLang="ko-KR" b="1" dirty="0"/>
              <a:t>. </a:t>
            </a:r>
            <a:r>
              <a:rPr lang="ko-KR" altLang="en-US" b="1" dirty="0"/>
              <a:t>이후 </a:t>
            </a:r>
            <a:r>
              <a:rPr lang="en-US" altLang="ko-KR" b="1" dirty="0"/>
              <a:t>break</a:t>
            </a:r>
            <a:r>
              <a:rPr lang="ko-KR" altLang="en-US" b="1" dirty="0"/>
              <a:t>를 만나 </a:t>
            </a:r>
            <a:r>
              <a:rPr lang="en-US" altLang="ko-KR" b="1" dirty="0"/>
              <a:t>switch</a:t>
            </a:r>
            <a:r>
              <a:rPr lang="ko-KR" altLang="en-US" b="1" dirty="0"/>
              <a:t>문 종료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E691E502-49D5-46AA-A8AA-CF2CAB86477E}"/>
              </a:ext>
            </a:extLst>
          </p:cNvPr>
          <p:cNvCxnSpPr>
            <a:cxnSpLocks/>
          </p:cNvCxnSpPr>
          <p:nvPr/>
        </p:nvCxnSpPr>
        <p:spPr>
          <a:xfrm>
            <a:off x="3817245" y="2958083"/>
            <a:ext cx="1056661" cy="3177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BC8E20FD-0E62-4E1B-B29F-D3D59EE0EB02}"/>
              </a:ext>
            </a:extLst>
          </p:cNvPr>
          <p:cNvCxnSpPr>
            <a:cxnSpLocks/>
          </p:cNvCxnSpPr>
          <p:nvPr/>
        </p:nvCxnSpPr>
        <p:spPr>
          <a:xfrm>
            <a:off x="3817244" y="3690277"/>
            <a:ext cx="1056662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C3EDC87D-F953-4B22-9F9E-2512A4B4A20C}"/>
              </a:ext>
            </a:extLst>
          </p:cNvPr>
          <p:cNvCxnSpPr>
            <a:cxnSpLocks/>
          </p:cNvCxnSpPr>
          <p:nvPr/>
        </p:nvCxnSpPr>
        <p:spPr>
          <a:xfrm>
            <a:off x="3817244" y="4400299"/>
            <a:ext cx="1056661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27016BF-0C77-4F04-9A91-95F0FD378EF5}"/>
              </a:ext>
            </a:extLst>
          </p:cNvPr>
          <p:cNvSpPr/>
          <p:nvPr/>
        </p:nvSpPr>
        <p:spPr>
          <a:xfrm>
            <a:off x="1958340" y="3985063"/>
            <a:ext cx="1869741" cy="7651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D2EBC9-4D33-4389-B0AD-C8EBB3721CEF}"/>
              </a:ext>
            </a:extLst>
          </p:cNvPr>
          <p:cNvSpPr txBox="1"/>
          <p:nvPr/>
        </p:nvSpPr>
        <p:spPr>
          <a:xfrm>
            <a:off x="4990073" y="1947060"/>
            <a:ext cx="20849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Number</a:t>
            </a:r>
            <a:r>
              <a:rPr lang="ko-KR" altLang="en-US" b="1" dirty="0"/>
              <a:t>에 </a:t>
            </a:r>
            <a:r>
              <a:rPr lang="en-US" altLang="ko-KR" b="1" dirty="0"/>
              <a:t>1 </a:t>
            </a:r>
            <a:r>
              <a:rPr lang="ko-KR" altLang="en-US" b="1" dirty="0"/>
              <a:t>입력</a:t>
            </a: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7A1D0DB6-211C-4A2C-A087-3C512A0C88A2}"/>
              </a:ext>
            </a:extLst>
          </p:cNvPr>
          <p:cNvCxnSpPr>
            <a:cxnSpLocks/>
          </p:cNvCxnSpPr>
          <p:nvPr/>
        </p:nvCxnSpPr>
        <p:spPr>
          <a:xfrm>
            <a:off x="3321086" y="2144363"/>
            <a:ext cx="155282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309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87602" y="-266716"/>
            <a:ext cx="10515600" cy="1325563"/>
          </a:xfrm>
        </p:spPr>
        <p:txBody>
          <a:bodyPr/>
          <a:lstStyle/>
          <a:p>
            <a:r>
              <a:rPr lang="ko-KR" altLang="en-US" b="1" dirty="0"/>
              <a:t>중간 퀴즈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2349522" y="2823695"/>
            <a:ext cx="6391759" cy="15390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algn="ctr"/>
            <a:r>
              <a:rPr lang="ko-KR" altLang="en-US" sz="3200" b="1" dirty="0" err="1"/>
              <a:t>조건문</a:t>
            </a:r>
            <a:r>
              <a:rPr lang="en-US" altLang="ko-KR" sz="3200" b="1" dirty="0"/>
              <a:t> 2</a:t>
            </a:r>
            <a:r>
              <a:rPr lang="ko-KR" altLang="en-US" sz="3200" b="1" dirty="0"/>
              <a:t>가지와</a:t>
            </a:r>
            <a:r>
              <a:rPr lang="en-US" altLang="ko-KR" sz="3200" b="1" dirty="0"/>
              <a:t> </a:t>
            </a:r>
            <a:r>
              <a:rPr lang="ko-KR" altLang="en-US" sz="3200" b="1" dirty="0" err="1"/>
              <a:t>반복문</a:t>
            </a:r>
            <a:r>
              <a:rPr lang="en-US" altLang="ko-KR" sz="3200" b="1" dirty="0"/>
              <a:t> 2</a:t>
            </a:r>
            <a:r>
              <a:rPr lang="ko-KR" altLang="en-US" sz="3200" b="1" dirty="0"/>
              <a:t>가지</a:t>
            </a:r>
            <a:r>
              <a:rPr lang="en-US" altLang="ko-KR" sz="3200" b="1" dirty="0"/>
              <a:t>?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8633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제어문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12138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005680" y="2052593"/>
            <a:ext cx="106412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b="1" dirty="0" err="1">
                <a:highlight>
                  <a:srgbClr val="FFFF00"/>
                </a:highlight>
                <a:latin typeface="휴먼매직체" panose="02030504000101010101" pitchFamily="18" charset="-127"/>
                <a:ea typeface="휴먼매직체" panose="02030504000101010101" pitchFamily="18" charset="-127"/>
              </a:rPr>
              <a:t>제어문</a:t>
            </a:r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문장들이 실행되는 순서에 영향을 주는 문장을 의미함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1) </a:t>
            </a:r>
            <a:r>
              <a:rPr lang="ko-KR" altLang="en-US" b="1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조건문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어떤 </a:t>
            </a:r>
            <a:r>
              <a:rPr lang="ko-KR" altLang="en-US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조건에 따라서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여러 개의 실행 경로 가운데 하나를 선택</a:t>
            </a:r>
            <a:endParaRPr lang="en-US" altLang="ko-KR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               할 때 사용한다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 </a:t>
            </a:r>
            <a:r>
              <a:rPr lang="en-US" altLang="ko-KR" b="1" dirty="0">
                <a:solidFill>
                  <a:srgbClr val="0070C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If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와 </a:t>
            </a:r>
            <a:r>
              <a:rPr lang="en-US" altLang="ko-KR" b="1" dirty="0">
                <a:solidFill>
                  <a:srgbClr val="0070C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switch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문장이 여기에 속한다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2) </a:t>
            </a:r>
            <a:r>
              <a:rPr lang="ko-KR" altLang="en-US" b="1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반복문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어떤 조건이 유지되는 한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,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정해진 횟수만큼 처리를 </a:t>
            </a:r>
            <a:r>
              <a:rPr lang="ko-KR" altLang="en-US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되풀이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하</a:t>
            </a:r>
            <a:endParaRPr lang="en-US" altLang="ko-KR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              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는 문장을 의미한다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 </a:t>
            </a:r>
            <a:r>
              <a:rPr lang="en-US" altLang="ko-KR" b="1" dirty="0">
                <a:solidFill>
                  <a:srgbClr val="0070C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For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문과 </a:t>
            </a:r>
            <a:r>
              <a:rPr lang="en-US" altLang="ko-KR" b="1" dirty="0">
                <a:solidFill>
                  <a:srgbClr val="0070C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while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문이 여기에 속한다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8414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반복문의 필요성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2147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593B4C0-FE2D-4901-AFE0-F7D4B3325900}"/>
              </a:ext>
            </a:extLst>
          </p:cNvPr>
          <p:cNvSpPr txBox="1"/>
          <p:nvPr/>
        </p:nvSpPr>
        <p:spPr>
          <a:xfrm>
            <a:off x="1873313" y="3476819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1 = 9\n”);</a:t>
            </a:r>
            <a:endParaRPr lang="ko-KR" alt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BC4D69-EF08-40AC-8773-3E46C28FC1D2}"/>
              </a:ext>
            </a:extLst>
          </p:cNvPr>
          <p:cNvSpPr txBox="1"/>
          <p:nvPr/>
        </p:nvSpPr>
        <p:spPr>
          <a:xfrm>
            <a:off x="1832674" y="1414574"/>
            <a:ext cx="5893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Ex) </a:t>
            </a:r>
            <a:r>
              <a:rPr lang="ko-KR" altLang="en-US" sz="2400" b="1" dirty="0"/>
              <a:t>구구단 </a:t>
            </a:r>
            <a:r>
              <a:rPr lang="en-US" altLang="ko-KR" sz="2400" b="1" dirty="0"/>
              <a:t>9</a:t>
            </a:r>
            <a:r>
              <a:rPr lang="ko-KR" altLang="en-US" sz="2400" b="1" dirty="0"/>
              <a:t>단을 출력해보자</a:t>
            </a:r>
            <a:r>
              <a:rPr lang="en-US" altLang="ko-KR" sz="2400" b="1" dirty="0"/>
              <a:t>.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54CB43-DA0F-4DB9-96E5-CD9BFE17191E}"/>
              </a:ext>
            </a:extLst>
          </p:cNvPr>
          <p:cNvSpPr txBox="1"/>
          <p:nvPr/>
        </p:nvSpPr>
        <p:spPr>
          <a:xfrm>
            <a:off x="1873313" y="3870364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2 = 18\n”);</a:t>
            </a:r>
            <a:endParaRPr lang="ko-KR" altLang="en-US" sz="2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014CD2-D5A5-4E28-87A1-9A80A6F50238}"/>
              </a:ext>
            </a:extLst>
          </p:cNvPr>
          <p:cNvSpPr txBox="1"/>
          <p:nvPr/>
        </p:nvSpPr>
        <p:spPr>
          <a:xfrm>
            <a:off x="1873313" y="4261552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3 = 27\n”);</a:t>
            </a:r>
            <a:endParaRPr lang="ko-KR" altLang="en-US" sz="2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BED5A3-3F62-4C5E-923C-832B5A52F1C8}"/>
              </a:ext>
            </a:extLst>
          </p:cNvPr>
          <p:cNvSpPr txBox="1"/>
          <p:nvPr/>
        </p:nvSpPr>
        <p:spPr>
          <a:xfrm>
            <a:off x="1873313" y="4831511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         …</a:t>
            </a:r>
            <a:endParaRPr lang="ko-KR" altLang="en-US" sz="24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0F0006-5B21-4FD5-9439-A25F5E8C4BF4}"/>
              </a:ext>
            </a:extLst>
          </p:cNvPr>
          <p:cNvSpPr txBox="1"/>
          <p:nvPr/>
        </p:nvSpPr>
        <p:spPr>
          <a:xfrm>
            <a:off x="1873313" y="5498581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9 = 81\n”);</a:t>
            </a:r>
            <a:endParaRPr lang="ko-KR" altLang="en-US" sz="2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4AB936-F930-4C8B-A916-F266D814275C}"/>
              </a:ext>
            </a:extLst>
          </p:cNvPr>
          <p:cNvSpPr txBox="1"/>
          <p:nvPr/>
        </p:nvSpPr>
        <p:spPr>
          <a:xfrm>
            <a:off x="1832674" y="2561113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70C0"/>
                </a:solidFill>
              </a:rPr>
              <a:t>(</a:t>
            </a:r>
            <a:r>
              <a:rPr lang="ko-KR" altLang="en-US" sz="2400" b="1" dirty="0" err="1">
                <a:solidFill>
                  <a:srgbClr val="0070C0"/>
                </a:solidFill>
              </a:rPr>
              <a:t>반복문</a:t>
            </a:r>
            <a:r>
              <a:rPr lang="ko-KR" altLang="en-US" sz="2400" b="1" dirty="0">
                <a:solidFill>
                  <a:srgbClr val="0070C0"/>
                </a:solidFill>
              </a:rPr>
              <a:t> 없이</a:t>
            </a:r>
            <a:r>
              <a:rPr lang="en-US" altLang="ko-KR" sz="2400" b="1" dirty="0">
                <a:solidFill>
                  <a:srgbClr val="0070C0"/>
                </a:solidFill>
              </a:rPr>
              <a:t>)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447494-F80E-41DC-A405-7C23A20643CB}"/>
              </a:ext>
            </a:extLst>
          </p:cNvPr>
          <p:cNvSpPr txBox="1"/>
          <p:nvPr/>
        </p:nvSpPr>
        <p:spPr>
          <a:xfrm>
            <a:off x="6901037" y="2570359"/>
            <a:ext cx="3736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70C0"/>
                </a:solidFill>
              </a:rPr>
              <a:t>(</a:t>
            </a:r>
            <a:r>
              <a:rPr lang="ko-KR" altLang="en-US" sz="2400" b="1" dirty="0" err="1">
                <a:solidFill>
                  <a:srgbClr val="0070C0"/>
                </a:solidFill>
              </a:rPr>
              <a:t>반복문</a:t>
            </a:r>
            <a:r>
              <a:rPr lang="ko-KR" altLang="en-US" sz="2400" b="1" dirty="0">
                <a:solidFill>
                  <a:srgbClr val="0070C0"/>
                </a:solidFill>
              </a:rPr>
              <a:t> 사용</a:t>
            </a:r>
            <a:r>
              <a:rPr lang="en-US" altLang="ko-KR" sz="2400" b="1" dirty="0">
                <a:solidFill>
                  <a:srgbClr val="0070C0"/>
                </a:solidFill>
              </a:rPr>
              <a:t>)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775F79-7FBF-49D0-A441-9D2DC14EEB85}"/>
              </a:ext>
            </a:extLst>
          </p:cNvPr>
          <p:cNvSpPr txBox="1"/>
          <p:nvPr/>
        </p:nvSpPr>
        <p:spPr>
          <a:xfrm>
            <a:off x="6134100" y="3476819"/>
            <a:ext cx="5698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i</a:t>
            </a:r>
            <a:r>
              <a:rPr lang="en-US" altLang="ko-KR" sz="2400" b="1" dirty="0"/>
              <a:t>=1;</a:t>
            </a:r>
          </a:p>
          <a:p>
            <a:r>
              <a:rPr lang="en-US" altLang="ko-KR" sz="2400" b="1" dirty="0"/>
              <a:t>while(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&lt;=9)</a:t>
            </a:r>
          </a:p>
          <a:p>
            <a:r>
              <a:rPr lang="en-US" altLang="ko-KR" sz="2400" b="1" dirty="0"/>
              <a:t>{</a:t>
            </a:r>
          </a:p>
          <a:p>
            <a:r>
              <a:rPr lang="en-US" altLang="ko-KR" sz="2400" b="1" dirty="0"/>
              <a:t>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%d = %d \n”,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*9);</a:t>
            </a:r>
          </a:p>
          <a:p>
            <a:r>
              <a:rPr lang="en-US" altLang="ko-KR" sz="2400" b="1" dirty="0"/>
              <a:t>   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++;</a:t>
            </a:r>
          </a:p>
          <a:p>
            <a:r>
              <a:rPr lang="en-US" altLang="ko-KR" sz="2400" b="1" dirty="0"/>
              <a:t>}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04360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579080" y="2521576"/>
            <a:ext cx="7106762" cy="4132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형식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</a:t>
            </a:r>
            <a:r>
              <a:rPr lang="en-US" altLang="ko-KR" sz="2400" b="1" dirty="0"/>
              <a:t>while(</a:t>
            </a:r>
            <a:r>
              <a:rPr lang="ko-KR" altLang="en-US" sz="2400" b="1" dirty="0"/>
              <a:t>조건식</a:t>
            </a:r>
            <a:r>
              <a:rPr lang="en-US" altLang="ko-KR" sz="2400" b="1" dirty="0"/>
              <a:t>)</a:t>
            </a:r>
          </a:p>
          <a:p>
            <a:pPr marL="0" indent="0">
              <a:buNone/>
            </a:pPr>
            <a:r>
              <a:rPr lang="en-US" altLang="ko-KR" sz="2400" b="1" dirty="0"/>
              <a:t>              </a:t>
            </a:r>
            <a:r>
              <a:rPr lang="ko-KR" altLang="en-US" sz="2400" b="1" dirty="0"/>
              <a:t>문장</a:t>
            </a:r>
            <a:r>
              <a:rPr lang="en-US" altLang="ko-KR" sz="2400" b="1" dirty="0"/>
              <a:t>;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의미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</a:t>
            </a:r>
            <a:r>
              <a:rPr lang="ko-KR" altLang="en-US" sz="2400" b="1" dirty="0"/>
              <a:t>조건식이 </a:t>
            </a:r>
            <a:r>
              <a:rPr lang="ko-KR" altLang="en-US" sz="2400" b="1" dirty="0">
                <a:solidFill>
                  <a:srgbClr val="FF0000"/>
                </a:solidFill>
              </a:rPr>
              <a:t>참</a:t>
            </a:r>
            <a:r>
              <a:rPr lang="ko-KR" altLang="en-US" sz="2400" b="1" dirty="0"/>
              <a:t>이면 문장이 반복 실행된다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sz="3200" b="1" dirty="0">
                <a:solidFill>
                  <a:srgbClr val="0070C0"/>
                </a:solidFill>
              </a:rPr>
              <a:t>Ex</a:t>
            </a:r>
            <a:r>
              <a:rPr lang="en-US" altLang="ko-KR" b="1" dirty="0">
                <a:solidFill>
                  <a:srgbClr val="0070C0"/>
                </a:solidFill>
              </a:rPr>
              <a:t>  )</a:t>
            </a:r>
            <a:r>
              <a:rPr lang="en-US" altLang="ko-KR" sz="2400" b="1" dirty="0"/>
              <a:t> while(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&lt;=9)</a:t>
            </a:r>
          </a:p>
          <a:p>
            <a:pPr marL="0" indent="0">
              <a:buNone/>
            </a:pPr>
            <a:r>
              <a:rPr lang="en-US" altLang="ko-KR" sz="2400" b="1" dirty="0"/>
              <a:t>        {</a:t>
            </a:r>
          </a:p>
          <a:p>
            <a:pPr marL="0" indent="0">
              <a:buNone/>
            </a:pPr>
            <a:r>
              <a:rPr lang="en-US" altLang="ko-KR" sz="2400" b="1" dirty="0"/>
              <a:t>        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%d = %d \n”,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*9);</a:t>
            </a:r>
          </a:p>
          <a:p>
            <a:pPr marL="0" indent="0">
              <a:buNone/>
            </a:pPr>
            <a:r>
              <a:rPr lang="en-US" altLang="ko-KR" sz="2400" b="1" dirty="0"/>
              <a:t>           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++;</a:t>
            </a:r>
          </a:p>
          <a:p>
            <a:pPr marL="0" indent="0">
              <a:buNone/>
            </a:pPr>
            <a:r>
              <a:rPr lang="en-US" altLang="ko-KR" sz="2400" b="1" dirty="0"/>
              <a:t>        }</a:t>
            </a:r>
            <a:endParaRPr lang="ko-KR" altLang="en-US" sz="24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77EAD28-2B7B-47B1-82DE-41EB74B2FFDB}"/>
              </a:ext>
            </a:extLst>
          </p:cNvPr>
          <p:cNvGrpSpPr/>
          <p:nvPr/>
        </p:nvGrpSpPr>
        <p:grpSpPr>
          <a:xfrm>
            <a:off x="7685842" y="2783553"/>
            <a:ext cx="4683338" cy="3741233"/>
            <a:chOff x="7584862" y="2659567"/>
            <a:chExt cx="4683338" cy="3741233"/>
          </a:xfrm>
        </p:grpSpPr>
        <p:sp>
          <p:nvSpPr>
            <p:cNvPr id="2" name="다이아몬드 1">
              <a:extLst>
                <a:ext uri="{FF2B5EF4-FFF2-40B4-BE49-F238E27FC236}">
                  <a16:creationId xmlns:a16="http://schemas.microsoft.com/office/drawing/2014/main" id="{51D2EFB4-824A-49D3-8DF0-C38351E02AE1}"/>
                </a:ext>
              </a:extLst>
            </p:cNvPr>
            <p:cNvSpPr/>
            <p:nvPr/>
          </p:nvSpPr>
          <p:spPr>
            <a:xfrm>
              <a:off x="7584862" y="2659567"/>
              <a:ext cx="3361692" cy="937888"/>
            </a:xfrm>
            <a:prstGeom prst="diamond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조건식</a:t>
              </a:r>
              <a:r>
                <a:rPr lang="en-US" altLang="ko-KR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?</a:t>
              </a:r>
              <a:endParaRPr lang="ko-KR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6EF6A19-E45F-459D-8B65-E0DBBABB91C3}"/>
                </a:ext>
              </a:extLst>
            </p:cNvPr>
            <p:cNvSpPr/>
            <p:nvPr/>
          </p:nvSpPr>
          <p:spPr>
            <a:xfrm>
              <a:off x="8086857" y="4064258"/>
              <a:ext cx="2301026" cy="55808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문장</a:t>
              </a:r>
            </a:p>
          </p:txBody>
        </p:sp>
        <p:cxnSp>
          <p:nvCxnSpPr>
            <p:cNvPr id="8" name="연결선: 꺾임 7">
              <a:extLst>
                <a:ext uri="{FF2B5EF4-FFF2-40B4-BE49-F238E27FC236}">
                  <a16:creationId xmlns:a16="http://schemas.microsoft.com/office/drawing/2014/main" id="{B3529CB7-F93B-42C6-B92A-4F9A4BE6F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18343" y="3128511"/>
              <a:ext cx="1461590" cy="3272289"/>
            </a:xfrm>
            <a:prstGeom prst="bentConnector4">
              <a:avLst>
                <a:gd name="adj1" fmla="val -29956"/>
                <a:gd name="adj2" fmla="val 6805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CA7820A-2F30-4929-85C8-6BF7DB898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5706" y="3597695"/>
              <a:ext cx="2" cy="4835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2DFB56-2164-4B50-A892-E7177CC01C32}"/>
                </a:ext>
              </a:extLst>
            </p:cNvPr>
            <p:cNvSpPr txBox="1"/>
            <p:nvPr/>
          </p:nvSpPr>
          <p:spPr>
            <a:xfrm>
              <a:off x="9332466" y="3620366"/>
              <a:ext cx="716990" cy="369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yes</a:t>
              </a:r>
              <a:endParaRPr lang="ko-KR" altLang="en-US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F434A9-8886-4E18-9E7D-763D12B3C24F}"/>
                </a:ext>
              </a:extLst>
            </p:cNvPr>
            <p:cNvSpPr txBox="1"/>
            <p:nvPr/>
          </p:nvSpPr>
          <p:spPr>
            <a:xfrm>
              <a:off x="11551210" y="3128511"/>
              <a:ext cx="716990" cy="369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no</a:t>
              </a:r>
              <a:endParaRPr lang="ko-KR" altLang="en-US" b="1" dirty="0"/>
            </a:p>
          </p:txBody>
        </p: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C10BA282-85FA-41EA-B06E-F5C299ED8EC2}"/>
                </a:ext>
              </a:extLst>
            </p:cNvPr>
            <p:cNvCxnSpPr>
              <a:cxnSpLocks/>
              <a:stCxn id="3" idx="2"/>
              <a:endCxn id="2" idx="1"/>
            </p:cNvCxnSpPr>
            <p:nvPr/>
          </p:nvCxnSpPr>
          <p:spPr>
            <a:xfrm rot="5400000" flipH="1">
              <a:off x="7664201" y="3049172"/>
              <a:ext cx="1493830" cy="1652508"/>
            </a:xfrm>
            <a:prstGeom prst="bentConnector4">
              <a:avLst>
                <a:gd name="adj1" fmla="val -15303"/>
                <a:gd name="adj2" fmla="val 11383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6269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예제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-30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0220145-50E6-498D-AB87-AF1790B916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96" t="9830" r="57462" b="43616"/>
          <a:stretch/>
        </p:blipFill>
        <p:spPr>
          <a:xfrm>
            <a:off x="955361" y="1208267"/>
            <a:ext cx="6930300" cy="5245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4888E5-29B2-4984-8039-01195CCAD8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260" b="80697"/>
          <a:stretch/>
        </p:blipFill>
        <p:spPr>
          <a:xfrm>
            <a:off x="5836003" y="1462228"/>
            <a:ext cx="5957673" cy="178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48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예제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-30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4B0DF157-9F3C-4B0C-A346-002F6426CD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89" t="10057" r="57564" b="44181"/>
          <a:stretch/>
        </p:blipFill>
        <p:spPr>
          <a:xfrm>
            <a:off x="983568" y="1267468"/>
            <a:ext cx="6970332" cy="52537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6C79944-C386-43F1-9C14-D7E3FAA479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919" b="82495"/>
          <a:stretch/>
        </p:blipFill>
        <p:spPr>
          <a:xfrm>
            <a:off x="5812303" y="1545439"/>
            <a:ext cx="5971380" cy="17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42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  <a:ea typeface="휴먼매직체" panose="02030504000101010101" pitchFamily="18" charset="-127"/>
              </a:rPr>
              <a:t>센티널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1C76E88-51DD-4A57-AC4F-2843B214E72C}"/>
              </a:ext>
            </a:extLst>
          </p:cNvPr>
          <p:cNvSpPr txBox="1"/>
          <p:nvPr/>
        </p:nvSpPr>
        <p:spPr>
          <a:xfrm>
            <a:off x="1699325" y="1977114"/>
            <a:ext cx="94849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데이터의 개수가 미리 알려지지 않았거나 너무 많아서 개수를 알기 </a:t>
            </a:r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sz="2800" b="1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어려울 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때</a:t>
            </a:r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? </a:t>
            </a:r>
            <a:r>
              <a:rPr lang="ko-KR" altLang="en-US" sz="2800" b="1" dirty="0" err="1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센티널</a:t>
            </a:r>
            <a:r>
              <a:rPr lang="en-US" altLang="ko-KR" sz="2800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(sentinel)</a:t>
            </a:r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혹은 </a:t>
            </a:r>
            <a:r>
              <a:rPr lang="ko-KR" altLang="en-US" sz="2800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보초 값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이용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50CD9-A418-4554-BC6A-5FCBD5D4D085}"/>
              </a:ext>
            </a:extLst>
          </p:cNvPr>
          <p:cNvSpPr txBox="1"/>
          <p:nvPr/>
        </p:nvSpPr>
        <p:spPr>
          <a:xfrm>
            <a:off x="1699325" y="3676266"/>
            <a:ext cx="99181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센티널이 입력되면 데이터 입력을 중단함</a:t>
            </a:r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 </a:t>
            </a:r>
            <a:r>
              <a:rPr lang="ko-KR" altLang="en-US" sz="2800" b="1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일반적으로</a:t>
            </a:r>
            <a:endParaRPr lang="en-US" altLang="ko-KR" sz="2800" b="1" dirty="0" smtClean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sz="2800" b="1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 입력되지 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않을 값을 이용</a:t>
            </a:r>
            <a:endParaRPr lang="en-US" altLang="ko-KR" sz="2800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endParaRPr lang="en-US" altLang="ko-KR" sz="2800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ex) 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성적을 반복 입력하는 프로그램에서는 음수</a:t>
            </a:r>
          </a:p>
        </p:txBody>
      </p:sp>
    </p:spTree>
    <p:extLst>
      <p:ext uri="{BB962C8B-B14F-4D97-AF65-F5344CB8AC3E}">
        <p14:creationId xmlns:p14="http://schemas.microsoft.com/office/powerpoint/2010/main" val="1385550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  <a:ea typeface="휴먼매직체" panose="02030504000101010101" pitchFamily="18" charset="-127"/>
              </a:rPr>
              <a:t>센티널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53500491-DEDA-4AF7-9066-BAEB29223E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96" t="8927" r="62406" b="41469"/>
          <a:stretch/>
        </p:blipFill>
        <p:spPr>
          <a:xfrm>
            <a:off x="723753" y="995362"/>
            <a:ext cx="6185226" cy="5724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6E2B62B-3AF8-4556-813B-E6F984D4C7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005" b="65016"/>
          <a:stretch/>
        </p:blipFill>
        <p:spPr>
          <a:xfrm>
            <a:off x="6989655" y="1287983"/>
            <a:ext cx="4907765" cy="2806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661CBD-0B2E-47BB-98A7-5F08EDCC93A1}"/>
              </a:ext>
            </a:extLst>
          </p:cNvPr>
          <p:cNvSpPr txBox="1"/>
          <p:nvPr/>
        </p:nvSpPr>
        <p:spPr>
          <a:xfrm>
            <a:off x="7320269" y="4933910"/>
            <a:ext cx="4411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주의</a:t>
            </a:r>
            <a:r>
              <a:rPr lang="en-US" altLang="ko-KR" b="1" dirty="0">
                <a:solidFill>
                  <a:srgbClr val="FF0000"/>
                </a:solidFill>
              </a:rPr>
              <a:t>) </a:t>
            </a:r>
            <a:r>
              <a:rPr lang="ko-KR" altLang="en-US" b="1" dirty="0"/>
              <a:t>이러한 알고리즘 사용시 맨 마지막  </a:t>
            </a:r>
            <a:endParaRPr lang="en-US" altLang="ko-KR" b="1" dirty="0"/>
          </a:p>
          <a:p>
            <a:r>
              <a:rPr lang="en-US" altLang="ko-KR" b="1" dirty="0"/>
              <a:t>        grade</a:t>
            </a:r>
            <a:r>
              <a:rPr lang="ko-KR" altLang="en-US" b="1" dirty="0"/>
              <a:t>와 </a:t>
            </a:r>
            <a:r>
              <a:rPr lang="en-US" altLang="ko-KR" b="1" dirty="0"/>
              <a:t>n</a:t>
            </a:r>
            <a:r>
              <a:rPr lang="ko-KR" altLang="en-US" b="1" dirty="0"/>
              <a:t>을 제외해줘야 함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1CD125B-C6E3-49A7-8907-7B2EB33CC5E2}"/>
              </a:ext>
            </a:extLst>
          </p:cNvPr>
          <p:cNvSpPr/>
          <p:nvPr/>
        </p:nvSpPr>
        <p:spPr>
          <a:xfrm>
            <a:off x="1836549" y="4985856"/>
            <a:ext cx="2278250" cy="5424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250A892-F61C-4401-9AB8-553F50577445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4114799" y="5257076"/>
            <a:ext cx="3205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7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  <a:ea typeface="휴먼매직체" panose="02030504000101010101" pitchFamily="18" charset="-127"/>
              </a:rPr>
              <a:t>주의할점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424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BCF16E39-675D-4B6E-A3EC-C45EF4D295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68" t="13895" r="71869" b="69943"/>
          <a:stretch/>
        </p:blipFill>
        <p:spPr>
          <a:xfrm>
            <a:off x="1473897" y="1553839"/>
            <a:ext cx="4306972" cy="20364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D31D2F-B7CA-4B28-8636-3825AAE3A07E}"/>
              </a:ext>
            </a:extLst>
          </p:cNvPr>
          <p:cNvSpPr txBox="1"/>
          <p:nvPr/>
        </p:nvSpPr>
        <p:spPr>
          <a:xfrm>
            <a:off x="1387098" y="1106566"/>
            <a:ext cx="339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1) </a:t>
            </a:r>
            <a:r>
              <a:rPr lang="ko-KR" altLang="en-US" b="1" dirty="0"/>
              <a:t>중괄호 생략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72E9C0-6582-4C1A-9472-57E6E27707F2}"/>
              </a:ext>
            </a:extLst>
          </p:cNvPr>
          <p:cNvSpPr txBox="1"/>
          <p:nvPr/>
        </p:nvSpPr>
        <p:spPr>
          <a:xfrm>
            <a:off x="6096000" y="2059410"/>
            <a:ext cx="549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조건문에서 말했듯이 그 제어문에서 </a:t>
            </a:r>
            <a:endParaRPr lang="en-US" altLang="ko-KR" b="1" dirty="0"/>
          </a:p>
          <a:p>
            <a:r>
              <a:rPr lang="ko-KR" altLang="en-US" b="1" dirty="0"/>
              <a:t>같이 실행되야 하는 것은 중괄호로 묶기</a:t>
            </a:r>
            <a:r>
              <a:rPr lang="en-US" altLang="ko-KR" b="1" dirty="0"/>
              <a:t>!</a:t>
            </a:r>
            <a:endParaRPr lang="ko-KR" alt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B82112-7830-4726-A0D0-EC30B1DA091E}"/>
              </a:ext>
            </a:extLst>
          </p:cNvPr>
          <p:cNvSpPr txBox="1"/>
          <p:nvPr/>
        </p:nvSpPr>
        <p:spPr>
          <a:xfrm>
            <a:off x="1387098" y="3904010"/>
            <a:ext cx="339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2) </a:t>
            </a:r>
            <a:r>
              <a:rPr lang="ko-KR" altLang="en-US" b="1" dirty="0"/>
              <a:t>조건식 실수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E9402-FF7D-450D-B1B2-E3E33A523703}"/>
              </a:ext>
            </a:extLst>
          </p:cNvPr>
          <p:cNvSpPr txBox="1"/>
          <p:nvPr/>
        </p:nvSpPr>
        <p:spPr>
          <a:xfrm>
            <a:off x="6096000" y="4849104"/>
            <a:ext cx="5643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조건식에서 </a:t>
            </a:r>
            <a:r>
              <a:rPr lang="en-US" altLang="ko-KR" b="1" dirty="0" err="1"/>
              <a:t>i</a:t>
            </a:r>
            <a:r>
              <a:rPr lang="ko-KR" altLang="en-US" b="1" dirty="0"/>
              <a:t>는 </a:t>
            </a:r>
            <a:r>
              <a:rPr lang="en-US" altLang="ko-KR" b="1" dirty="0"/>
              <a:t>9</a:t>
            </a:r>
            <a:r>
              <a:rPr lang="ko-KR" altLang="en-US" b="1" dirty="0"/>
              <a:t>가 절대 될 수 없으므로 무한루프에 빠지게 된다</a:t>
            </a:r>
            <a:r>
              <a:rPr lang="en-US" altLang="ko-KR" b="1" dirty="0"/>
              <a:t>. !=</a:t>
            </a:r>
            <a:r>
              <a:rPr lang="ko-KR" altLang="en-US" b="1" dirty="0"/>
              <a:t>나 </a:t>
            </a:r>
            <a:r>
              <a:rPr lang="en-US" altLang="ko-KR" b="1" dirty="0"/>
              <a:t>== </a:t>
            </a:r>
            <a:r>
              <a:rPr lang="ko-KR" altLang="en-US" b="1" dirty="0"/>
              <a:t>보다는 </a:t>
            </a:r>
            <a:r>
              <a:rPr lang="en-US" altLang="ko-KR" b="1" dirty="0"/>
              <a:t>&lt;=, &gt;= </a:t>
            </a:r>
            <a:r>
              <a:rPr lang="ko-KR" altLang="en-US" b="1" dirty="0"/>
              <a:t>사용이 안전</a:t>
            </a:r>
            <a:endParaRPr lang="en-US" altLang="ko-KR" b="1" dirty="0"/>
          </a:p>
          <a:p>
            <a:r>
              <a:rPr lang="en-US" altLang="ko-KR" b="1" dirty="0"/>
              <a:t>(</a:t>
            </a:r>
            <a:r>
              <a:rPr lang="en-US" altLang="ko-KR" b="1" dirty="0" err="1"/>
              <a:t>i</a:t>
            </a:r>
            <a:r>
              <a:rPr lang="en-US" altLang="ko-KR" b="1" dirty="0"/>
              <a:t> != 9) </a:t>
            </a:r>
            <a:r>
              <a:rPr lang="en-US" altLang="ko-KR" b="1" dirty="0">
                <a:sym typeface="Wingdings" panose="05000000000000000000" pitchFamily="2" charset="2"/>
              </a:rPr>
              <a:t> (</a:t>
            </a:r>
            <a:r>
              <a:rPr lang="en-US" altLang="ko-KR" b="1" dirty="0" err="1">
                <a:sym typeface="Wingdings" panose="05000000000000000000" pitchFamily="2" charset="2"/>
              </a:rPr>
              <a:t>i</a:t>
            </a:r>
            <a:r>
              <a:rPr lang="en-US" altLang="ko-KR" b="1" dirty="0">
                <a:sym typeface="Wingdings" panose="05000000000000000000" pitchFamily="2" charset="2"/>
              </a:rPr>
              <a:t> &lt; 9)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3AFE2C-191F-4DF8-90B3-DC21A1E0C3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59" t="14191" r="79797" b="72696"/>
          <a:stretch/>
        </p:blipFill>
        <p:spPr>
          <a:xfrm>
            <a:off x="1473898" y="4351283"/>
            <a:ext cx="3121350" cy="202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48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  <a:ea typeface="휴먼매직체" panose="02030504000101010101" pitchFamily="18" charset="-127"/>
              </a:rPr>
              <a:t>주의할점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424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0D31D2F-B7CA-4B28-8636-3825AAE3A07E}"/>
              </a:ext>
            </a:extLst>
          </p:cNvPr>
          <p:cNvSpPr txBox="1"/>
          <p:nvPr/>
        </p:nvSpPr>
        <p:spPr>
          <a:xfrm>
            <a:off x="1387098" y="1106566"/>
            <a:ext cx="339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3) </a:t>
            </a:r>
            <a:r>
              <a:rPr lang="ko-KR" altLang="en-US" b="1" dirty="0"/>
              <a:t>세미콜론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72E9C0-6582-4C1A-9472-57E6E27707F2}"/>
              </a:ext>
            </a:extLst>
          </p:cNvPr>
          <p:cNvSpPr txBox="1"/>
          <p:nvPr/>
        </p:nvSpPr>
        <p:spPr>
          <a:xfrm>
            <a:off x="5863525" y="2444238"/>
            <a:ext cx="610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조건문과 마찬가지로 </a:t>
            </a:r>
            <a:r>
              <a:rPr lang="en-US" altLang="ko-KR" b="1" dirty="0"/>
              <a:t>while</a:t>
            </a:r>
            <a:r>
              <a:rPr lang="ko-KR" altLang="en-US" b="1" dirty="0"/>
              <a:t>뒤에 세미콜론 붙이지 않음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B82112-7830-4726-A0D0-EC30B1DA091E}"/>
              </a:ext>
            </a:extLst>
          </p:cNvPr>
          <p:cNvSpPr txBox="1"/>
          <p:nvPr/>
        </p:nvSpPr>
        <p:spPr>
          <a:xfrm>
            <a:off x="1387098" y="3904010"/>
            <a:ext cx="339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4) = </a:t>
            </a:r>
            <a:r>
              <a:rPr lang="ko-KR" altLang="en-US" b="1" dirty="0"/>
              <a:t>과 </a:t>
            </a:r>
            <a:r>
              <a:rPr lang="en-US" altLang="ko-KR" b="1" dirty="0"/>
              <a:t>== </a:t>
            </a:r>
            <a:r>
              <a:rPr lang="ko-KR" altLang="en-US" b="1" dirty="0"/>
              <a:t>구분하기</a:t>
            </a:r>
            <a:r>
              <a:rPr lang="en-US" altLang="ko-KR" b="1" dirty="0"/>
              <a:t>…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E9402-FF7D-450D-B1B2-E3E33A523703}"/>
              </a:ext>
            </a:extLst>
          </p:cNvPr>
          <p:cNvSpPr txBox="1"/>
          <p:nvPr/>
        </p:nvSpPr>
        <p:spPr>
          <a:xfrm>
            <a:off x="6096000" y="4849104"/>
            <a:ext cx="5643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</a:t>
            </a:r>
            <a:r>
              <a:rPr lang="en-US" altLang="ko-KR" b="1" dirty="0"/>
              <a:t> = 2</a:t>
            </a:r>
            <a:r>
              <a:rPr lang="ko-KR" altLang="en-US" b="1" dirty="0"/>
              <a:t>는 </a:t>
            </a:r>
            <a:r>
              <a:rPr lang="en-US" altLang="ko-KR" b="1" dirty="0" err="1"/>
              <a:t>i</a:t>
            </a:r>
            <a:r>
              <a:rPr lang="ko-KR" altLang="en-US" b="1" dirty="0"/>
              <a:t>에 </a:t>
            </a:r>
            <a:r>
              <a:rPr lang="en-US" altLang="ko-KR" b="1" dirty="0"/>
              <a:t>2</a:t>
            </a:r>
            <a:r>
              <a:rPr lang="ko-KR" altLang="en-US" b="1" dirty="0"/>
              <a:t>를 대입한다는 의미로</a:t>
            </a:r>
            <a:r>
              <a:rPr lang="en-US" altLang="ko-KR" b="1" dirty="0"/>
              <a:t>, 0</a:t>
            </a:r>
            <a:r>
              <a:rPr lang="ko-KR" altLang="en-US" b="1" dirty="0"/>
              <a:t>이 아닌 값은 항상 참으로 인식하므로 무한루프에 빠진다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>
                <a:highlight>
                  <a:srgbClr val="FFFF00"/>
                </a:highlight>
              </a:rPr>
              <a:t>※ 0</a:t>
            </a:r>
            <a:r>
              <a:rPr lang="ko-KR" altLang="en-US" b="1" dirty="0">
                <a:highlight>
                  <a:srgbClr val="FFFF00"/>
                </a:highlight>
              </a:rPr>
              <a:t>이 아닌 값은 참</a:t>
            </a:r>
            <a:r>
              <a:rPr lang="en-US" altLang="ko-KR" b="1" dirty="0">
                <a:highlight>
                  <a:srgbClr val="FFFF00"/>
                </a:highlight>
              </a:rPr>
              <a:t>, 0</a:t>
            </a:r>
            <a:r>
              <a:rPr lang="ko-KR" altLang="en-US" b="1" dirty="0">
                <a:highlight>
                  <a:srgbClr val="FFFF00"/>
                </a:highlight>
              </a:rPr>
              <a:t>만 참으로 인식함</a:t>
            </a:r>
            <a:r>
              <a:rPr lang="en-US" altLang="ko-KR" b="1" dirty="0">
                <a:highlight>
                  <a:srgbClr val="FFFF00"/>
                </a:highlight>
              </a:rPr>
              <a:t>.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01AF725-B02D-432E-9514-119F84B55B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22" t="13895" r="71234" b="64631"/>
          <a:stretch/>
        </p:blipFill>
        <p:spPr>
          <a:xfrm>
            <a:off x="1387098" y="1705925"/>
            <a:ext cx="3590381" cy="210024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DF5920C-B764-41C8-B27D-69A1F22853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94" t="13829" r="71043" b="62379"/>
          <a:stretch/>
        </p:blipFill>
        <p:spPr>
          <a:xfrm>
            <a:off x="1387098" y="4340188"/>
            <a:ext cx="3590381" cy="240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46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do...while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579080" y="2521576"/>
            <a:ext cx="7106762" cy="41323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형식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do</a:t>
            </a:r>
          </a:p>
          <a:p>
            <a:pPr marL="0" indent="0">
              <a:buNone/>
            </a:pPr>
            <a:r>
              <a:rPr lang="en-US" altLang="ko-KR" b="1" dirty="0"/>
              <a:t>           </a:t>
            </a:r>
            <a:r>
              <a:rPr lang="ko-KR" altLang="en-US" sz="2400" b="1" dirty="0"/>
              <a:t>반복문장</a:t>
            </a:r>
            <a:r>
              <a:rPr lang="en-US" altLang="ko-KR" sz="2400" b="1" dirty="0"/>
              <a:t>;</a:t>
            </a:r>
          </a:p>
          <a:p>
            <a:pPr marL="0" indent="0">
              <a:buNone/>
            </a:pPr>
            <a:r>
              <a:rPr lang="en-US" altLang="ko-KR" sz="2400" b="1" dirty="0"/>
              <a:t>         while(</a:t>
            </a:r>
            <a:r>
              <a:rPr lang="ko-KR" altLang="en-US" sz="2400" b="1" dirty="0"/>
              <a:t>조건식</a:t>
            </a:r>
            <a:r>
              <a:rPr lang="en-US" altLang="ko-KR" sz="2400" b="1" dirty="0"/>
              <a:t>);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의미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</a:t>
            </a:r>
            <a:r>
              <a:rPr lang="ko-KR" altLang="en-US" sz="2400" b="1" dirty="0">
                <a:solidFill>
                  <a:srgbClr val="FF0000"/>
                </a:solidFill>
              </a:rPr>
              <a:t>일단 문장을 실행</a:t>
            </a:r>
            <a:r>
              <a:rPr lang="ko-KR" altLang="en-US" sz="2400" b="1" dirty="0"/>
              <a:t>한 후에 조건을 검사하여 </a:t>
            </a:r>
            <a:endParaRPr lang="en-US" altLang="ko-KR" sz="2400" b="1" dirty="0"/>
          </a:p>
          <a:p>
            <a:pPr marL="0" indent="0">
              <a:buNone/>
            </a:pPr>
            <a:r>
              <a:rPr lang="ko-KR" altLang="en-US" sz="2400" b="1" dirty="0"/>
              <a:t>         반복 여부를 결정한다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sz="3200" b="1" dirty="0">
                <a:solidFill>
                  <a:srgbClr val="0070C0"/>
                </a:solidFill>
              </a:rPr>
              <a:t>Ex</a:t>
            </a:r>
            <a:r>
              <a:rPr lang="en-US" altLang="ko-KR" b="1" dirty="0">
                <a:solidFill>
                  <a:srgbClr val="0070C0"/>
                </a:solidFill>
              </a:rPr>
              <a:t>  )</a:t>
            </a:r>
            <a:r>
              <a:rPr lang="en-US" altLang="ko-KR" sz="2400" b="1" dirty="0"/>
              <a:t>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=10;</a:t>
            </a:r>
          </a:p>
          <a:p>
            <a:pPr marL="0" indent="0">
              <a:buNone/>
            </a:pPr>
            <a:r>
              <a:rPr lang="en-US" altLang="ko-KR" sz="2400" b="1" dirty="0"/>
              <a:t>        do</a:t>
            </a:r>
          </a:p>
          <a:p>
            <a:pPr marL="0" indent="0">
              <a:buNone/>
            </a:pPr>
            <a:r>
              <a:rPr lang="en-US" altLang="ko-KR" sz="2400" b="1" dirty="0"/>
              <a:t>        {</a:t>
            </a:r>
          </a:p>
          <a:p>
            <a:pPr marL="0" indent="0">
              <a:buNone/>
            </a:pPr>
            <a:r>
              <a:rPr lang="en-US" altLang="ko-KR" sz="2400" b="1" dirty="0"/>
              <a:t>           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en-US" altLang="ko-KR" sz="2400" b="1" dirty="0" err="1"/>
              <a:t>do..while</a:t>
            </a:r>
            <a:r>
              <a:rPr lang="ko-KR" altLang="en-US" sz="2400" b="1" dirty="0"/>
              <a:t>문</a:t>
            </a:r>
            <a:r>
              <a:rPr lang="en-US" altLang="ko-KR" sz="2400" b="1" dirty="0"/>
              <a:t>\n”);</a:t>
            </a:r>
          </a:p>
          <a:p>
            <a:pPr marL="0" indent="0">
              <a:buNone/>
            </a:pPr>
            <a:r>
              <a:rPr lang="en-US" altLang="ko-KR" sz="2400" b="1" dirty="0"/>
              <a:t>        } while(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&lt; 3 );</a:t>
            </a:r>
            <a:endParaRPr lang="ko-KR" altLang="en-US" sz="24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-13149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FFA5B41-AD0B-492F-A8DA-A60D4E1266D5}"/>
              </a:ext>
            </a:extLst>
          </p:cNvPr>
          <p:cNvSpPr txBox="1"/>
          <p:nvPr/>
        </p:nvSpPr>
        <p:spPr>
          <a:xfrm>
            <a:off x="5935851" y="5525146"/>
            <a:ext cx="5284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반복 조건이 맞지는 않지만 일단 한번 실행된다</a:t>
            </a:r>
            <a:r>
              <a:rPr lang="en-US" altLang="ko-KR" b="1" dirty="0"/>
              <a:t>.</a:t>
            </a:r>
          </a:p>
          <a:p>
            <a:r>
              <a:rPr lang="en-US" altLang="ko-KR" b="1" dirty="0" err="1"/>
              <a:t>do..while</a:t>
            </a:r>
            <a:r>
              <a:rPr lang="ko-KR" altLang="en-US" b="1" dirty="0"/>
              <a:t>문은 </a:t>
            </a:r>
            <a:r>
              <a:rPr lang="en-US" altLang="ko-KR" b="1" dirty="0"/>
              <a:t>while</a:t>
            </a:r>
            <a:r>
              <a:rPr lang="ko-KR" altLang="en-US" b="1" dirty="0"/>
              <a:t>뒤에 세미콜론을 붙인다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21513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한컴 윤체 B" panose="02020603020101020101" pitchFamily="18" charset="-127"/>
              </a:rPr>
              <a:t> for</a:t>
            </a:r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579080" y="2521576"/>
            <a:ext cx="7106762" cy="4132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0070C0"/>
                </a:solidFill>
              </a:rPr>
              <a:t>형식</a:t>
            </a:r>
            <a:r>
              <a:rPr lang="en-US" altLang="ko-KR" sz="2400" b="1" dirty="0">
                <a:solidFill>
                  <a:srgbClr val="0070C0"/>
                </a:solidFill>
              </a:rPr>
              <a:t>)</a:t>
            </a:r>
            <a:r>
              <a:rPr lang="en-US" altLang="ko-KR" sz="2400" b="1" dirty="0"/>
              <a:t> </a:t>
            </a:r>
            <a:r>
              <a:rPr lang="en-US" altLang="ko-KR" sz="2000" b="1" dirty="0"/>
              <a:t>for (</a:t>
            </a:r>
            <a:r>
              <a:rPr lang="ko-KR" altLang="en-US" sz="2000" b="1" dirty="0" err="1"/>
              <a:t>초기식</a:t>
            </a:r>
            <a:r>
              <a:rPr lang="en-US" altLang="ko-KR" sz="2000" b="1" dirty="0"/>
              <a:t>; </a:t>
            </a:r>
            <a:r>
              <a:rPr lang="ko-KR" altLang="en-US" sz="2000" b="1" dirty="0"/>
              <a:t>조건식</a:t>
            </a:r>
            <a:r>
              <a:rPr lang="en-US" altLang="ko-KR" sz="2000" b="1" dirty="0"/>
              <a:t>; </a:t>
            </a:r>
            <a:r>
              <a:rPr lang="ko-KR" altLang="en-US" sz="2000" b="1" dirty="0" err="1"/>
              <a:t>증감식</a:t>
            </a:r>
            <a:r>
              <a:rPr lang="en-US" altLang="ko-KR" sz="2000" b="1" dirty="0"/>
              <a:t>)</a:t>
            </a:r>
          </a:p>
          <a:p>
            <a:pPr marL="0" indent="0">
              <a:buNone/>
            </a:pPr>
            <a:r>
              <a:rPr lang="en-US" altLang="ko-KR" sz="2000" b="1" dirty="0"/>
              <a:t>              </a:t>
            </a:r>
            <a:r>
              <a:rPr lang="ko-KR" altLang="en-US" sz="2000" b="1" dirty="0"/>
              <a:t>반복문장</a:t>
            </a:r>
            <a:r>
              <a:rPr lang="en-US" altLang="ko-KR" sz="2000" b="1" dirty="0"/>
              <a:t>;</a:t>
            </a:r>
          </a:p>
          <a:p>
            <a:pPr marL="0" indent="0">
              <a:buNone/>
            </a:pPr>
            <a:r>
              <a:rPr lang="ko-KR" altLang="en-US" sz="2400" b="1" dirty="0">
                <a:solidFill>
                  <a:srgbClr val="0070C0"/>
                </a:solidFill>
              </a:rPr>
              <a:t>의미</a:t>
            </a:r>
            <a:r>
              <a:rPr lang="en-US" altLang="ko-KR" sz="2400" b="1" dirty="0">
                <a:solidFill>
                  <a:srgbClr val="0070C0"/>
                </a:solidFill>
              </a:rPr>
              <a:t>)</a:t>
            </a:r>
            <a:r>
              <a:rPr lang="en-US" altLang="ko-KR" sz="2400" b="1" dirty="0"/>
              <a:t> </a:t>
            </a:r>
            <a:r>
              <a:rPr lang="ko-KR" altLang="en-US" sz="2000" b="1" dirty="0">
                <a:solidFill>
                  <a:srgbClr val="FF0000"/>
                </a:solidFill>
              </a:rPr>
              <a:t>초기식</a:t>
            </a:r>
            <a:r>
              <a:rPr lang="ko-KR" altLang="en-US" sz="2000" b="1" dirty="0"/>
              <a:t>을 실행한 후에 </a:t>
            </a:r>
            <a:r>
              <a:rPr lang="ko-KR" altLang="en-US" sz="2000" b="1" dirty="0">
                <a:solidFill>
                  <a:srgbClr val="FF0000"/>
                </a:solidFill>
              </a:rPr>
              <a:t>조건식</a:t>
            </a:r>
            <a:r>
              <a:rPr lang="ko-KR" altLang="en-US" sz="2000" b="1" dirty="0"/>
              <a:t>의 값이 참인 동안 </a:t>
            </a:r>
            <a:endParaRPr lang="en-US" altLang="ko-KR" sz="2000" b="1" dirty="0"/>
          </a:p>
          <a:p>
            <a:pPr marL="0" indent="0">
              <a:buNone/>
            </a:pPr>
            <a:r>
              <a:rPr lang="ko-KR" altLang="en-US" sz="2000" b="1" dirty="0"/>
              <a:t>         반복문장을 실행한다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한번 반복이 끝날 때 마다 </a:t>
            </a:r>
            <a:endParaRPr lang="en-US" altLang="ko-KR" sz="2000" b="1" dirty="0"/>
          </a:p>
          <a:p>
            <a:pPr marL="0" indent="0">
              <a:buNone/>
            </a:pPr>
            <a:r>
              <a:rPr lang="ko-KR" altLang="en-US" sz="2000" b="1" dirty="0"/>
              <a:t>         </a:t>
            </a:r>
            <a:r>
              <a:rPr lang="ko-KR" altLang="en-US" sz="2000" b="1" dirty="0">
                <a:solidFill>
                  <a:srgbClr val="FF0000"/>
                </a:solidFill>
              </a:rPr>
              <a:t>증감식</a:t>
            </a:r>
            <a:r>
              <a:rPr lang="ko-KR" altLang="en-US" sz="2000" b="1" dirty="0"/>
              <a:t>이 실행된다</a:t>
            </a:r>
            <a:r>
              <a:rPr lang="en-US" altLang="ko-KR" sz="2000" b="1" dirty="0"/>
              <a:t>.</a:t>
            </a:r>
            <a:endParaRPr lang="en-US" altLang="ko-KR" sz="2400" b="1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0070C0"/>
                </a:solidFill>
              </a:rPr>
              <a:t>Ex</a:t>
            </a:r>
            <a:r>
              <a:rPr lang="en-US" altLang="ko-KR" sz="2400" b="1" dirty="0">
                <a:solidFill>
                  <a:srgbClr val="0070C0"/>
                </a:solidFill>
              </a:rPr>
              <a:t>  )</a:t>
            </a:r>
            <a:r>
              <a:rPr lang="en-US" altLang="ko-KR" sz="2000" b="1" dirty="0"/>
              <a:t>  for (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=0; 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&lt;10; 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++)</a:t>
            </a:r>
          </a:p>
          <a:p>
            <a:pPr marL="0" indent="0">
              <a:buNone/>
            </a:pPr>
            <a:r>
              <a:rPr lang="en-US" altLang="ko-KR" sz="2000" b="1" dirty="0">
                <a:solidFill>
                  <a:schemeClr val="accent6"/>
                </a:solidFill>
              </a:rPr>
              <a:t>        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(“Hello World!”);</a:t>
            </a:r>
            <a:endParaRPr lang="en-US" altLang="ko-KR" sz="2000" b="1" dirty="0">
              <a:solidFill>
                <a:schemeClr val="accent6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17103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83C0FD1-06BD-458E-9CB9-E6E92DA24B6A}"/>
              </a:ext>
            </a:extLst>
          </p:cNvPr>
          <p:cNvGrpSpPr/>
          <p:nvPr/>
        </p:nvGrpSpPr>
        <p:grpSpPr>
          <a:xfrm>
            <a:off x="6976953" y="2202834"/>
            <a:ext cx="5080729" cy="4176793"/>
            <a:chOff x="6350714" y="1670303"/>
            <a:chExt cx="5670804" cy="4637507"/>
          </a:xfrm>
        </p:grpSpPr>
        <p:sp>
          <p:nvSpPr>
            <p:cNvPr id="2" name="다이아몬드 1">
              <a:extLst>
                <a:ext uri="{FF2B5EF4-FFF2-40B4-BE49-F238E27FC236}">
                  <a16:creationId xmlns:a16="http://schemas.microsoft.com/office/drawing/2014/main" id="{51D2EFB4-824A-49D3-8DF0-C38351E02AE1}"/>
                </a:ext>
              </a:extLst>
            </p:cNvPr>
            <p:cNvSpPr/>
            <p:nvPr/>
          </p:nvSpPr>
          <p:spPr>
            <a:xfrm>
              <a:off x="6709210" y="2706062"/>
              <a:ext cx="3361692" cy="937888"/>
            </a:xfrm>
            <a:prstGeom prst="diamond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조건식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6EF6A19-E45F-459D-8B65-E0DBBABB91C3}"/>
                </a:ext>
              </a:extLst>
            </p:cNvPr>
            <p:cNvSpPr/>
            <p:nvPr/>
          </p:nvSpPr>
          <p:spPr>
            <a:xfrm>
              <a:off x="7211205" y="4110753"/>
              <a:ext cx="2301026" cy="55808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문장</a:t>
              </a:r>
            </a:p>
          </p:txBody>
        </p:sp>
        <p:cxnSp>
          <p:nvCxnSpPr>
            <p:cNvPr id="8" name="연결선: 꺾임 7">
              <a:extLst>
                <a:ext uri="{FF2B5EF4-FFF2-40B4-BE49-F238E27FC236}">
                  <a16:creationId xmlns:a16="http://schemas.microsoft.com/office/drawing/2014/main" id="{B3529CB7-F93B-42C6-B92A-4F9A4BE6F028}"/>
                </a:ext>
              </a:extLst>
            </p:cNvPr>
            <p:cNvCxnSpPr>
              <a:cxnSpLocks/>
              <a:stCxn id="24" idx="0"/>
              <a:endCxn id="37" idx="3"/>
            </p:cNvCxnSpPr>
            <p:nvPr/>
          </p:nvCxnSpPr>
          <p:spPr>
            <a:xfrm rot="16200000" flipV="1">
              <a:off x="9081579" y="2321325"/>
              <a:ext cx="2161407" cy="141744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CA7820A-2F30-4929-85C8-6BF7DB898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90054" y="3644190"/>
              <a:ext cx="1" cy="4835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2DFB56-2164-4B50-A892-E7177CC01C32}"/>
                </a:ext>
              </a:extLst>
            </p:cNvPr>
            <p:cNvSpPr txBox="1"/>
            <p:nvPr/>
          </p:nvSpPr>
          <p:spPr>
            <a:xfrm>
              <a:off x="8456814" y="3666861"/>
              <a:ext cx="716990" cy="410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yes</a:t>
              </a:r>
              <a:endParaRPr lang="ko-KR" altLang="en-US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F434A9-8886-4E18-9E7D-763D12B3C24F}"/>
                </a:ext>
              </a:extLst>
            </p:cNvPr>
            <p:cNvSpPr txBox="1"/>
            <p:nvPr/>
          </p:nvSpPr>
          <p:spPr>
            <a:xfrm>
              <a:off x="6350714" y="2705821"/>
              <a:ext cx="716990" cy="410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no</a:t>
              </a:r>
              <a:endParaRPr lang="ko-KR" altLang="en-US" b="1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95AD758-D641-4D0B-B0BD-25CDCE9E8695}"/>
                </a:ext>
              </a:extLst>
            </p:cNvPr>
            <p:cNvSpPr/>
            <p:nvPr/>
          </p:nvSpPr>
          <p:spPr>
            <a:xfrm>
              <a:off x="9720492" y="4110752"/>
              <a:ext cx="2301026" cy="55808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증감식</a:t>
              </a:r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BDAE65B-8759-4536-A563-CC3FC058B967}"/>
                </a:ext>
              </a:extLst>
            </p:cNvPr>
            <p:cNvSpPr/>
            <p:nvPr/>
          </p:nvSpPr>
          <p:spPr>
            <a:xfrm>
              <a:off x="7152532" y="1670303"/>
              <a:ext cx="2301026" cy="55808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초기식</a:t>
              </a:r>
              <a:endParaRPr lang="ko-KR" altLang="en-US" dirty="0"/>
            </a:p>
          </p:txBody>
        </p: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C10BA282-85FA-41EA-B06E-F5C299ED8EC2}"/>
                </a:ext>
              </a:extLst>
            </p:cNvPr>
            <p:cNvCxnSpPr>
              <a:cxnSpLocks/>
              <a:stCxn id="3" idx="3"/>
              <a:endCxn id="24" idx="1"/>
            </p:cNvCxnSpPr>
            <p:nvPr/>
          </p:nvCxnSpPr>
          <p:spPr>
            <a:xfrm flipV="1">
              <a:off x="9512231" y="4389794"/>
              <a:ext cx="208261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3DA3D8FE-04C8-45E1-A4FB-C2BBF1B2CC45}"/>
                </a:ext>
              </a:extLst>
            </p:cNvPr>
            <p:cNvCxnSpPr>
              <a:cxnSpLocks/>
              <a:stCxn id="2" idx="1"/>
            </p:cNvCxnSpPr>
            <p:nvPr/>
          </p:nvCxnSpPr>
          <p:spPr>
            <a:xfrm rot="10800000" flipH="1" flipV="1">
              <a:off x="6709209" y="3175006"/>
              <a:ext cx="2307069" cy="3132804"/>
            </a:xfrm>
            <a:prstGeom prst="bentConnector4">
              <a:avLst>
                <a:gd name="adj1" fmla="val -9909"/>
                <a:gd name="adj2" fmla="val 5748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498C123A-472F-4114-9F5F-AC07E47380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90054" y="2239259"/>
              <a:ext cx="1" cy="4835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2459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for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예제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4C157ABA-8B63-4F7F-8AB6-BFAA4324CB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3" t="9379" r="67208" b="55141"/>
          <a:stretch/>
        </p:blipFill>
        <p:spPr>
          <a:xfrm>
            <a:off x="1151248" y="1426906"/>
            <a:ext cx="5924418" cy="46572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C5BA19-2FD2-4663-9F17-0E1D5C93C7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590" b="81859"/>
          <a:stretch/>
        </p:blipFill>
        <p:spPr>
          <a:xfrm>
            <a:off x="5295215" y="1208567"/>
            <a:ext cx="6197651" cy="181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471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for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–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286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67D93298-9065-4EE9-B570-9E47DF8B57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450" t="28217" r="31968" b="27571"/>
          <a:stretch/>
        </p:blipFill>
        <p:spPr>
          <a:xfrm>
            <a:off x="1352229" y="1586391"/>
            <a:ext cx="5552872" cy="453544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2D657EA-A708-49F5-A142-B02957BD76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04" t="23078" r="74906" b="59662"/>
          <a:stretch/>
        </p:blipFill>
        <p:spPr>
          <a:xfrm>
            <a:off x="7635819" y="1328423"/>
            <a:ext cx="3820333" cy="23428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94FA199-D6B0-4858-A07D-3CD2C60769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97" t="20293" r="74174" b="68337"/>
          <a:stretch/>
        </p:blipFill>
        <p:spPr>
          <a:xfrm>
            <a:off x="7544916" y="4277888"/>
            <a:ext cx="4372386" cy="170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632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다양한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for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C1C1245-136A-49AC-B7B2-B4071930D0E7}"/>
              </a:ext>
            </a:extLst>
          </p:cNvPr>
          <p:cNvSpPr txBox="1"/>
          <p:nvPr/>
        </p:nvSpPr>
        <p:spPr>
          <a:xfrm>
            <a:off x="1549830" y="2353785"/>
            <a:ext cx="101048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초기식</a:t>
            </a:r>
            <a:r>
              <a:rPr lang="en-US" altLang="ko-KR" b="1" dirty="0"/>
              <a:t>, </a:t>
            </a:r>
            <a:r>
              <a:rPr lang="ko-KR" altLang="en-US" b="1" dirty="0"/>
              <a:t>조건식</a:t>
            </a:r>
            <a:r>
              <a:rPr lang="en-US" altLang="ko-KR" b="1" dirty="0"/>
              <a:t>, </a:t>
            </a:r>
            <a:r>
              <a:rPr lang="ko-KR" altLang="en-US" b="1" dirty="0"/>
              <a:t>증감식에는 아무거나 들어갈 수 있다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예를 들어</a:t>
            </a:r>
            <a:r>
              <a:rPr lang="en-US" altLang="ko-KR" b="1" dirty="0"/>
              <a:t>,</a:t>
            </a:r>
          </a:p>
          <a:p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b="1" dirty="0"/>
              <a:t>for( ; ; )</a:t>
            </a:r>
            <a:r>
              <a:rPr lang="ko-KR" altLang="en-US" b="1" dirty="0"/>
              <a:t>와 같은 </a:t>
            </a:r>
            <a:r>
              <a:rPr lang="en-US" altLang="ko-KR" b="1" dirty="0"/>
              <a:t>for</a:t>
            </a:r>
            <a:r>
              <a:rPr lang="ko-KR" altLang="en-US" b="1" dirty="0"/>
              <a:t>문도 가능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2.  for( ; </a:t>
            </a:r>
            <a:r>
              <a:rPr lang="en-US" altLang="ko-KR" b="1" dirty="0" err="1"/>
              <a:t>i</a:t>
            </a:r>
            <a:r>
              <a:rPr lang="en-US" altLang="ko-KR" b="1" dirty="0"/>
              <a:t>&lt;10 ; </a:t>
            </a:r>
            <a:r>
              <a:rPr lang="en-US" altLang="ko-KR" b="1" dirty="0" err="1"/>
              <a:t>i</a:t>
            </a:r>
            <a:r>
              <a:rPr lang="en-US" altLang="ko-KR" b="1" dirty="0"/>
              <a:t>++ )</a:t>
            </a:r>
            <a:r>
              <a:rPr lang="ko-KR" altLang="en-US" b="1" dirty="0"/>
              <a:t>와 같이 하나가 빠져도 된다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pPr marL="342900" indent="-342900">
              <a:buAutoNum type="arabicPeriod" startAt="3"/>
            </a:pPr>
            <a:r>
              <a:rPr lang="en-US" altLang="ko-KR" b="1" dirty="0"/>
              <a:t>for( </a:t>
            </a:r>
            <a:r>
              <a:rPr lang="en-US" altLang="ko-KR" b="1" dirty="0" err="1"/>
              <a:t>printf</a:t>
            </a:r>
            <a:r>
              <a:rPr lang="en-US" altLang="ko-KR" b="1" dirty="0"/>
              <a:t>(“</a:t>
            </a:r>
            <a:r>
              <a:rPr lang="ko-KR" altLang="en-US" b="1" dirty="0"/>
              <a:t>반복 시작</a:t>
            </a:r>
            <a:r>
              <a:rPr lang="en-US" altLang="ko-KR" b="1" dirty="0"/>
              <a:t>\n”);</a:t>
            </a:r>
            <a:r>
              <a:rPr lang="en-US" altLang="ko-KR" b="1" dirty="0" err="1"/>
              <a:t>i</a:t>
            </a:r>
            <a:r>
              <a:rPr lang="en-US" altLang="ko-KR" b="1" dirty="0"/>
              <a:t>&lt;3 ;</a:t>
            </a:r>
            <a:r>
              <a:rPr lang="en-US" altLang="ko-KR" b="1" dirty="0" err="1"/>
              <a:t>i</a:t>
            </a:r>
            <a:r>
              <a:rPr lang="en-US" altLang="ko-KR" b="1" dirty="0"/>
              <a:t>++ ) </a:t>
            </a:r>
            <a:r>
              <a:rPr lang="ko-KR" altLang="en-US" b="1" dirty="0"/>
              <a:t>같이 출력문장이 들어가도 된다</a:t>
            </a:r>
            <a:r>
              <a:rPr lang="en-US" altLang="ko-KR" b="1" dirty="0"/>
              <a:t>.</a:t>
            </a:r>
          </a:p>
          <a:p>
            <a:pPr marL="342900" indent="-342900">
              <a:buAutoNum type="arabicPeriod" startAt="3"/>
            </a:pPr>
            <a:endParaRPr lang="en-US" altLang="ko-KR" b="1" dirty="0"/>
          </a:p>
          <a:p>
            <a:pPr marL="342900" indent="-342900">
              <a:buAutoNum type="arabicPeriod" startAt="3"/>
            </a:pPr>
            <a:r>
              <a:rPr lang="en-US" altLang="ko-KR" b="1" dirty="0"/>
              <a:t>for( </a:t>
            </a:r>
            <a:r>
              <a:rPr lang="en-US" altLang="ko-KR" b="1" dirty="0" err="1"/>
              <a:t>int</a:t>
            </a:r>
            <a:r>
              <a:rPr lang="ko-KR" altLang="en-US" b="1" dirty="0"/>
              <a:t> </a:t>
            </a:r>
            <a:r>
              <a:rPr lang="en-US" altLang="ko-KR" b="1" dirty="0" err="1"/>
              <a:t>i</a:t>
            </a:r>
            <a:r>
              <a:rPr lang="en-US" altLang="ko-KR" b="1" dirty="0"/>
              <a:t>=0; </a:t>
            </a:r>
            <a:r>
              <a:rPr lang="en-US" altLang="ko-KR" b="1" dirty="0" err="1"/>
              <a:t>i</a:t>
            </a:r>
            <a:r>
              <a:rPr lang="en-US" altLang="ko-KR" b="1" dirty="0"/>
              <a:t>&lt;10; </a:t>
            </a:r>
            <a:r>
              <a:rPr lang="en-US" altLang="ko-KR" b="1" dirty="0" err="1"/>
              <a:t>i</a:t>
            </a:r>
            <a:r>
              <a:rPr lang="en-US" altLang="ko-KR" b="1" dirty="0"/>
              <a:t>++) </a:t>
            </a:r>
            <a:r>
              <a:rPr lang="ko-KR" altLang="en-US" b="1" dirty="0"/>
              <a:t>과 같이 초기식에 변수를 선언하여도 된다</a:t>
            </a:r>
            <a:r>
              <a:rPr lang="en-US" altLang="ko-KR" b="1" dirty="0"/>
              <a:t>.</a:t>
            </a:r>
          </a:p>
          <a:p>
            <a:pPr marL="342900" indent="-342900">
              <a:buAutoNum type="arabicPeriod" startAt="3"/>
            </a:pPr>
            <a:endParaRPr lang="en-US" altLang="ko-KR" b="1" dirty="0"/>
          </a:p>
          <a:p>
            <a:r>
              <a:rPr lang="en-US" altLang="ko-KR" b="1" dirty="0">
                <a:solidFill>
                  <a:srgbClr val="FF0000"/>
                </a:solidFill>
              </a:rPr>
              <a:t>But))) </a:t>
            </a:r>
            <a:r>
              <a:rPr lang="ko-KR" altLang="en-US" b="1" dirty="0">
                <a:solidFill>
                  <a:srgbClr val="FF0000"/>
                </a:solidFill>
              </a:rPr>
              <a:t>초기식에서 선언한 변수 </a:t>
            </a:r>
            <a:r>
              <a:rPr lang="en-US" altLang="ko-KR" b="1" dirty="0" err="1">
                <a:solidFill>
                  <a:srgbClr val="FF0000"/>
                </a:solidFill>
              </a:rPr>
              <a:t>i</a:t>
            </a:r>
            <a:r>
              <a:rPr lang="ko-KR" altLang="en-US" b="1" dirty="0">
                <a:solidFill>
                  <a:srgbClr val="FF0000"/>
                </a:solidFill>
              </a:rPr>
              <a:t>는 </a:t>
            </a:r>
            <a:r>
              <a:rPr lang="en-US" altLang="ko-KR" b="1" dirty="0">
                <a:solidFill>
                  <a:srgbClr val="FF0000"/>
                </a:solidFill>
              </a:rPr>
              <a:t>for</a:t>
            </a:r>
            <a:r>
              <a:rPr lang="ko-KR" altLang="en-US" b="1" dirty="0">
                <a:solidFill>
                  <a:srgbClr val="FF0000"/>
                </a:solidFill>
              </a:rPr>
              <a:t>문 안에서만 사용 가능하다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  <a:r>
              <a:rPr lang="ko-KR" altLang="en-US" b="1" dirty="0">
                <a:solidFill>
                  <a:srgbClr val="FF0000"/>
                </a:solidFill>
              </a:rPr>
              <a:t>이에 관련해서는 뒤에서 배움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670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중첩반복문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1624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3CF363E6-400D-4538-9121-DAF462373B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6" t="10283" r="71657" b="55932"/>
          <a:stretch/>
        </p:blipFill>
        <p:spPr>
          <a:xfrm>
            <a:off x="712414" y="1269392"/>
            <a:ext cx="5925483" cy="520743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AB288AC-1D7B-42D7-AC49-F82AF7BA3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338" b="70550"/>
          <a:stretch/>
        </p:blipFill>
        <p:spPr>
          <a:xfrm>
            <a:off x="6877623" y="1269392"/>
            <a:ext cx="4846557" cy="235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12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break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와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continue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7749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CDE637-9CAC-48EC-BCAD-78449E549F16}"/>
              </a:ext>
            </a:extLst>
          </p:cNvPr>
          <p:cNvSpPr txBox="1"/>
          <p:nvPr/>
        </p:nvSpPr>
        <p:spPr>
          <a:xfrm>
            <a:off x="1924050" y="1503336"/>
            <a:ext cx="864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break </a:t>
            </a:r>
            <a:r>
              <a:rPr lang="ko-KR" altLang="en-US" b="1" dirty="0"/>
              <a:t>문은 루프를 빠져나갈 때 사용한다</a:t>
            </a:r>
            <a:r>
              <a:rPr lang="en-US" altLang="ko-KR" b="1" dirty="0"/>
              <a:t>. </a:t>
            </a:r>
            <a:r>
              <a:rPr lang="ko-KR" altLang="en-US" b="1" dirty="0"/>
              <a:t>반복문이나 조건검사시에 유용하다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72CF1C-3292-4651-82AB-9524A80EC8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97" t="9831" r="54708" b="59096"/>
          <a:stretch/>
        </p:blipFill>
        <p:spPr>
          <a:xfrm>
            <a:off x="472688" y="2487170"/>
            <a:ext cx="8091405" cy="381454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DDF1A19-C4DD-4CB1-9CC5-DC34881536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0" t="2147" r="79922" b="83297"/>
          <a:stretch/>
        </p:blipFill>
        <p:spPr>
          <a:xfrm>
            <a:off x="6575790" y="2193480"/>
            <a:ext cx="5481892" cy="272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24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break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와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continue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7749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CDE637-9CAC-48EC-BCAD-78449E549F16}"/>
              </a:ext>
            </a:extLst>
          </p:cNvPr>
          <p:cNvSpPr txBox="1"/>
          <p:nvPr/>
        </p:nvSpPr>
        <p:spPr>
          <a:xfrm>
            <a:off x="1924050" y="1503336"/>
            <a:ext cx="864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Continue </a:t>
            </a:r>
            <a:r>
              <a:rPr lang="ko-KR" altLang="en-US" b="1" dirty="0"/>
              <a:t>문은 반복과정의 나머지를 무시하고 다음 루프로 넘어갈 때 사용한다</a:t>
            </a:r>
            <a:r>
              <a:rPr lang="en-US" altLang="ko-KR" b="1" dirty="0"/>
              <a:t>. 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FF25B0-B81A-4451-9ED8-A8F24E9064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49" t="9605" r="55062" b="59322"/>
          <a:stretch/>
        </p:blipFill>
        <p:spPr>
          <a:xfrm>
            <a:off x="351134" y="2300058"/>
            <a:ext cx="9214097" cy="435502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61D4D1C-DD4E-454F-9F24-1AEB983ADE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56097" b="54719"/>
          <a:stretch/>
        </p:blipFill>
        <p:spPr>
          <a:xfrm>
            <a:off x="7604536" y="2045470"/>
            <a:ext cx="4508796" cy="24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433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05204" y="-295445"/>
            <a:ext cx="10515600" cy="1325563"/>
          </a:xfrm>
        </p:spPr>
        <p:txBody>
          <a:bodyPr/>
          <a:lstStyle/>
          <a:p>
            <a:r>
              <a:rPr lang="ko-KR" altLang="en-US" b="1" dirty="0"/>
              <a:t>다음주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A4D4B-A76B-40B2-AB6C-14F9EAC9C9A0}"/>
              </a:ext>
            </a:extLst>
          </p:cNvPr>
          <p:cNvSpPr txBox="1"/>
          <p:nvPr/>
        </p:nvSpPr>
        <p:spPr>
          <a:xfrm>
            <a:off x="3631029" y="3091287"/>
            <a:ext cx="4617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/>
              <a:t>함수와 변수</a:t>
            </a:r>
          </a:p>
        </p:txBody>
      </p:sp>
    </p:spTree>
    <p:extLst>
      <p:ext uri="{BB962C8B-B14F-4D97-AF65-F5344CB8AC3E}">
        <p14:creationId xmlns:p14="http://schemas.microsoft.com/office/powerpoint/2010/main" val="7853133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11950" y="3339574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12025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2148</TotalTime>
  <Words>1883</Words>
  <Application>Microsoft Office PowerPoint</Application>
  <PresentationFormat>와이드스크린</PresentationFormat>
  <Paragraphs>328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맑은 고딕</vt:lpstr>
      <vt:lpstr>한컴 윤체 B</vt:lpstr>
      <vt:lpstr>휴먼매직체</vt:lpstr>
      <vt:lpstr>Arial</vt:lpstr>
      <vt:lpstr>Consolas</vt:lpstr>
      <vt:lpstr>Wingdings</vt:lpstr>
      <vt:lpstr>Office 테마</vt:lpstr>
      <vt:lpstr>C 언어 스터디 3주차 </vt:lpstr>
      <vt:lpstr>복습</vt:lpstr>
      <vt:lpstr>제어문</vt:lpstr>
      <vt:lpstr> if 문</vt:lpstr>
      <vt:lpstr> 복합문 (블록)</vt:lpstr>
      <vt:lpstr> if 문 예제 (절대값 구하기)</vt:lpstr>
      <vt:lpstr> if – else 문</vt:lpstr>
      <vt:lpstr> 조건문과 조건 연산자</vt:lpstr>
      <vt:lpstr> if - else문 예제</vt:lpstr>
      <vt:lpstr> 복잡한 조건식</vt:lpstr>
      <vt:lpstr> 다중 if 문</vt:lpstr>
      <vt:lpstr> 중첩 if문에서 else절 매칭</vt:lpstr>
      <vt:lpstr> 연속적인 if 문</vt:lpstr>
      <vt:lpstr> 연속적인 if 문</vt:lpstr>
      <vt:lpstr> switch문</vt:lpstr>
      <vt:lpstr> switch문 - break</vt:lpstr>
      <vt:lpstr> switch문 - break</vt:lpstr>
      <vt:lpstr>중간 퀴즈</vt:lpstr>
      <vt:lpstr>제어문</vt:lpstr>
      <vt:lpstr>반복문의 필요성</vt:lpstr>
      <vt:lpstr>while문</vt:lpstr>
      <vt:lpstr>while문 - 예제</vt:lpstr>
      <vt:lpstr>while문 - 예제</vt:lpstr>
      <vt:lpstr>while문 - 센티널</vt:lpstr>
      <vt:lpstr>while문 - 센티널</vt:lpstr>
      <vt:lpstr>while문 - 주의할점</vt:lpstr>
      <vt:lpstr>while문 - 주의할점</vt:lpstr>
      <vt:lpstr>do...while문</vt:lpstr>
      <vt:lpstr> for문</vt:lpstr>
      <vt:lpstr> for문 - 예제</vt:lpstr>
      <vt:lpstr> for문 – while문</vt:lpstr>
      <vt:lpstr> 다양한 for문</vt:lpstr>
      <vt:lpstr> 중첩반복문</vt:lpstr>
      <vt:lpstr> break와 continue</vt:lpstr>
      <vt:lpstr> break와 continue</vt:lpstr>
      <vt:lpstr>다음주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sera</dc:creator>
  <cp:lastModifiedBy>이우열</cp:lastModifiedBy>
  <cp:revision>172</cp:revision>
  <dcterms:created xsi:type="dcterms:W3CDTF">2016-06-26T11:40:01Z</dcterms:created>
  <dcterms:modified xsi:type="dcterms:W3CDTF">2019-07-07T09:06:24Z</dcterms:modified>
</cp:coreProperties>
</file>