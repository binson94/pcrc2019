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5" r:id="rId1"/>
  </p:sldMasterIdLst>
  <p:sldIdLst>
    <p:sldId id="260" r:id="rId2"/>
    <p:sldId id="261" r:id="rId3"/>
    <p:sldId id="310" r:id="rId4"/>
    <p:sldId id="275" r:id="rId5"/>
    <p:sldId id="311" r:id="rId6"/>
    <p:sldId id="312" r:id="rId7"/>
    <p:sldId id="313" r:id="rId8"/>
    <p:sldId id="314" r:id="rId9"/>
    <p:sldId id="276" r:id="rId10"/>
    <p:sldId id="315" r:id="rId11"/>
    <p:sldId id="316" r:id="rId12"/>
    <p:sldId id="300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5" r:id="rId21"/>
    <p:sldId id="326" r:id="rId22"/>
    <p:sldId id="32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6340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7425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5290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2060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6417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5156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385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549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8961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970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1148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FD9F2-3F14-4585-A92A-001A16360462}" type="datetimeFigureOut">
              <a:rPr lang="ko-KR" altLang="en-US" smtClean="0"/>
              <a:t>2019-12-29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32F639-A394-47EE-A8B9-2AD7C9275A5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5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</p:grpSpPr>
        <p:sp>
          <p:nvSpPr>
            <p:cNvPr id="4" name="직사각형 3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838200" y="1407049"/>
            <a:ext cx="10515600" cy="5026025"/>
          </a:xfrm>
        </p:spPr>
        <p:txBody>
          <a:bodyPr>
            <a:normAutofit/>
          </a:bodyPr>
          <a:lstStyle/>
          <a:p>
            <a:pPr algn="ctr"/>
            <a:r>
              <a:rPr lang="en-US" altLang="ko-KR" sz="6600" dirty="0" err="1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c++</a:t>
            </a:r>
            <a:r>
              <a:rPr lang="ko-KR" altLang="en-US" sz="6600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ko-KR" altLang="en-US" sz="66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스터디 </a:t>
            </a:r>
            <a:r>
              <a:rPr lang="en-US" altLang="ko-KR" sz="66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1</a:t>
            </a:r>
            <a:r>
              <a:rPr lang="ko-KR" altLang="en-US" sz="6600" dirty="0">
                <a:latin typeface="휴먼매직체" panose="02030504000101010101" pitchFamily="18" charset="-127"/>
                <a:ea typeface="휴먼매직체" panose="02030504000101010101" pitchFamily="18" charset="-127"/>
              </a:rPr>
              <a:t>주차 </a:t>
            </a:r>
          </a:p>
        </p:txBody>
      </p:sp>
    </p:spTree>
    <p:extLst>
      <p:ext uri="{BB962C8B-B14F-4D97-AF65-F5344CB8AC3E}">
        <p14:creationId xmlns:p14="http://schemas.microsoft.com/office/powerpoint/2010/main" val="2906675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179535" y="-217765"/>
            <a:ext cx="10515600" cy="1325563"/>
          </a:xfrm>
        </p:spPr>
        <p:txBody>
          <a:bodyPr/>
          <a:lstStyle/>
          <a:p>
            <a:r>
              <a:rPr lang="en-US" altLang="ko-KR" b="1" dirty="0" smtClean="0"/>
              <a:t>C++</a:t>
            </a:r>
            <a:endParaRPr lang="ko-KR" altLang="en-US" b="1" dirty="0"/>
          </a:p>
        </p:txBody>
      </p:sp>
      <p:sp>
        <p:nvSpPr>
          <p:cNvPr id="18" name="내용 개체 틀 17"/>
          <p:cNvSpPr>
            <a:spLocks noGrp="1"/>
          </p:cNvSpPr>
          <p:nvPr>
            <p:ph idx="1"/>
          </p:nvPr>
        </p:nvSpPr>
        <p:spPr>
          <a:xfrm>
            <a:off x="838200" y="2318686"/>
            <a:ext cx="10515600" cy="4351338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en-US" altLang="ko-KR" b="1" dirty="0"/>
              <a:t>“</a:t>
            </a:r>
            <a:r>
              <a:rPr lang="ko-KR" altLang="en-US" b="1" dirty="0"/>
              <a:t>절차 지향적 언어</a:t>
            </a:r>
            <a:r>
              <a:rPr lang="en-US" altLang="ko-KR" b="1" dirty="0"/>
              <a:t>“  vs. “</a:t>
            </a:r>
            <a:r>
              <a:rPr lang="ko-KR" altLang="en-US" b="1" dirty="0"/>
              <a:t>객체 지향적 언어</a:t>
            </a:r>
            <a:r>
              <a:rPr lang="en-US" altLang="ko-KR" b="1" dirty="0" smtClean="0"/>
              <a:t>”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116279" y="2121894"/>
            <a:ext cx="3182471" cy="801500"/>
          </a:xfrm>
          <a:prstGeom prst="rect">
            <a:avLst/>
          </a:prstGeom>
          <a:noFill/>
          <a:ln w="952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" name="그룹 15"/>
          <p:cNvGrpSpPr/>
          <p:nvPr/>
        </p:nvGrpSpPr>
        <p:grpSpPr>
          <a:xfrm>
            <a:off x="0" y="1464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이등변 삼각형 19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28386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179535" y="-217765"/>
            <a:ext cx="10515600" cy="1325563"/>
          </a:xfrm>
        </p:spPr>
        <p:txBody>
          <a:bodyPr/>
          <a:lstStyle/>
          <a:p>
            <a:r>
              <a:rPr lang="ko-KR" altLang="en-US" b="1" dirty="0" smtClean="0"/>
              <a:t>객체</a:t>
            </a:r>
            <a:r>
              <a:rPr lang="en-US" altLang="ko-KR" b="1" dirty="0" smtClean="0"/>
              <a:t>?</a:t>
            </a:r>
            <a:endParaRPr lang="ko-KR" altLang="en-US" b="1" dirty="0"/>
          </a:p>
        </p:txBody>
      </p:sp>
      <p:sp>
        <p:nvSpPr>
          <p:cNvPr id="18" name="내용 개체 틀 17"/>
          <p:cNvSpPr>
            <a:spLocks noGrp="1"/>
          </p:cNvSpPr>
          <p:nvPr>
            <p:ph idx="1"/>
          </p:nvPr>
        </p:nvSpPr>
        <p:spPr>
          <a:xfrm>
            <a:off x="838200" y="2318686"/>
            <a:ext cx="10515600" cy="4351338"/>
          </a:xfrm>
        </p:spPr>
        <p:txBody>
          <a:bodyPr/>
          <a:lstStyle/>
          <a:p>
            <a:r>
              <a:rPr lang="en-US" altLang="ko-KR" b="1" dirty="0"/>
              <a:t> </a:t>
            </a:r>
            <a:r>
              <a:rPr lang="ko-KR" altLang="en-US" b="1" dirty="0" smtClean="0"/>
              <a:t>객체 지향 언어를 이루는 기본 요소</a:t>
            </a:r>
            <a:endParaRPr lang="en-US" altLang="ko-KR" b="1" dirty="0" smtClean="0"/>
          </a:p>
          <a:p>
            <a:endParaRPr lang="en-US" altLang="ko-KR" b="1" dirty="0" smtClean="0"/>
          </a:p>
          <a:p>
            <a:endParaRPr lang="en-US" altLang="ko-KR" b="1" dirty="0"/>
          </a:p>
          <a:p>
            <a:r>
              <a:rPr lang="ko-KR" altLang="en-US" b="1" dirty="0" smtClean="0"/>
              <a:t>자세한 내용은 앞으로 할 것</a:t>
            </a:r>
            <a:endParaRPr lang="en-US" altLang="ko-KR" b="1" dirty="0"/>
          </a:p>
          <a:p>
            <a:pPr marL="0" indent="0">
              <a:buNone/>
            </a:pPr>
            <a:endParaRPr lang="ko-KR" altLang="en-US" b="1" dirty="0"/>
          </a:p>
        </p:txBody>
      </p:sp>
      <p:grpSp>
        <p:nvGrpSpPr>
          <p:cNvPr id="16" name="그룹 15"/>
          <p:cNvGrpSpPr/>
          <p:nvPr/>
        </p:nvGrpSpPr>
        <p:grpSpPr>
          <a:xfrm>
            <a:off x="0" y="1464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이등변 삼각형 19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타원 25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03793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99265" y="-243500"/>
            <a:ext cx="10515600" cy="1325563"/>
          </a:xfrm>
        </p:spPr>
        <p:txBody>
          <a:bodyPr/>
          <a:lstStyle/>
          <a:p>
            <a:r>
              <a:rPr lang="ko-KR" altLang="en-US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표준 입출력</a:t>
            </a:r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(C)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592551" y="2366467"/>
            <a:ext cx="10515600" cy="336790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b="1" dirty="0" smtClean="0">
                <a:latin typeface="Consolas" panose="020B0609020204030204" pitchFamily="49" charset="0"/>
              </a:rPr>
              <a:t>C++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에서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C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의 라이브러리 함수 사용 가능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(</a:t>
            </a:r>
            <a:r>
              <a:rPr lang="en-US" altLang="ko-KR" sz="2400" b="1" dirty="0" err="1" smtClean="0">
                <a:latin typeface="Consolas" panose="020B0609020204030204" pitchFamily="49" charset="0"/>
              </a:rPr>
              <a:t>stdio.h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등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이용 가능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altLang="ko-KR" sz="2400" b="1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 smtClean="0">
                <a:latin typeface="Consolas" panose="020B0609020204030204" pitchFamily="49" charset="0"/>
              </a:rPr>
              <a:t>단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, C++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만의 라이브러리와 호환을 위해선 </a:t>
            </a:r>
            <a:r>
              <a:rPr lang="en-US" altLang="ko-KR" sz="2400" b="1" dirty="0" err="1" smtClean="0">
                <a:latin typeface="Consolas" panose="020B0609020204030204" pitchFamily="49" charset="0"/>
              </a:rPr>
              <a:t>cstdio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로 변경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b="1" dirty="0" smtClean="0">
                <a:latin typeface="Consolas" panose="020B0609020204030204" pitchFamily="49" charset="0"/>
              </a:rPr>
              <a:t>(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추후 다시 설명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altLang="ko-KR" sz="2400" b="1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lang="ko-KR" altLang="en-US" sz="2400" b="1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A5BAED-C42A-4E36-BF3D-A384E4DAB964}"/>
              </a:ext>
            </a:extLst>
          </p:cNvPr>
          <p:cNvSpPr txBox="1"/>
          <p:nvPr/>
        </p:nvSpPr>
        <p:spPr>
          <a:xfrm>
            <a:off x="1437471" y="1466849"/>
            <a:ext cx="2958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/>
              <a:t>stdio.h</a:t>
            </a:r>
            <a:endParaRPr lang="ko-KR" altLang="en-US" sz="3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A5BAED-C42A-4E36-BF3D-A384E4DAB964}"/>
              </a:ext>
            </a:extLst>
          </p:cNvPr>
          <p:cNvSpPr txBox="1"/>
          <p:nvPr/>
        </p:nvSpPr>
        <p:spPr>
          <a:xfrm>
            <a:off x="6410524" y="1466849"/>
            <a:ext cx="2958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/>
              <a:t>printf</a:t>
            </a:r>
            <a:r>
              <a:rPr lang="en-US" altLang="ko-KR" sz="3600" b="1" dirty="0" smtClean="0"/>
              <a:t>, </a:t>
            </a:r>
            <a:r>
              <a:rPr lang="en-US" altLang="ko-KR" sz="3600" b="1" dirty="0" err="1" smtClean="0"/>
              <a:t>scanf</a:t>
            </a:r>
            <a:endParaRPr lang="ko-KR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7773035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99265" y="-243500"/>
            <a:ext cx="10515600" cy="1325563"/>
          </a:xfrm>
        </p:spPr>
        <p:txBody>
          <a:bodyPr/>
          <a:lstStyle/>
          <a:p>
            <a:r>
              <a:rPr lang="ko-KR" altLang="en-US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표준 입출력</a:t>
            </a:r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(C++)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592551" y="2366466"/>
            <a:ext cx="10515600" cy="431568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b="1" dirty="0" smtClean="0">
                <a:latin typeface="Consolas" panose="020B0609020204030204" pitchFamily="49" charset="0"/>
              </a:rPr>
              <a:t>input/output stream </a:t>
            </a:r>
            <a:r>
              <a:rPr lang="en-US" altLang="ko-KR" sz="2400" b="1" dirty="0" smtClean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2400" b="1" dirty="0" smtClean="0">
                <a:solidFill>
                  <a:srgbClr val="FF0000"/>
                </a:solidFill>
                <a:latin typeface="Consolas" panose="020B0609020204030204" pitchFamily="49" charset="0"/>
              </a:rPr>
              <a:t>뒤에 </a:t>
            </a:r>
            <a:r>
              <a:rPr lang="en-US" altLang="ko-KR" sz="2400" b="1" dirty="0" smtClean="0">
                <a:solidFill>
                  <a:srgbClr val="FF0000"/>
                </a:solidFill>
                <a:latin typeface="Consolas" panose="020B0609020204030204" pitchFamily="49" charset="0"/>
              </a:rPr>
              <a:t>.h</a:t>
            </a:r>
            <a:r>
              <a:rPr lang="ko-KR" altLang="en-US" sz="2400" b="1" dirty="0" smtClean="0">
                <a:solidFill>
                  <a:srgbClr val="FF0000"/>
                </a:solidFill>
                <a:latin typeface="Consolas" panose="020B0609020204030204" pitchFamily="49" charset="0"/>
              </a:rPr>
              <a:t>가 붙지 않음</a:t>
            </a:r>
            <a:r>
              <a:rPr lang="en-US" altLang="ko-KR" sz="2400" b="1" dirty="0" smtClean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</a:pPr>
            <a:endParaRPr lang="en-US" altLang="ko-KR" sz="2400" b="1" dirty="0" smtClean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 err="1" smtClean="0">
                <a:latin typeface="Consolas" panose="020B0609020204030204" pitchFamily="49" charset="0"/>
              </a:rPr>
              <a:t>cout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, </a:t>
            </a:r>
            <a:r>
              <a:rPr lang="en-US" altLang="ko-KR" sz="2400" b="1" dirty="0" err="1" smtClean="0">
                <a:latin typeface="Consolas" panose="020B0609020204030204" pitchFamily="49" charset="0"/>
              </a:rPr>
              <a:t>cin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은 </a:t>
            </a:r>
            <a:r>
              <a:rPr lang="en-US" altLang="ko-KR" sz="2400" b="1" dirty="0" err="1" smtClean="0">
                <a:latin typeface="Consolas" panose="020B0609020204030204" pitchFamily="49" charset="0"/>
              </a:rPr>
              <a:t>iostream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헤더에 정의된 표준 입출력 객체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lang="en-US" altLang="ko-KR" sz="2400" b="1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altLang="ko-KR" sz="2400" b="1" dirty="0" smtClean="0">
                <a:latin typeface="Consolas" panose="020B0609020204030204" pitchFamily="49" charset="0"/>
              </a:rPr>
              <a:t>&lt;&lt;, &gt;&gt;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연산자와 함께 사용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(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연산자 오버로딩에서 더 자세히 설명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 smtClean="0">
                <a:latin typeface="Consolas" panose="020B0609020204030204" pitchFamily="49" charset="0"/>
              </a:rPr>
              <a:t>연속해서 사용 가능</a:t>
            </a:r>
            <a:endParaRPr lang="en-US" altLang="ko-KR" sz="2400" b="1" dirty="0"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lang="ko-KR" altLang="en-US" sz="2400" b="1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A5BAED-C42A-4E36-BF3D-A384E4DAB964}"/>
              </a:ext>
            </a:extLst>
          </p:cNvPr>
          <p:cNvSpPr txBox="1"/>
          <p:nvPr/>
        </p:nvSpPr>
        <p:spPr>
          <a:xfrm>
            <a:off x="1437471" y="1466849"/>
            <a:ext cx="2958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/>
              <a:t>iostream</a:t>
            </a:r>
            <a:endParaRPr lang="ko-KR" altLang="en-US" sz="3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A5BAED-C42A-4E36-BF3D-A384E4DAB964}"/>
              </a:ext>
            </a:extLst>
          </p:cNvPr>
          <p:cNvSpPr txBox="1"/>
          <p:nvPr/>
        </p:nvSpPr>
        <p:spPr>
          <a:xfrm>
            <a:off x="6410524" y="1466849"/>
            <a:ext cx="2958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600" b="1" dirty="0" err="1" smtClean="0"/>
              <a:t>cout</a:t>
            </a:r>
            <a:r>
              <a:rPr lang="en-US" altLang="ko-KR" sz="3600" b="1" dirty="0" smtClean="0"/>
              <a:t>, </a:t>
            </a:r>
            <a:r>
              <a:rPr lang="en-US" altLang="ko-KR" sz="3600" b="1" dirty="0" err="1" smtClean="0"/>
              <a:t>cin</a:t>
            </a:r>
            <a:endParaRPr lang="ko-KR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214272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99265" y="-243500"/>
            <a:ext cx="10515600" cy="1325563"/>
          </a:xfrm>
        </p:spPr>
        <p:txBody>
          <a:bodyPr/>
          <a:lstStyle/>
          <a:p>
            <a:r>
              <a:rPr lang="ko-KR" altLang="en-US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표준 입출력</a:t>
            </a:r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(C++)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8739" y="2239963"/>
            <a:ext cx="8620500" cy="320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63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1239549" y="878142"/>
            <a:ext cx="10515600" cy="1325563"/>
          </a:xfrm>
        </p:spPr>
        <p:txBody>
          <a:bodyPr/>
          <a:lstStyle/>
          <a:p>
            <a:r>
              <a:rPr lang="en-US" altLang="ko-KR" dirty="0"/>
              <a:t> </a:t>
            </a:r>
            <a:r>
              <a:rPr lang="en-US" altLang="ko-KR" sz="3600" b="1" dirty="0" err="1" smtClean="0">
                <a:latin typeface="Consolas" panose="020B0609020204030204" pitchFamily="49" charset="0"/>
              </a:rPr>
              <a:t>std</a:t>
            </a:r>
            <a:endParaRPr lang="ko-KR" altLang="en-US" b="1" dirty="0">
              <a:latin typeface="Consolas" panose="020B0609020204030204" pitchFamily="49" charset="0"/>
            </a:endParaRPr>
          </a:p>
        </p:txBody>
      </p:sp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altLang="ko-KR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ko-KR" altLang="en-US" sz="2400" dirty="0">
                <a:latin typeface="Consolas" panose="020B0609020204030204" pitchFamily="49" charset="0"/>
              </a:rPr>
              <a:t>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서로 다른 라이브러리끼리 함수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,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변수 등의 이름 충돌 가능성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ko-KR" sz="2400" b="1" dirty="0" smtClean="0">
                <a:latin typeface="Consolas" panose="020B0609020204030204" pitchFamily="49" charset="0"/>
              </a:rPr>
              <a:t>-&gt; namespace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이용</a:t>
            </a:r>
            <a:endParaRPr lang="en-US" altLang="ko-KR" sz="2400" b="1" dirty="0">
              <a:latin typeface="Consolas" panose="020B0609020204030204" pitchFamily="49" charset="0"/>
            </a:endParaRPr>
          </a:p>
          <a:p>
            <a:endParaRPr lang="en-US" altLang="ko-KR" sz="2400" dirty="0"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서로 다른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namespace</a:t>
            </a:r>
            <a:r>
              <a:rPr lang="ko-KR" altLang="en-US" sz="2400" b="1" dirty="0" err="1" smtClean="0">
                <a:latin typeface="Consolas" panose="020B0609020204030204" pitchFamily="49" charset="0"/>
              </a:rPr>
              <a:t>끼리는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 이름 겹치기 가능</a:t>
            </a:r>
            <a:endParaRPr lang="ko-KR" altLang="en-US" sz="2400" b="1" dirty="0">
              <a:latin typeface="Consolas" panose="020B0609020204030204" pitchFamily="49" charset="0"/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Namespace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4405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Namespace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79"/>
          <a:stretch/>
        </p:blipFill>
        <p:spPr>
          <a:xfrm>
            <a:off x="351134" y="1278570"/>
            <a:ext cx="6207928" cy="5169927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68" r="17180"/>
          <a:stretch/>
        </p:blipFill>
        <p:spPr>
          <a:xfrm>
            <a:off x="6559062" y="2058986"/>
            <a:ext cx="5325208" cy="212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535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1239549" y="878142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3600" b="1" dirty="0">
                <a:latin typeface="Consolas" panose="020B0609020204030204" pitchFamily="49" charset="0"/>
              </a:rPr>
              <a:t> </a:t>
            </a:r>
            <a:r>
              <a:rPr lang="en-US" altLang="ko-KR" sz="3600" b="1" dirty="0" smtClean="0">
                <a:latin typeface="Consolas" panose="020B0609020204030204" pitchFamily="49" charset="0"/>
              </a:rPr>
              <a:t>using ~~~</a:t>
            </a:r>
            <a:endParaRPr lang="ko-KR" altLang="en-US" sz="3600" b="1" dirty="0">
              <a:latin typeface="Consolas" panose="020B0609020204030204" pitchFamily="49" charset="0"/>
            </a:endParaRPr>
          </a:p>
        </p:txBody>
      </p:sp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altLang="ko-KR" sz="2400" b="1" dirty="0" smtClean="0">
                <a:latin typeface="Consolas" panose="020B0609020204030204" pitchFamily="49" charset="0"/>
              </a:rPr>
              <a:t>1.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특정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namespace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 포함된 </a:t>
            </a:r>
            <a:r>
              <a:rPr lang="ko-KR" altLang="en-US" sz="2400" b="1" dirty="0" err="1" smtClean="0">
                <a:latin typeface="Consolas" panose="020B0609020204030204" pitchFamily="49" charset="0"/>
              </a:rPr>
              <a:t>식별자를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global namespace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 있는 것처럼 이용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ko-KR" sz="2400" b="1" dirty="0" smtClean="0">
                <a:latin typeface="Consolas" panose="020B0609020204030204" pitchFamily="49" charset="0"/>
              </a:rPr>
              <a:t>ex) using Woo::Hello;</a:t>
            </a:r>
            <a:endParaRPr lang="en-US" altLang="ko-KR" sz="2400" b="1" dirty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  <a:p>
            <a:r>
              <a:rPr lang="en-US" altLang="ko-KR" sz="2400" b="1" dirty="0" smtClean="0">
                <a:latin typeface="Consolas" panose="020B0609020204030204" pitchFamily="49" charset="0"/>
              </a:rPr>
              <a:t>2.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특정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namespace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 포함된 모든 </a:t>
            </a:r>
            <a:r>
              <a:rPr lang="ko-KR" altLang="en-US" sz="2400" b="1" dirty="0" err="1" smtClean="0">
                <a:latin typeface="Consolas" panose="020B0609020204030204" pitchFamily="49" charset="0"/>
              </a:rPr>
              <a:t>식별자를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global namespace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 있는 것처럼 이용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ko-KR" sz="2400" b="1" dirty="0" smtClean="0">
                <a:latin typeface="Consolas" panose="020B0609020204030204" pitchFamily="49" charset="0"/>
              </a:rPr>
              <a:t>ex) using namespace Woo;</a:t>
            </a:r>
            <a:endParaRPr lang="en-US" altLang="ko-KR" sz="2400" b="1" dirty="0">
              <a:latin typeface="Consolas" panose="020B0609020204030204" pitchFamily="49" charset="0"/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Namespace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3138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Namespace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699" y="1721356"/>
            <a:ext cx="6029493" cy="437372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406" y="2185731"/>
            <a:ext cx="6240115" cy="120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2850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1239549" y="878142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3600" b="1" dirty="0">
                <a:latin typeface="Consolas" panose="020B0609020204030204" pitchFamily="49" charset="0"/>
              </a:rPr>
              <a:t> </a:t>
            </a:r>
            <a:r>
              <a:rPr lang="en-US" altLang="ko-KR" sz="3600" b="1" dirty="0" err="1" smtClean="0">
                <a:latin typeface="Consolas" panose="020B0609020204030204" pitchFamily="49" charset="0"/>
              </a:rPr>
              <a:t>stdio.h</a:t>
            </a:r>
            <a:endParaRPr lang="ko-KR" altLang="en-US" sz="3600" b="1" dirty="0">
              <a:latin typeface="Consolas" panose="020B0609020204030204" pitchFamily="49" charset="0"/>
            </a:endParaRPr>
          </a:p>
        </p:txBody>
      </p:sp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altLang="ko-KR" sz="2400" b="1" dirty="0" err="1" smtClean="0">
                <a:latin typeface="Consolas" panose="020B0609020204030204" pitchFamily="49" charset="0"/>
              </a:rPr>
              <a:t>stdio.h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는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namespace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없음</a:t>
            </a:r>
            <a:endParaRPr lang="en-US" altLang="ko-KR" sz="2400" b="1" dirty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  <a:p>
            <a:r>
              <a:rPr lang="en-US" altLang="ko-KR" sz="2400" b="1" dirty="0" err="1" smtClean="0">
                <a:latin typeface="Consolas" panose="020B0609020204030204" pitchFamily="49" charset="0"/>
              </a:rPr>
              <a:t>cstdio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는 </a:t>
            </a:r>
            <a:r>
              <a:rPr lang="en-US" altLang="ko-KR" sz="2400" b="1" dirty="0" err="1" smtClean="0">
                <a:latin typeface="Consolas" panose="020B0609020204030204" pitchFamily="49" charset="0"/>
              </a:rPr>
              <a:t>std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 namespace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 존재</a:t>
            </a:r>
            <a:endParaRPr lang="en-US" altLang="ko-KR" sz="2400" b="1" dirty="0">
              <a:latin typeface="Consolas" panose="020B0609020204030204" pitchFamily="49" charset="0"/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Namespace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6" name="제목 9"/>
          <p:cNvSpPr txBox="1">
            <a:spLocks/>
          </p:cNvSpPr>
          <p:nvPr/>
        </p:nvSpPr>
        <p:spPr>
          <a:xfrm>
            <a:off x="6251164" y="878142"/>
            <a:ext cx="468727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 b="1" dirty="0" smtClean="0">
                <a:latin typeface="Consolas" panose="020B0609020204030204" pitchFamily="49" charset="0"/>
              </a:rPr>
              <a:t> </a:t>
            </a:r>
            <a:r>
              <a:rPr lang="en-US" altLang="ko-KR" sz="3600" b="1" dirty="0" err="1" smtClean="0">
                <a:latin typeface="Consolas" panose="020B0609020204030204" pitchFamily="49" charset="0"/>
              </a:rPr>
              <a:t>cstdio</a:t>
            </a:r>
            <a:endParaRPr lang="ko-KR" altLang="en-US" sz="36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06754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-38100" y="-17929"/>
            <a:ext cx="12268200" cy="2411413"/>
            <a:chOff x="0" y="-95250"/>
            <a:chExt cx="12268200" cy="2411413"/>
          </a:xfrm>
        </p:grpSpPr>
        <p:sp>
          <p:nvSpPr>
            <p:cNvPr id="4" name="직사각형 3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solidFill>
              <a:srgbClr val="99C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191480" y="-171040"/>
            <a:ext cx="10515600" cy="1325563"/>
          </a:xfrm>
        </p:spPr>
        <p:txBody>
          <a:bodyPr/>
          <a:lstStyle/>
          <a:p>
            <a:r>
              <a:rPr lang="ko-KR" altLang="en-US" b="1" dirty="0"/>
              <a:t>덧셈 프로그램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70" y="1315160"/>
            <a:ext cx="6928699" cy="507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668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같은 이름을 가진 여러 개의 함수 존재 가능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조건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: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매개 변수가 달라야 함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(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개수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,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타입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함수 오버로딩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5248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함수 오버로딩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66"/>
          <a:stretch/>
        </p:blipFill>
        <p:spPr>
          <a:xfrm>
            <a:off x="86726" y="1038225"/>
            <a:ext cx="5945810" cy="469877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536" y="4005891"/>
            <a:ext cx="7545086" cy="2370662"/>
          </a:xfrm>
          <a:prstGeom prst="rect">
            <a:avLst/>
          </a:prstGeom>
        </p:spPr>
      </p:pic>
      <p:pic>
        <p:nvPicPr>
          <p:cNvPr id="27" name="그림 2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655" b="-28"/>
          <a:stretch/>
        </p:blipFill>
        <p:spPr>
          <a:xfrm>
            <a:off x="6032536" y="1072060"/>
            <a:ext cx="5945810" cy="280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433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매개변수의 기본값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값을 전달하지 않은 경우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,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그 값을 가짐</a:t>
            </a:r>
            <a:endParaRPr lang="en-US" altLang="ko-KR" sz="2400" b="1" dirty="0" smtClean="0">
              <a:latin typeface="Consolas" panose="020B0609020204030204" pitchFamily="49" charset="0"/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default parameter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74613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default parameter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23" y="1155630"/>
            <a:ext cx="5369062" cy="54201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7820" y="2509584"/>
            <a:ext cx="6608507" cy="135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862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뒤에 있는 매개변수부터 줄 수 있음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함수 프로토타입이나 정의 둘 중 하나에만 기술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(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일반적으로 프로토타입에 기술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)</a:t>
            </a:r>
          </a:p>
          <a:p>
            <a:endParaRPr lang="en-US" altLang="ko-KR" sz="2400" b="1" dirty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default parameter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58920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각각 </a:t>
            </a:r>
            <a:r>
              <a:rPr lang="en-US" altLang="ko-KR" sz="2400" b="1" dirty="0" err="1" smtClean="0">
                <a:latin typeface="Consolas" panose="020B0609020204030204" pitchFamily="49" charset="0"/>
              </a:rPr>
              <a:t>malloc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과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free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 대응</a:t>
            </a:r>
            <a:endParaRPr lang="en-US" altLang="ko-KR" sz="2400" b="1" dirty="0">
              <a:latin typeface="Consolas" panose="020B0609020204030204" pitchFamily="49" charset="0"/>
            </a:endParaRP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메모리 동적 할당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6" name="제목 9"/>
          <p:cNvSpPr>
            <a:spLocks noGrp="1"/>
          </p:cNvSpPr>
          <p:nvPr>
            <p:ph type="title"/>
          </p:nvPr>
        </p:nvSpPr>
        <p:spPr>
          <a:xfrm>
            <a:off x="1239549" y="878142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ko-KR" sz="3600" b="1" dirty="0">
                <a:latin typeface="Consolas" panose="020B0609020204030204" pitchFamily="49" charset="0"/>
              </a:rPr>
              <a:t> </a:t>
            </a:r>
            <a:r>
              <a:rPr lang="en-US" altLang="ko-KR" sz="3600" b="1" dirty="0" smtClean="0">
                <a:latin typeface="Consolas" panose="020B0609020204030204" pitchFamily="49" charset="0"/>
              </a:rPr>
              <a:t>new, delete</a:t>
            </a:r>
            <a:endParaRPr lang="ko-KR" altLang="en-US" sz="36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7939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메모리 동적 할당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17" y="1051481"/>
            <a:ext cx="4281015" cy="476023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11" y="91861"/>
            <a:ext cx="4900312" cy="6601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770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bool type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6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조건 검사에 사용하는 타입</a:t>
            </a:r>
            <a:endParaRPr lang="en-US" altLang="ko-KR" sz="2400" b="1" dirty="0" smtClean="0">
              <a:latin typeface="Consolas" panose="020B0609020204030204" pitchFamily="49" charset="0"/>
            </a:endParaRPr>
          </a:p>
          <a:p>
            <a:endParaRPr lang="en-US" altLang="ko-KR" sz="2400" b="1" dirty="0"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정수와 덧셈 가능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(true : 1, false : 0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취급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)</a:t>
            </a:r>
          </a:p>
          <a:p>
            <a:endParaRPr lang="en-US" altLang="ko-KR" sz="2400" b="1" dirty="0" smtClean="0">
              <a:latin typeface="Consolas" panose="020B0609020204030204" pitchFamily="49" charset="0"/>
            </a:endParaRPr>
          </a:p>
          <a:p>
            <a:r>
              <a:rPr lang="en-US" altLang="ko-KR" sz="2400" b="1" dirty="0" smtClean="0">
                <a:latin typeface="Consolas" panose="020B0609020204030204" pitchFamily="49" charset="0"/>
              </a:rPr>
              <a:t>1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또는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0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만 저장 가능</a:t>
            </a:r>
            <a:endParaRPr lang="en-US" altLang="ko-KR" sz="24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ko-KR" sz="2400" b="1" dirty="0" smtClean="0">
                <a:latin typeface="Consolas" panose="020B0609020204030204" pitchFamily="49" charset="0"/>
              </a:rPr>
              <a:t>ex) bool a = 3;		//a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에 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1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저장됨</a:t>
            </a:r>
            <a:endParaRPr lang="en-US" altLang="ko-KR" sz="2400" b="1" dirty="0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14501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inline function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6" name="내용 개체 틀 13"/>
          <p:cNvSpPr>
            <a:spLocks noGrp="1"/>
          </p:cNvSpPr>
          <p:nvPr>
            <p:ph idx="1"/>
          </p:nvPr>
        </p:nvSpPr>
        <p:spPr>
          <a:xfrm>
            <a:off x="608699" y="222459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sz="24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ko-KR" altLang="en-US" sz="2400" b="1" dirty="0" smtClean="0">
                <a:latin typeface="Consolas" panose="020B0609020204030204" pitchFamily="49" charset="0"/>
              </a:rPr>
              <a:t>기술은 함수처럼</a:t>
            </a:r>
            <a:r>
              <a:rPr lang="en-US" altLang="ko-KR" sz="2400" b="1" dirty="0" smtClean="0">
                <a:latin typeface="Consolas" panose="020B0609020204030204" pitchFamily="49" charset="0"/>
              </a:rPr>
              <a:t>, </a:t>
            </a:r>
            <a:r>
              <a:rPr lang="ko-KR" altLang="en-US" sz="2400" b="1" dirty="0" smtClean="0">
                <a:latin typeface="Consolas" panose="020B0609020204030204" pitchFamily="49" charset="0"/>
              </a:rPr>
              <a:t>작동은 매크로처럼</a:t>
            </a:r>
            <a:endParaRPr lang="en-US" altLang="ko-KR" sz="2400" b="1" dirty="0" smtClean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5696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/>
          <p:cNvGrpSpPr/>
          <p:nvPr/>
        </p:nvGrpSpPr>
        <p:grpSpPr>
          <a:xfrm>
            <a:off x="0" y="-95250"/>
            <a:ext cx="12268200" cy="2411413"/>
            <a:chOff x="0" y="-95250"/>
            <a:chExt cx="12268200" cy="2411413"/>
          </a:xfrm>
          <a:solidFill>
            <a:srgbClr val="99CC00">
              <a:alpha val="30196"/>
            </a:srgbClr>
          </a:solidFill>
        </p:grpSpPr>
        <p:sp>
          <p:nvSpPr>
            <p:cNvPr id="17" name="직사각형 16"/>
            <p:cNvSpPr/>
            <p:nvPr/>
          </p:nvSpPr>
          <p:spPr>
            <a:xfrm>
              <a:off x="0" y="-95250"/>
              <a:ext cx="12192000" cy="8572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0" y="857250"/>
              <a:ext cx="12268200" cy="8572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이등변 삼각형 18"/>
            <p:cNvSpPr/>
            <p:nvPr/>
          </p:nvSpPr>
          <p:spPr>
            <a:xfrm rot="2078493">
              <a:off x="50853" y="690086"/>
              <a:ext cx="1655217" cy="1283141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/>
            <p:cNvSpPr/>
            <p:nvPr/>
          </p:nvSpPr>
          <p:spPr>
            <a:xfrm rot="1026099">
              <a:off x="220248" y="740286"/>
              <a:ext cx="347738" cy="3291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직사각형 20"/>
            <p:cNvSpPr/>
            <p:nvPr/>
          </p:nvSpPr>
          <p:spPr>
            <a:xfrm rot="2507569">
              <a:off x="261967" y="1089879"/>
              <a:ext cx="178334" cy="16527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직사각형 21"/>
            <p:cNvSpPr/>
            <p:nvPr/>
          </p:nvSpPr>
          <p:spPr>
            <a:xfrm rot="20115336">
              <a:off x="8335" y="981097"/>
              <a:ext cx="181861" cy="1819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/>
            <p:cNvSpPr/>
            <p:nvPr/>
          </p:nvSpPr>
          <p:spPr>
            <a:xfrm flipV="1">
              <a:off x="870259" y="2196589"/>
              <a:ext cx="45720" cy="61946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/>
            <p:cNvSpPr/>
            <p:nvPr/>
          </p:nvSpPr>
          <p:spPr>
            <a:xfrm>
              <a:off x="644837" y="2144713"/>
              <a:ext cx="157833" cy="171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/>
            <p:cNvSpPr/>
            <p:nvPr/>
          </p:nvSpPr>
          <p:spPr>
            <a:xfrm>
              <a:off x="472688" y="1836992"/>
              <a:ext cx="239726" cy="25348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제목 9"/>
          <p:cNvSpPr txBox="1">
            <a:spLocks/>
          </p:cNvSpPr>
          <p:nvPr/>
        </p:nvSpPr>
        <p:spPr>
          <a:xfrm>
            <a:off x="99265" y="-2435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 smtClean="0">
                <a:latin typeface="휴먼매직체" panose="02030504000101010101" pitchFamily="18" charset="-127"/>
                <a:ea typeface="휴먼매직체" panose="02030504000101010101" pitchFamily="18" charset="-127"/>
              </a:rPr>
              <a:t>inline function</a:t>
            </a:r>
            <a:endParaRPr lang="ko-KR" altLang="en-US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65" y="1682237"/>
            <a:ext cx="6374663" cy="401442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074" y="1331656"/>
            <a:ext cx="5715573" cy="45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1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815</TotalTime>
  <Words>324</Words>
  <Application>Microsoft Office PowerPoint</Application>
  <PresentationFormat>와이드스크린</PresentationFormat>
  <Paragraphs>88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맑은 고딕</vt:lpstr>
      <vt:lpstr>휴먼매직체</vt:lpstr>
      <vt:lpstr>Arial</vt:lpstr>
      <vt:lpstr>Consolas</vt:lpstr>
      <vt:lpstr>Office 테마</vt:lpstr>
      <vt:lpstr>c++ 스터디 1주차 </vt:lpstr>
      <vt:lpstr>C++</vt:lpstr>
      <vt:lpstr>객체?</vt:lpstr>
      <vt:lpstr>표준 입출력(C)</vt:lpstr>
      <vt:lpstr>표준 입출력(C++)</vt:lpstr>
      <vt:lpstr>표준 입출력(C++)</vt:lpstr>
      <vt:lpstr> std</vt:lpstr>
      <vt:lpstr>PowerPoint 프레젠테이션</vt:lpstr>
      <vt:lpstr> using ~~~</vt:lpstr>
      <vt:lpstr>PowerPoint 프레젠테이션</vt:lpstr>
      <vt:lpstr> stdio.h</vt:lpstr>
      <vt:lpstr>덧셈 프로그램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 new, delete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sera</dc:creator>
  <cp:lastModifiedBy>이우열</cp:lastModifiedBy>
  <cp:revision>69</cp:revision>
  <dcterms:created xsi:type="dcterms:W3CDTF">2016-06-26T11:40:01Z</dcterms:created>
  <dcterms:modified xsi:type="dcterms:W3CDTF">2019-12-29T10:42:48Z</dcterms:modified>
</cp:coreProperties>
</file>